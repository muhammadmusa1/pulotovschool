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74" r:id="rId5"/>
    <p:sldId id="276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45237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Блиц по домашнему заданию: цикл, тело цикла, константа и переменная, четыре типа данных.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Спросить класс: какие ещё устройства принимают решения по условию.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Связь с прошлым занятием: логический тип уже встречался в теме типов данных.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Записать таблицу в тетрадь. Всего две строки — но на них строится всё дальнейшее.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Проверить любую строку программой: обе записи дают одинаковый результат при любых значениях.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Записать в тетрадь. Дальше — таблица истинности.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Заполнять вместе с классом, строку за строкой.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Запустить на экране, поменять температуру на 22 и показать False.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Ответ: not prepyatstvie and zaryad &gt; 10. Обратить внимание: not относится только к первой величине.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Разобрать, почему нельзя написать not (prepyatstvie and zaryad &gt; 10) — смысл изменится.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Запустить оба выражения на экране.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Правило позволяет упрощать условия. Проверить программой на практике.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Ответ: True и False. В первой строке сначала False and False даёт False, затем True or False даёт True.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Разобрать по шагам на доске.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Честно: нейросеть выдаёт вероятность, а не истину. Логика применяется на последнем шаге — при сравнении с порогом. Поэтому ИИ ошибается: порог выбирает человек.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Раздать карточки. Ответ на ловушку: число 11 само по себе истинно.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Задание 5 намеренно показывает силу скобок.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Учебник: параграф и страницы вписать.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Выставить отметки. Собрать тетради выборочно.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371600"/>
            <a:ext cx="5669280" cy="5669280"/>
          </a:xfrm>
          <a:prstGeom prst="ellipse">
            <a:avLst/>
          </a:prstGeom>
          <a:solidFill>
            <a:srgbClr val="8B7CF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291840"/>
            <a:ext cx="4023360" cy="4023360"/>
          </a:xfrm>
          <a:prstGeom prst="ellipse">
            <a:avLst/>
          </a:prstGeom>
          <a:solidFill>
            <a:srgbClr val="3DD6A0">
              <a:alpha val="9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280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ЗАНЯТИЕ №4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28800"/>
            <a:ext cx="8595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Логика: И, ИЛИ, НЕ</a:t>
            </a:r>
            <a:endParaRPr lang="en-US" sz="5000" dirty="0"/>
          </a:p>
        </p:txBody>
      </p:sp>
      <p:sp>
        <p:nvSpPr>
          <p:cNvPr id="6" name="Text 4"/>
          <p:cNvSpPr txBox="1"/>
          <p:nvPr/>
        </p:nvSpPr>
        <p:spPr>
          <a:xfrm>
            <a:off x="850392" y="31089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принимают решения умный дом, робот и автопилот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850392" y="3840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Информатика · 10 класс · 90 минут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Где это работает прямо сейчас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7043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Каждое устройство принимает решение по условию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03520" cy="1920240"/>
          </a:xfrm>
          <a:prstGeom prst="roundRect">
            <a:avLst>
              <a:gd name="adj" fmla="val 4286"/>
            </a:avLst>
          </a:prstGeom>
          <a:solidFill>
            <a:srgbClr val="221C42"/>
          </a:solidFill>
          <a:ln w="25400">
            <a:solidFill>
              <a:srgbClr val="8B7C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205740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Умный дом</a:t>
            </a:r>
            <a:endParaRPr lang="en-US" sz="2600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960120" y="265176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Включить обогрев, если температура ниже 18 И кто-то дома</a:t>
            </a:r>
            <a:endParaRPr lang="en-US" sz="2000" b="1" dirty="0"/>
          </a:p>
        </p:txBody>
      </p:sp>
      <p:sp>
        <p:nvSpPr>
          <p:cNvPr id="7" name="Shape 5"/>
          <p:cNvSpPr/>
          <p:nvPr/>
        </p:nvSpPr>
        <p:spPr>
          <a:xfrm>
            <a:off x="6217920" y="1874520"/>
            <a:ext cx="5303520" cy="1920240"/>
          </a:xfrm>
          <a:prstGeom prst="roundRect">
            <a:avLst>
              <a:gd name="adj" fmla="val 4286"/>
            </a:avLst>
          </a:prstGeom>
          <a:solidFill>
            <a:srgbClr val="221C42"/>
          </a:solidFill>
          <a:ln w="25400">
            <a:solidFill>
              <a:srgbClr val="4FD1E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37960" y="205740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Робот-пылесос</a:t>
            </a:r>
            <a:endParaRPr lang="en-US" sz="260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537960" y="265176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Ехать вперёд, если НЕТ препятствия И заряд больше 10 процентов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640080" y="4023360"/>
            <a:ext cx="5303520" cy="1920240"/>
          </a:xfrm>
          <a:prstGeom prst="roundRect">
            <a:avLst>
              <a:gd name="adj" fmla="val 4286"/>
            </a:avLst>
          </a:prstGeom>
          <a:solidFill>
            <a:srgbClr val="221C42"/>
          </a:solidFill>
          <a:ln w="25400">
            <a:solidFill>
              <a:srgbClr val="3DD6A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42062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Автопилот</a:t>
            </a:r>
            <a:endParaRPr lang="en-US" sz="2600" dirty="0">
              <a:solidFill>
                <a:schemeClr val="bg1"/>
              </a:solidFill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960120" y="480060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Тормозить, если впереди помеха И скорость больше нуля</a:t>
            </a:r>
            <a:endParaRPr lang="en-US" sz="2000" b="1" dirty="0"/>
          </a:p>
        </p:txBody>
      </p:sp>
      <p:sp>
        <p:nvSpPr>
          <p:cNvPr id="13" name="Shape 11"/>
          <p:cNvSpPr/>
          <p:nvPr/>
        </p:nvSpPr>
        <p:spPr>
          <a:xfrm>
            <a:off x="6217920" y="4023360"/>
            <a:ext cx="5303520" cy="1920240"/>
          </a:xfrm>
          <a:prstGeom prst="roundRect">
            <a:avLst>
              <a:gd name="adj" fmla="val 4286"/>
            </a:avLst>
          </a:prstGeom>
          <a:solidFill>
            <a:srgbClr val="221C42"/>
          </a:solidFill>
          <a:ln w="25400">
            <a:solidFill>
              <a:srgbClr val="F2789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37960" y="42062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Камера</a:t>
            </a:r>
            <a:r>
              <a:rPr lang="en-US" sz="2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 ИИ</a:t>
            </a:r>
            <a:endParaRPr lang="en-US" sz="2600" dirty="0">
              <a:solidFill>
                <a:schemeClr val="bg1"/>
              </a:solidFill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6537960" y="480060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Подать сигнал, если распознан объект И уверенность выше порога</a:t>
            </a:r>
            <a:endParaRPr lang="en-US" sz="2000" b="1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2636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i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 всех четырёх случаях работает одно и то же — логическое условие.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Логическая величина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10881360" cy="1188720"/>
          </a:xfrm>
          <a:prstGeom prst="roundRect">
            <a:avLst>
              <a:gd name="adj" fmla="val 6923"/>
            </a:avLst>
          </a:prstGeom>
          <a:solidFill>
            <a:srgbClr val="221C42"/>
          </a:solidFill>
          <a:ln w="25400">
            <a:solidFill>
              <a:srgbClr val="8B7C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05840" y="1828800"/>
            <a:ext cx="10149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Принимает только два значения: истина и ложь. В программе — True и False.</a:t>
            </a:r>
            <a:endParaRPr lang="en-US" sz="2400" b="1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2918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Такое значение даёт любое сравнение: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3794760"/>
            <a:ext cx="10881360" cy="1298448"/>
          </a:xfrm>
          <a:prstGeom prst="roundRect">
            <a:avLst>
              <a:gd name="adj" fmla="val 4225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1248" y="3931920"/>
            <a:ext cx="105156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2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temperatura &lt; 18     -&gt;  True или False</a:t>
            </a:r>
            <a:endParaRPr lang="en-US" sz="2200" b="1" dirty="0">
              <a:solidFill>
                <a:schemeClr val="bg1"/>
              </a:solidFill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22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zaryad &gt; 10          -&gt;  True или False</a:t>
            </a:r>
            <a:endParaRPr lang="en-US" sz="2200" b="1" dirty="0">
              <a:solidFill>
                <a:schemeClr val="bg1"/>
              </a:solidFill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22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== 3               -&gt;  False</a:t>
            </a:r>
            <a:endParaRPr lang="en-US" sz="2200" b="1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40080" y="59436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Датчик умного дома не «понимает» температуру. Он отвечает на вопрос: условие выполнено или нет.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Операция НЕ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7043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Самая простая на вид и самая коварная на деле</a:t>
            </a:r>
            <a:endParaRPr lang="en-US" sz="2000" b="1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4572000" cy="2148840"/>
          </a:xfrm>
          <a:prstGeom prst="roundRect">
            <a:avLst>
              <a:gd name="adj" fmla="val 3830"/>
            </a:avLst>
          </a:prstGeom>
          <a:solidFill>
            <a:srgbClr val="221C42"/>
          </a:solidFill>
          <a:ln w="25400">
            <a:solidFill>
              <a:srgbClr val="8B7C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9202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делает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960120" y="242316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Переворачивает значение. Было истинно — стало ложно, и наоборот.</a:t>
            </a:r>
            <a:endParaRPr lang="en-US" sz="2000" b="1" dirty="0"/>
          </a:p>
        </p:txBody>
      </p:sp>
      <p:sp>
        <p:nvSpPr>
          <p:cNvPr id="7" name="Shape 5"/>
          <p:cNvSpPr/>
          <p:nvPr/>
        </p:nvSpPr>
        <p:spPr>
          <a:xfrm>
            <a:off x="5532120" y="1783080"/>
            <a:ext cx="2926080" cy="658368"/>
          </a:xfrm>
          <a:prstGeom prst="rect">
            <a:avLst/>
          </a:prstGeom>
          <a:solidFill>
            <a:srgbClr val="2C2555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532120" y="178308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8503920" y="1783080"/>
            <a:ext cx="2926080" cy="658368"/>
          </a:xfrm>
          <a:prstGeom prst="rect">
            <a:avLst/>
          </a:prstGeom>
          <a:solidFill>
            <a:srgbClr val="2C2555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503920" y="178308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5532120" y="2496312"/>
            <a:ext cx="2926080" cy="658368"/>
          </a:xfrm>
          <a:prstGeom prst="rect">
            <a:avLst/>
          </a:prstGeom>
          <a:solidFill>
            <a:srgbClr val="221C42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532120" y="2496312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истина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8503920" y="2496312"/>
            <a:ext cx="2926080" cy="658368"/>
          </a:xfrm>
          <a:prstGeom prst="rect">
            <a:avLst/>
          </a:prstGeom>
          <a:solidFill>
            <a:srgbClr val="221C42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503920" y="2496312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ложь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5532120" y="3209544"/>
            <a:ext cx="2926080" cy="658368"/>
          </a:xfrm>
          <a:prstGeom prst="rect">
            <a:avLst/>
          </a:prstGeom>
          <a:solidFill>
            <a:srgbClr val="221C42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532120" y="3209544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ложь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8503920" y="3209544"/>
            <a:ext cx="2926080" cy="658368"/>
          </a:xfrm>
          <a:prstGeom prst="rect">
            <a:avLst/>
          </a:prstGeom>
          <a:solidFill>
            <a:srgbClr val="221C42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503920" y="3209544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истина</a:t>
            </a:r>
            <a:endParaRPr lang="en-US" sz="2100" dirty="0"/>
          </a:p>
        </p:txBody>
      </p:sp>
      <p:sp>
        <p:nvSpPr>
          <p:cNvPr id="19" name="Text 17"/>
          <p:cNvSpPr txBox="1"/>
          <p:nvPr/>
        </p:nvSpPr>
        <p:spPr>
          <a:xfrm>
            <a:off x="5532120" y="39776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Применяется к ОДНОЙ величине — в отличие от and и or, которым нужны две.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640080" y="4526280"/>
            <a:ext cx="10881360" cy="1956816"/>
          </a:xfrm>
          <a:prstGeom prst="roundRect">
            <a:avLst>
              <a:gd name="adj" fmla="val 2804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41248" y="4663440"/>
            <a:ext cx="1051560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0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print(not True)     # False</a:t>
            </a:r>
            <a:endParaRPr lang="en-US" sz="2000" b="1" dirty="0">
              <a:solidFill>
                <a:schemeClr val="bg1"/>
              </a:solidFill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20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print(not False)    # True</a:t>
            </a:r>
            <a:endParaRPr lang="en-US" sz="2000" b="1" dirty="0">
              <a:solidFill>
                <a:schemeClr val="bg1"/>
              </a:solidFill>
            </a:endParaRPr>
          </a:p>
          <a:p>
            <a:pPr marL="0" indent="0">
              <a:lnSpc>
                <a:spcPct val="112000"/>
              </a:lnSpc>
              <a:buNone/>
            </a:pPr>
            <a:endParaRPr lang="en-US" sz="2000" b="1" dirty="0">
              <a:solidFill>
                <a:schemeClr val="bg1"/>
              </a:solidFill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20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zanyato = True</a:t>
            </a:r>
            <a:endParaRPr lang="en-US" sz="2000" b="1" dirty="0">
              <a:solidFill>
                <a:schemeClr val="bg1"/>
              </a:solidFill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20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print(not zanyato)  # False</a:t>
            </a:r>
            <a:endParaRPr lang="en-US" sz="2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НЕ со сравнениями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7043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Каждое отрицание можно записать короче</a:t>
            </a:r>
            <a:endParaRPr lang="en-US" sz="2000" b="1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221C42"/>
          </a:solidFill>
          <a:ln w="22225">
            <a:solidFill>
              <a:srgbClr val="3DD6A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7830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(a &gt; b)</a:t>
            </a:r>
            <a:endParaRPr lang="en-US" sz="2200" b="1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4114800" y="17830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то же, что</a:t>
            </a:r>
            <a:endParaRPr lang="en-US" sz="1800" b="1" dirty="0">
              <a:solidFill>
                <a:schemeClr val="bg1"/>
              </a:solidFill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400800" y="17830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&lt;= b</a:t>
            </a:r>
            <a:endParaRPr lang="en-US" sz="2200" b="1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8321040" y="17830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«не больше» значит «меньше или равно»</a:t>
            </a:r>
            <a:endParaRPr lang="en-US" sz="1700" b="1" dirty="0">
              <a:solidFill>
                <a:schemeClr val="bg1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640080" y="2807208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221C42"/>
          </a:solidFill>
          <a:ln w="22225">
            <a:solidFill>
              <a:srgbClr val="4FD1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2807208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(a &lt; b)</a:t>
            </a:r>
            <a:endParaRPr lang="en-US" sz="2200" b="1" dirty="0">
              <a:solidFill>
                <a:schemeClr val="bg1"/>
              </a:solidFill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4114800" y="2807208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то же, что</a:t>
            </a:r>
            <a:endParaRPr lang="en-US" sz="1800" b="1" dirty="0">
              <a:solidFill>
                <a:schemeClr val="bg1"/>
              </a:solidFill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6400800" y="2807208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&gt;= b</a:t>
            </a:r>
            <a:endParaRPr lang="en-US" sz="2200" b="1" dirty="0">
              <a:solidFill>
                <a:schemeClr val="bg1"/>
              </a:solidFill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8321040" y="2807208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«не меньше» значит «больше или равно»</a:t>
            </a:r>
            <a:endParaRPr lang="en-US" sz="1700" b="1" dirty="0">
              <a:solidFill>
                <a:schemeClr val="bg1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40080" y="3831336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221C42"/>
          </a:solidFill>
          <a:ln w="22225">
            <a:solidFill>
              <a:srgbClr val="8B7CF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60120" y="3831336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(a == b)</a:t>
            </a:r>
            <a:endParaRPr lang="en-US" sz="2200" b="1" dirty="0">
              <a:solidFill>
                <a:schemeClr val="bg1"/>
              </a:solidFill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4114800" y="3831336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то же, что</a:t>
            </a:r>
            <a:endParaRPr lang="en-US" sz="1800" b="1" dirty="0">
              <a:solidFill>
                <a:schemeClr val="bg1"/>
              </a:solidFill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6400800" y="3831336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!= b</a:t>
            </a:r>
            <a:endParaRPr lang="en-US" sz="2200" b="1" dirty="0">
              <a:solidFill>
                <a:schemeClr val="bg1"/>
              </a:solidFill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8321040" y="3831336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«не равно» — есть готовый знак</a:t>
            </a:r>
            <a:endParaRPr lang="en-US" sz="1700" b="1" dirty="0">
              <a:solidFill>
                <a:schemeClr val="bg1"/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40080" y="4855464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221C42"/>
          </a:solidFill>
          <a:ln w="22225">
            <a:solidFill>
              <a:srgbClr val="F2789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60120" y="4855464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(a &gt;= b)</a:t>
            </a:r>
            <a:endParaRPr lang="en-US" sz="2200" b="1" dirty="0">
              <a:solidFill>
                <a:schemeClr val="bg1"/>
              </a:solidFill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4114800" y="4855464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то же, что</a:t>
            </a:r>
            <a:endParaRPr lang="en-US" sz="1800" b="1" dirty="0">
              <a:solidFill>
                <a:schemeClr val="bg1"/>
              </a:solidFill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6400800" y="4855464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&lt; b</a:t>
            </a:r>
            <a:endParaRPr lang="en-US" sz="2200" b="1" dirty="0">
              <a:solidFill>
                <a:schemeClr val="bg1"/>
              </a:solidFill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8321040" y="4855464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отрицание убирает «или равно»</a:t>
            </a:r>
            <a:endParaRPr lang="en-US" sz="1700" b="1" dirty="0">
              <a:solidFill>
                <a:schemeClr val="bg1"/>
              </a:solidFill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640080" y="603504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Робот-пылесос: not (zaryad &gt; 10) — то же самое, что zaryad &lt;= 10. Вторая запись короче и понятнее.</a:t>
            </a:r>
            <a:endParaRPr lang="en-US" sz="2000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Три операции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3429000" cy="3931920"/>
          </a:xfrm>
          <a:prstGeom prst="roundRect">
            <a:avLst>
              <a:gd name="adj" fmla="val 2400"/>
            </a:avLst>
          </a:prstGeom>
          <a:solidFill>
            <a:srgbClr val="221C42"/>
          </a:solidFill>
          <a:ln w="25400">
            <a:solidFill>
              <a:srgbClr val="8B7C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205740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</a:t>
            </a:r>
            <a:endParaRPr lang="en-US" sz="3400" b="1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914400" y="27432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914400" y="33375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Меняет значение на противоположное</a:t>
            </a:r>
            <a:endParaRPr lang="en-US" sz="1900" b="1" dirty="0">
              <a:solidFill>
                <a:schemeClr val="bg1"/>
              </a:solidFill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914400" y="457200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Применяется к одной величине</a:t>
            </a:r>
            <a:endParaRPr lang="en-US" sz="1800" b="1" dirty="0">
              <a:solidFill>
                <a:schemeClr val="bg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4361688" y="1828800"/>
            <a:ext cx="3429000" cy="3931920"/>
          </a:xfrm>
          <a:prstGeom prst="roundRect">
            <a:avLst>
              <a:gd name="adj" fmla="val 2400"/>
            </a:avLst>
          </a:prstGeom>
          <a:solidFill>
            <a:srgbClr val="221C42"/>
          </a:solidFill>
          <a:ln w="25400">
            <a:solidFill>
              <a:srgbClr val="4FD1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36008" y="205740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</a:t>
            </a:r>
            <a:endParaRPr lang="en-US" sz="3400" b="1" dirty="0">
              <a:solidFill>
                <a:schemeClr val="bg1"/>
              </a:solidFill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4636008" y="27432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4636008" y="33375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Истина, только если истинны обе</a:t>
            </a:r>
            <a:endParaRPr lang="en-US" sz="1900" b="1" dirty="0">
              <a:solidFill>
                <a:schemeClr val="bg1"/>
              </a:solidFill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4636008" y="457200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Нужны оба условия сразу</a:t>
            </a:r>
            <a:endParaRPr lang="en-US" sz="1800" b="1" dirty="0">
              <a:solidFill>
                <a:schemeClr val="bg1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083296" y="1828800"/>
            <a:ext cx="3429000" cy="3931920"/>
          </a:xfrm>
          <a:prstGeom prst="roundRect">
            <a:avLst>
              <a:gd name="adj" fmla="val 2400"/>
            </a:avLst>
          </a:prstGeom>
          <a:solidFill>
            <a:srgbClr val="221C42"/>
          </a:solidFill>
          <a:ln w="25400">
            <a:solidFill>
              <a:srgbClr val="3DD6A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57616" y="205740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ИЛИ</a:t>
            </a:r>
            <a:endParaRPr lang="en-US" sz="3400" b="1" dirty="0">
              <a:solidFill>
                <a:schemeClr val="bg1"/>
              </a:solidFill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8357616" y="27432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8357616" y="33375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Ложь, только если ложны обе</a:t>
            </a:r>
            <a:endParaRPr lang="en-US" sz="1900" b="1" dirty="0">
              <a:solidFill>
                <a:schemeClr val="bg1"/>
              </a:solidFill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8357616" y="457200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Достаточно одного условия</a:t>
            </a:r>
            <a:endParaRPr lang="en-US" sz="1800" b="1" dirty="0">
              <a:solidFill>
                <a:schemeClr val="bg1"/>
              </a:solidFill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строгая — требует оба. ИЛИ снисходительная — хватает одного.</a:t>
            </a:r>
            <a:endParaRPr lang="en-US" sz="22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Таблица истинности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7043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Значение при всех возможных наборах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377440" cy="786384"/>
          </a:xfrm>
          <a:prstGeom prst="rect">
            <a:avLst/>
          </a:prstGeom>
          <a:solidFill>
            <a:srgbClr val="2C2555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874520"/>
            <a:ext cx="2377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017520" y="1874520"/>
            <a:ext cx="2377440" cy="786384"/>
          </a:xfrm>
          <a:prstGeom prst="rect">
            <a:avLst/>
          </a:prstGeom>
          <a:solidFill>
            <a:srgbClr val="2C2555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017520" y="1874520"/>
            <a:ext cx="2377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394960" y="1874520"/>
            <a:ext cx="3063240" cy="786384"/>
          </a:xfrm>
          <a:prstGeom prst="rect">
            <a:avLst/>
          </a:prstGeom>
          <a:solidFill>
            <a:srgbClr val="2C2555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394960" y="1874520"/>
            <a:ext cx="3063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and B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8458200" y="1874520"/>
            <a:ext cx="3063240" cy="786384"/>
          </a:xfrm>
          <a:prstGeom prst="rect">
            <a:avLst/>
          </a:prstGeom>
          <a:solidFill>
            <a:srgbClr val="2C2555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58200" y="1874520"/>
            <a:ext cx="3063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or B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40080" y="2715768"/>
            <a:ext cx="2377440" cy="786384"/>
          </a:xfrm>
          <a:prstGeom prst="rect">
            <a:avLst/>
          </a:prstGeom>
          <a:solidFill>
            <a:srgbClr val="221C42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715768"/>
            <a:ext cx="2377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истина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3017520" y="2715768"/>
            <a:ext cx="2377440" cy="786384"/>
          </a:xfrm>
          <a:prstGeom prst="rect">
            <a:avLst/>
          </a:prstGeom>
          <a:solidFill>
            <a:srgbClr val="221C42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017520" y="2715768"/>
            <a:ext cx="2377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истина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5394960" y="2715768"/>
            <a:ext cx="3063240" cy="786384"/>
          </a:xfrm>
          <a:prstGeom prst="rect">
            <a:avLst/>
          </a:prstGeom>
          <a:solidFill>
            <a:srgbClr val="221C42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94960" y="2715768"/>
            <a:ext cx="3063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истина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8458200" y="2715768"/>
            <a:ext cx="3063240" cy="786384"/>
          </a:xfrm>
          <a:prstGeom prst="rect">
            <a:avLst/>
          </a:prstGeom>
          <a:solidFill>
            <a:srgbClr val="221C42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458200" y="2715768"/>
            <a:ext cx="3063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истина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640080" y="3557016"/>
            <a:ext cx="2377440" cy="786384"/>
          </a:xfrm>
          <a:prstGeom prst="rect">
            <a:avLst/>
          </a:prstGeom>
          <a:solidFill>
            <a:srgbClr val="221C42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3557016"/>
            <a:ext cx="2377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истина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3017520" y="3557016"/>
            <a:ext cx="2377440" cy="786384"/>
          </a:xfrm>
          <a:prstGeom prst="rect">
            <a:avLst/>
          </a:prstGeom>
          <a:solidFill>
            <a:srgbClr val="221C42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017520" y="3557016"/>
            <a:ext cx="2377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ложь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5394960" y="3557016"/>
            <a:ext cx="3063240" cy="786384"/>
          </a:xfrm>
          <a:prstGeom prst="rect">
            <a:avLst/>
          </a:prstGeom>
          <a:solidFill>
            <a:srgbClr val="221C42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394960" y="3557016"/>
            <a:ext cx="3063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ложь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8458200" y="3557016"/>
            <a:ext cx="3063240" cy="786384"/>
          </a:xfrm>
          <a:prstGeom prst="rect">
            <a:avLst/>
          </a:prstGeom>
          <a:solidFill>
            <a:srgbClr val="221C42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458200" y="3557016"/>
            <a:ext cx="3063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истина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640080" y="4398264"/>
            <a:ext cx="2377440" cy="786384"/>
          </a:xfrm>
          <a:prstGeom prst="rect">
            <a:avLst/>
          </a:prstGeom>
          <a:solidFill>
            <a:srgbClr val="221C42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0080" y="4398264"/>
            <a:ext cx="2377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ложь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3017520" y="4398264"/>
            <a:ext cx="2377440" cy="786384"/>
          </a:xfrm>
          <a:prstGeom prst="rect">
            <a:avLst/>
          </a:prstGeom>
          <a:solidFill>
            <a:srgbClr val="221C42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017520" y="4398264"/>
            <a:ext cx="2377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истина</a:t>
            </a:r>
            <a:endParaRPr lang="en-US" sz="2100" dirty="0"/>
          </a:p>
        </p:txBody>
      </p:sp>
      <p:sp>
        <p:nvSpPr>
          <p:cNvPr id="32" name="Shape 30"/>
          <p:cNvSpPr/>
          <p:nvPr/>
        </p:nvSpPr>
        <p:spPr>
          <a:xfrm>
            <a:off x="5394960" y="4398264"/>
            <a:ext cx="3063240" cy="786384"/>
          </a:xfrm>
          <a:prstGeom prst="rect">
            <a:avLst/>
          </a:prstGeom>
          <a:solidFill>
            <a:srgbClr val="221C42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394960" y="4398264"/>
            <a:ext cx="3063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ложь</a:t>
            </a:r>
            <a:endParaRPr lang="en-US" sz="2100" dirty="0"/>
          </a:p>
        </p:txBody>
      </p:sp>
      <p:sp>
        <p:nvSpPr>
          <p:cNvPr id="34" name="Shape 32"/>
          <p:cNvSpPr/>
          <p:nvPr/>
        </p:nvSpPr>
        <p:spPr>
          <a:xfrm>
            <a:off x="8458200" y="4398264"/>
            <a:ext cx="3063240" cy="786384"/>
          </a:xfrm>
          <a:prstGeom prst="rect">
            <a:avLst/>
          </a:prstGeom>
          <a:solidFill>
            <a:srgbClr val="221C42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458200" y="4398264"/>
            <a:ext cx="3063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истина</a:t>
            </a:r>
            <a:endParaRPr lang="en-US" sz="2100" dirty="0"/>
          </a:p>
        </p:txBody>
      </p:sp>
      <p:sp>
        <p:nvSpPr>
          <p:cNvPr id="36" name="Shape 34"/>
          <p:cNvSpPr/>
          <p:nvPr/>
        </p:nvSpPr>
        <p:spPr>
          <a:xfrm>
            <a:off x="640080" y="5239512"/>
            <a:ext cx="2377440" cy="786384"/>
          </a:xfrm>
          <a:prstGeom prst="rect">
            <a:avLst/>
          </a:prstGeom>
          <a:solidFill>
            <a:srgbClr val="221C42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40080" y="5239512"/>
            <a:ext cx="2377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ложь</a:t>
            </a:r>
            <a:endParaRPr lang="en-US" sz="2100" dirty="0"/>
          </a:p>
        </p:txBody>
      </p:sp>
      <p:sp>
        <p:nvSpPr>
          <p:cNvPr id="38" name="Shape 36"/>
          <p:cNvSpPr/>
          <p:nvPr/>
        </p:nvSpPr>
        <p:spPr>
          <a:xfrm>
            <a:off x="3017520" y="5239512"/>
            <a:ext cx="2377440" cy="786384"/>
          </a:xfrm>
          <a:prstGeom prst="rect">
            <a:avLst/>
          </a:prstGeom>
          <a:solidFill>
            <a:srgbClr val="221C42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017520" y="5239512"/>
            <a:ext cx="2377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ложь</a:t>
            </a:r>
            <a:endParaRPr lang="en-US" sz="2100" dirty="0"/>
          </a:p>
        </p:txBody>
      </p:sp>
      <p:sp>
        <p:nvSpPr>
          <p:cNvPr id="40" name="Shape 38"/>
          <p:cNvSpPr/>
          <p:nvPr/>
        </p:nvSpPr>
        <p:spPr>
          <a:xfrm>
            <a:off x="5394960" y="5239512"/>
            <a:ext cx="3063240" cy="786384"/>
          </a:xfrm>
          <a:prstGeom prst="rect">
            <a:avLst/>
          </a:prstGeom>
          <a:solidFill>
            <a:srgbClr val="221C42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394960" y="5239512"/>
            <a:ext cx="3063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ложь</a:t>
            </a:r>
            <a:endParaRPr lang="en-US" sz="2100" dirty="0"/>
          </a:p>
        </p:txBody>
      </p:sp>
      <p:sp>
        <p:nvSpPr>
          <p:cNvPr id="42" name="Shape 40"/>
          <p:cNvSpPr/>
          <p:nvPr/>
        </p:nvSpPr>
        <p:spPr>
          <a:xfrm>
            <a:off x="8458200" y="5239512"/>
            <a:ext cx="3063240" cy="786384"/>
          </a:xfrm>
          <a:prstGeom prst="rect">
            <a:avLst/>
          </a:prstGeom>
          <a:solidFill>
            <a:srgbClr val="221C42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458200" y="5239512"/>
            <a:ext cx="3063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ложь</a:t>
            </a:r>
            <a:endParaRPr lang="en-US" sz="2100" dirty="0"/>
          </a:p>
        </p:txBody>
      </p:sp>
      <p:sp>
        <p:nvSpPr>
          <p:cNvPr id="44" name="Text 42"/>
          <p:cNvSpPr txBox="1"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Две величины — четыре набора. Три величины — восемь. Число строк удваивается.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Умный дом: два датчика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6766560" cy="2286000"/>
          </a:xfrm>
          <a:prstGeom prst="roundRect">
            <a:avLst>
              <a:gd name="adj" fmla="val 2400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41248" y="1965960"/>
            <a:ext cx="6400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1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temperatura = 17</a:t>
            </a:r>
            <a:endParaRPr lang="en-US" sz="2100" b="1" dirty="0">
              <a:solidFill>
                <a:schemeClr val="bg1"/>
              </a:solidFill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21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doma = True</a:t>
            </a:r>
            <a:endParaRPr lang="en-US" sz="2100" b="1" dirty="0">
              <a:solidFill>
                <a:schemeClr val="bg1"/>
              </a:solidFill>
            </a:endParaRPr>
          </a:p>
          <a:p>
            <a:pPr marL="0" indent="0">
              <a:lnSpc>
                <a:spcPct val="112000"/>
              </a:lnSpc>
              <a:buNone/>
            </a:pPr>
            <a:endParaRPr lang="en-US" sz="2100" b="1" dirty="0">
              <a:solidFill>
                <a:schemeClr val="bg1"/>
              </a:solidFill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21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vklyuchit = temperatura &lt; 18 and doma</a:t>
            </a:r>
            <a:endParaRPr lang="en-US" sz="2100" b="1" dirty="0">
              <a:solidFill>
                <a:schemeClr val="bg1"/>
              </a:solidFill>
            </a:endParaRPr>
          </a:p>
          <a:p>
            <a:pPr marL="0" indent="0">
              <a:lnSpc>
                <a:spcPct val="112000"/>
              </a:lnSpc>
              <a:buNone/>
            </a:pPr>
            <a:endParaRPr lang="en-US" sz="2100" b="1" dirty="0">
              <a:solidFill>
                <a:schemeClr val="bg1"/>
              </a:solidFill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21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print(vklyuchit)   # True</a:t>
            </a:r>
            <a:endParaRPr lang="en-US" sz="2100" b="1" dirty="0">
              <a:solidFill>
                <a:schemeClr val="bg1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7589520" y="1828800"/>
            <a:ext cx="3931920" cy="1920240"/>
          </a:xfrm>
          <a:prstGeom prst="roundRect">
            <a:avLst>
              <a:gd name="adj" fmla="val 4286"/>
            </a:avLst>
          </a:prstGeom>
          <a:solidFill>
            <a:srgbClr val="221C42"/>
          </a:solidFill>
          <a:ln w="25400">
            <a:solidFill>
              <a:srgbClr val="3DD6A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63840" y="20116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and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7863840" y="256032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Греть пустой дом незачем. Нужны оба условия сразу.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7589520" y="3931920"/>
            <a:ext cx="3931920" cy="1920240"/>
          </a:xfrm>
          <a:prstGeom prst="roundRect">
            <a:avLst>
              <a:gd name="adj" fmla="val 4286"/>
            </a:avLst>
          </a:prstGeom>
          <a:solidFill>
            <a:srgbClr val="221C42"/>
          </a:solidFill>
          <a:ln w="25400">
            <a:solidFill>
              <a:srgbClr val="F2789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863840" y="41148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Проверьте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7863840" y="466344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температуре 22 результат станет False. Обогрев не включится.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0350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Так работает любой термостат: два датчика соединены операцией И.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566160" cy="658368"/>
          </a:xfrm>
          <a:prstGeom prst="roundRect">
            <a:avLst>
              <a:gd name="adj" fmla="val 13889"/>
            </a:avLst>
          </a:prstGeom>
          <a:solidFill>
            <a:srgbClr val="4FD1E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 · УСТНО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052560" y="384048"/>
            <a:ext cx="2651760" cy="658368"/>
          </a:xfrm>
          <a:prstGeom prst="roundRect">
            <a:avLst>
              <a:gd name="adj" fmla="val 13889"/>
            </a:avLst>
          </a:prstGeom>
          <a:solidFill>
            <a:srgbClr val="221C42"/>
          </a:solidFill>
          <a:ln w="22225">
            <a:solidFill>
              <a:srgbClr val="4FD1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052560" y="384048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балл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63040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Робот едет вперёд. При каком условии?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640080" y="3017520"/>
            <a:ext cx="10881360" cy="640080"/>
          </a:xfrm>
          <a:prstGeom prst="roundRect">
            <a:avLst>
              <a:gd name="adj" fmla="val 8571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1248" y="31546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ехать = НЕТ препятствия  И  заряд больше 10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40080" y="39319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Запишите это выражение операциями not и and.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560320" cy="658368"/>
          </a:xfrm>
          <a:prstGeom prst="roundRect">
            <a:avLst>
              <a:gd name="adj" fmla="val 13889"/>
            </a:avLst>
          </a:prstGeom>
          <a:solidFill>
            <a:srgbClr val="4FD1E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38404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Робот-пылесос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10881360" cy="640080"/>
          </a:xfrm>
          <a:prstGeom prst="roundRect">
            <a:avLst>
              <a:gd name="adj" fmla="val 8571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1691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6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ehat = not prepyatstvie and zaryad &gt; 10</a:t>
            </a:r>
            <a:endParaRPr lang="en-US" sz="2600" dirty="0">
              <a:solidFill>
                <a:schemeClr val="bg1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640080" y="2560320"/>
            <a:ext cx="10881360" cy="1554480"/>
          </a:xfrm>
          <a:prstGeom prst="roundRect">
            <a:avLst>
              <a:gd name="adj" fmla="val 5294"/>
            </a:avLst>
          </a:prstGeom>
          <a:solidFill>
            <a:srgbClr val="221C42"/>
          </a:solidFill>
          <a:ln w="25400">
            <a:solidFill>
              <a:srgbClr val="4FD1E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2697480"/>
            <a:ext cx="10149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Операция not относится только к препятствию. Заряд проверяется отдельным сравнением, и оба условия соединены операцией and.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Порядок операций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7043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Сначала not, затем and, затем or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49240" cy="2103120"/>
          </a:xfrm>
          <a:prstGeom prst="roundRect">
            <a:avLst>
              <a:gd name="adj" fmla="val 3913"/>
            </a:avLst>
          </a:prstGeom>
          <a:solidFill>
            <a:srgbClr val="221C42"/>
          </a:solidFill>
          <a:ln w="25400">
            <a:solidFill>
              <a:srgbClr val="3DD6A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9659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скобок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960120" y="2514600"/>
            <a:ext cx="4754880" cy="1298448"/>
          </a:xfrm>
          <a:prstGeom prst="roundRect">
            <a:avLst>
              <a:gd name="adj" fmla="val 4225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61288" y="2651760"/>
            <a:ext cx="43891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True or True</a:t>
            </a:r>
            <a:endParaRPr lang="en-US" sz="1900" b="1" dirty="0">
              <a:solidFill>
                <a:schemeClr val="bg1"/>
              </a:solidFill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19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False or True</a:t>
            </a:r>
            <a:endParaRPr lang="en-US" sz="1900" b="1" dirty="0">
              <a:solidFill>
                <a:schemeClr val="bg1"/>
              </a:solidFill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19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True</a:t>
            </a:r>
            <a:endParaRPr lang="en-US" sz="1900" b="1" dirty="0">
              <a:solidFill>
                <a:schemeClr val="bg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6172200" y="1828800"/>
            <a:ext cx="5349240" cy="2103120"/>
          </a:xfrm>
          <a:prstGeom prst="roundRect">
            <a:avLst>
              <a:gd name="adj" fmla="val 3913"/>
            </a:avLst>
          </a:prstGeom>
          <a:solidFill>
            <a:srgbClr val="221C42"/>
          </a:solidFill>
          <a:ln w="25400">
            <a:solidFill>
              <a:srgbClr val="F2789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92240" y="19659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 скобками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6492240" y="2514600"/>
            <a:ext cx="4754880" cy="1298448"/>
          </a:xfrm>
          <a:prstGeom prst="roundRect">
            <a:avLst>
              <a:gd name="adj" fmla="val 4225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93408" y="2651760"/>
            <a:ext cx="43891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(True or True)</a:t>
            </a:r>
            <a:endParaRPr lang="en-US" sz="1900" b="1" dirty="0">
              <a:solidFill>
                <a:schemeClr val="bg1"/>
              </a:solidFill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19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not True</a:t>
            </a:r>
            <a:endParaRPr lang="en-US" sz="1900" b="1" dirty="0">
              <a:solidFill>
                <a:schemeClr val="bg1"/>
              </a:solidFill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19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False</a:t>
            </a:r>
            <a:endParaRPr lang="en-US" sz="1900" b="1" dirty="0">
              <a:solidFill>
                <a:schemeClr val="bg1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40080" y="4251960"/>
            <a:ext cx="10881360" cy="1737360"/>
          </a:xfrm>
          <a:prstGeom prst="roundRect">
            <a:avLst>
              <a:gd name="adj" fmla="val 4737"/>
            </a:avLst>
          </a:prstGeom>
          <a:solidFill>
            <a:srgbClr val="221C42"/>
          </a:solidFill>
          <a:ln w="25400">
            <a:solidFill>
              <a:srgbClr val="E8B84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0120" y="43891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Чем это грозит роботу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489204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выражения отличаются только скобками, а результаты противоположные. В автопилоте такая ошибка означает: тормозить или не тормозить.</a:t>
            </a:r>
            <a:endParaRPr lang="en-US" sz="2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Таблица как доказательство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7043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Проверяем равносильность двух выражений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103120" cy="749808"/>
          </a:xfrm>
          <a:prstGeom prst="rect">
            <a:avLst/>
          </a:prstGeom>
          <a:solidFill>
            <a:srgbClr val="2C2555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874520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0" y="1874520"/>
            <a:ext cx="2103120" cy="749808"/>
          </a:xfrm>
          <a:prstGeom prst="rect">
            <a:avLst/>
          </a:prstGeom>
          <a:solidFill>
            <a:srgbClr val="2C2555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743200" y="1874520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846320" y="1874520"/>
            <a:ext cx="3337560" cy="749808"/>
          </a:xfrm>
          <a:prstGeom prst="rect">
            <a:avLst/>
          </a:prstGeom>
          <a:solidFill>
            <a:srgbClr val="2C2555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1874520"/>
            <a:ext cx="3337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(A и B)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8183880" y="1874520"/>
            <a:ext cx="3337560" cy="749808"/>
          </a:xfrm>
          <a:prstGeom prst="rect">
            <a:avLst/>
          </a:prstGeom>
          <a:solidFill>
            <a:srgbClr val="2C2555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83880" y="1874520"/>
            <a:ext cx="3337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(не A) или (не B)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40080" y="2679192"/>
            <a:ext cx="2103120" cy="749808"/>
          </a:xfrm>
          <a:prstGeom prst="rect">
            <a:avLst/>
          </a:prstGeom>
          <a:solidFill>
            <a:srgbClr val="221C42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679192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истина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743200" y="2679192"/>
            <a:ext cx="2103120" cy="749808"/>
          </a:xfrm>
          <a:prstGeom prst="rect">
            <a:avLst/>
          </a:prstGeom>
          <a:solidFill>
            <a:srgbClr val="221C42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743200" y="2679192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истина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846320" y="2679192"/>
            <a:ext cx="3337560" cy="749808"/>
          </a:xfrm>
          <a:prstGeom prst="rect">
            <a:avLst/>
          </a:prstGeom>
          <a:solidFill>
            <a:srgbClr val="221C42"/>
          </a:solidFill>
          <a:ln w="22225">
            <a:solidFill>
              <a:srgbClr val="3DD6A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46320" y="2679192"/>
            <a:ext cx="3337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ложь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183880" y="2679192"/>
            <a:ext cx="3337560" cy="749808"/>
          </a:xfrm>
          <a:prstGeom prst="rect">
            <a:avLst/>
          </a:prstGeom>
          <a:solidFill>
            <a:srgbClr val="221C42"/>
          </a:solidFill>
          <a:ln w="22225">
            <a:solidFill>
              <a:srgbClr val="3DD6A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183880" y="2679192"/>
            <a:ext cx="3337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ложь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40080" y="3483864"/>
            <a:ext cx="2103120" cy="749808"/>
          </a:xfrm>
          <a:prstGeom prst="rect">
            <a:avLst/>
          </a:prstGeom>
          <a:solidFill>
            <a:srgbClr val="221C42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3483864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истина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2743200" y="3483864"/>
            <a:ext cx="2103120" cy="749808"/>
          </a:xfrm>
          <a:prstGeom prst="rect">
            <a:avLst/>
          </a:prstGeom>
          <a:solidFill>
            <a:srgbClr val="221C42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743200" y="3483864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ложь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4846320" y="3483864"/>
            <a:ext cx="3337560" cy="749808"/>
          </a:xfrm>
          <a:prstGeom prst="rect">
            <a:avLst/>
          </a:prstGeom>
          <a:solidFill>
            <a:srgbClr val="221C42"/>
          </a:solidFill>
          <a:ln w="22225">
            <a:solidFill>
              <a:srgbClr val="3DD6A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846320" y="3483864"/>
            <a:ext cx="3337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истина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8183880" y="3483864"/>
            <a:ext cx="3337560" cy="749808"/>
          </a:xfrm>
          <a:prstGeom prst="rect">
            <a:avLst/>
          </a:prstGeom>
          <a:solidFill>
            <a:srgbClr val="221C42"/>
          </a:solidFill>
          <a:ln w="22225">
            <a:solidFill>
              <a:srgbClr val="3DD6A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183880" y="3483864"/>
            <a:ext cx="3337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истина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640080" y="4288536"/>
            <a:ext cx="2103120" cy="749808"/>
          </a:xfrm>
          <a:prstGeom prst="rect">
            <a:avLst/>
          </a:prstGeom>
          <a:solidFill>
            <a:srgbClr val="221C42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0080" y="4288536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ложь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2743200" y="4288536"/>
            <a:ext cx="2103120" cy="749808"/>
          </a:xfrm>
          <a:prstGeom prst="rect">
            <a:avLst/>
          </a:prstGeom>
          <a:solidFill>
            <a:srgbClr val="221C42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743200" y="4288536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истина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4846320" y="4288536"/>
            <a:ext cx="3337560" cy="749808"/>
          </a:xfrm>
          <a:prstGeom prst="rect">
            <a:avLst/>
          </a:prstGeom>
          <a:solidFill>
            <a:srgbClr val="221C42"/>
          </a:solidFill>
          <a:ln w="22225">
            <a:solidFill>
              <a:srgbClr val="3DD6A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846320" y="4288536"/>
            <a:ext cx="3337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истина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8183880" y="4288536"/>
            <a:ext cx="3337560" cy="749808"/>
          </a:xfrm>
          <a:prstGeom prst="rect">
            <a:avLst/>
          </a:prstGeom>
          <a:solidFill>
            <a:srgbClr val="221C42"/>
          </a:solidFill>
          <a:ln w="22225">
            <a:solidFill>
              <a:srgbClr val="3DD6A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183880" y="4288536"/>
            <a:ext cx="3337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истина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640080" y="5093208"/>
            <a:ext cx="2103120" cy="749808"/>
          </a:xfrm>
          <a:prstGeom prst="rect">
            <a:avLst/>
          </a:prstGeom>
          <a:solidFill>
            <a:srgbClr val="221C42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40080" y="5093208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ложь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2743200" y="5093208"/>
            <a:ext cx="2103120" cy="749808"/>
          </a:xfrm>
          <a:prstGeom prst="rect">
            <a:avLst/>
          </a:prstGeom>
          <a:solidFill>
            <a:srgbClr val="221C42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2743200" y="5093208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ложь</a:t>
            </a:r>
            <a:endParaRPr lang="en-US" sz="2000" dirty="0"/>
          </a:p>
        </p:txBody>
      </p:sp>
      <p:sp>
        <p:nvSpPr>
          <p:cNvPr id="40" name="Shape 38"/>
          <p:cNvSpPr/>
          <p:nvPr/>
        </p:nvSpPr>
        <p:spPr>
          <a:xfrm>
            <a:off x="4846320" y="5093208"/>
            <a:ext cx="3337560" cy="749808"/>
          </a:xfrm>
          <a:prstGeom prst="rect">
            <a:avLst/>
          </a:prstGeom>
          <a:solidFill>
            <a:srgbClr val="221C42"/>
          </a:solidFill>
          <a:ln w="22225">
            <a:solidFill>
              <a:srgbClr val="3DD6A0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846320" y="5093208"/>
            <a:ext cx="3337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истина</a:t>
            </a:r>
            <a:endParaRPr lang="en-US" sz="2000" dirty="0"/>
          </a:p>
        </p:txBody>
      </p:sp>
      <p:sp>
        <p:nvSpPr>
          <p:cNvPr id="42" name="Shape 40"/>
          <p:cNvSpPr/>
          <p:nvPr/>
        </p:nvSpPr>
        <p:spPr>
          <a:xfrm>
            <a:off x="8183880" y="5093208"/>
            <a:ext cx="3337560" cy="749808"/>
          </a:xfrm>
          <a:prstGeom prst="rect">
            <a:avLst/>
          </a:prstGeom>
          <a:solidFill>
            <a:srgbClr val="221C42"/>
          </a:solidFill>
          <a:ln w="22225">
            <a:solidFill>
              <a:srgbClr val="3DD6A0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183880" y="5093208"/>
            <a:ext cx="3337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истина</a:t>
            </a:r>
            <a:endParaRPr lang="en-US" sz="2000" dirty="0"/>
          </a:p>
        </p:txBody>
      </p:sp>
      <p:sp>
        <p:nvSpPr>
          <p:cNvPr id="44" name="Text 42"/>
          <p:cNvSpPr txBox="1"/>
          <p:nvPr/>
        </p:nvSpPr>
        <p:spPr>
          <a:xfrm>
            <a:off x="640080" y="60350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последних столбца совпали во всех строках — значит выражения равносильны. Это и есть доказательство.</a:t>
            </a:r>
            <a:endParaRPr lang="en-US" sz="2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566160" cy="658368"/>
          </a:xfrm>
          <a:prstGeom prst="roundRect">
            <a:avLst>
              <a:gd name="adj" fmla="val 13889"/>
            </a:avLst>
          </a:prstGeom>
          <a:solidFill>
            <a:srgbClr val="8B7C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 · ПИСЬМЕННО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052560" y="384048"/>
            <a:ext cx="2651760" cy="658368"/>
          </a:xfrm>
          <a:prstGeom prst="roundRect">
            <a:avLst>
              <a:gd name="adj" fmla="val 13889"/>
            </a:avLst>
          </a:prstGeom>
          <a:solidFill>
            <a:srgbClr val="221C42"/>
          </a:solidFill>
          <a:ln w="22225">
            <a:solidFill>
              <a:srgbClr val="8B7C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052560" y="384048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B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балла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63040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выведут эти две строки?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640080" y="3017520"/>
            <a:ext cx="10881360" cy="969264"/>
          </a:xfrm>
          <a:prstGeom prst="roundRect">
            <a:avLst>
              <a:gd name="adj" fmla="val 5660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1248" y="3154680"/>
            <a:ext cx="10515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2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print(True or False and False)</a:t>
            </a:r>
            <a:endParaRPr lang="en-US" sz="2200" b="1" dirty="0">
              <a:solidFill>
                <a:schemeClr val="bg1"/>
              </a:solidFill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22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print((True or False) and False)</a:t>
            </a:r>
            <a:endParaRPr lang="en-US" sz="2200" b="1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40080" y="4261104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8B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Вспомните порядок: and выполняется раньше or.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560320" cy="658368"/>
          </a:xfrm>
          <a:prstGeom prst="roundRect">
            <a:avLst>
              <a:gd name="adj" fmla="val 13889"/>
            </a:avLst>
          </a:prstGeom>
          <a:solidFill>
            <a:srgbClr val="8B7C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38404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Порядок решает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10881360" cy="969264"/>
          </a:xfrm>
          <a:prstGeom prst="roundRect">
            <a:avLst>
              <a:gd name="adj" fmla="val 5660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1691640"/>
            <a:ext cx="10515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6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 or False and False   -&gt;  True</a:t>
            </a:r>
            <a:endParaRPr lang="en-US" sz="2600" b="1" dirty="0">
              <a:solidFill>
                <a:schemeClr val="bg1"/>
              </a:solidFill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26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(True or False) and False -&gt;  False</a:t>
            </a:r>
            <a:endParaRPr lang="en-US" sz="2600" b="1" dirty="0">
              <a:solidFill>
                <a:schemeClr val="bg1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640080" y="2889504"/>
            <a:ext cx="10881360" cy="1554480"/>
          </a:xfrm>
          <a:prstGeom prst="roundRect">
            <a:avLst>
              <a:gd name="adj" fmla="val 5294"/>
            </a:avLst>
          </a:prstGeom>
          <a:solidFill>
            <a:srgbClr val="221C42"/>
          </a:solidFill>
          <a:ln w="25400">
            <a:solidFill>
              <a:srgbClr val="8B7C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3026664"/>
            <a:ext cx="10149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первой строке and выполняется раньше: False and False даёт False, затем True or False даёт True. Скобки во второй строке меняют порядок.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Камера с ИИ: где здесь логика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7043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Нейросеть не отвечает «да» или «нет» — и это важно понимать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49240" cy="2194560"/>
          </a:xfrm>
          <a:prstGeom prst="roundRect">
            <a:avLst>
              <a:gd name="adj" fmla="val 3750"/>
            </a:avLst>
          </a:prstGeom>
          <a:solidFill>
            <a:srgbClr val="221C42"/>
          </a:solidFill>
          <a:ln w="25400">
            <a:solidFill>
              <a:srgbClr val="F2789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9659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делает ИИ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960120" y="251460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отвечает «да» или «нет». Выдаёт число: насколько он уверен. Например, 0.83.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172200" y="1828800"/>
            <a:ext cx="5349240" cy="2194560"/>
          </a:xfrm>
          <a:prstGeom prst="roundRect">
            <a:avLst>
              <a:gd name="adj" fmla="val 3750"/>
            </a:avLst>
          </a:prstGeom>
          <a:solidFill>
            <a:srgbClr val="221C42"/>
          </a:solidFill>
          <a:ln w="25400">
            <a:solidFill>
              <a:srgbClr val="3DD6A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92240" y="19659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логика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492240" y="251460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 принимает условие: если уверенность не ниже порога — подать сигнал.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40080" y="4251960"/>
            <a:ext cx="6766560" cy="2286000"/>
          </a:xfrm>
          <a:prstGeom prst="roundRect">
            <a:avLst>
              <a:gd name="adj" fmla="val 2400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1248" y="4389120"/>
            <a:ext cx="6400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uverennost = 0.83</a:t>
            </a:r>
            <a:endParaRPr lang="en-US" sz="2000" dirty="0">
              <a:solidFill>
                <a:schemeClr val="bg1"/>
              </a:solidFill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porog = 0.8</a:t>
            </a:r>
            <a:endParaRPr lang="en-US" sz="2000" dirty="0">
              <a:solidFill>
                <a:schemeClr val="bg1"/>
              </a:solidFill>
            </a:endParaRPr>
          </a:p>
          <a:p>
            <a:pPr marL="0" indent="0">
              <a:lnSpc>
                <a:spcPct val="112000"/>
              </a:lnSpc>
              <a:buNone/>
            </a:pPr>
            <a:endParaRPr lang="en-US" sz="2000" dirty="0">
              <a:solidFill>
                <a:schemeClr val="bg1"/>
              </a:solidFill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signal = uverennost &gt;= porog</a:t>
            </a:r>
            <a:endParaRPr lang="en-US" sz="2000" dirty="0">
              <a:solidFill>
                <a:schemeClr val="bg1"/>
              </a:solidFill>
            </a:endParaRPr>
          </a:p>
          <a:p>
            <a:pPr marL="0" indent="0">
              <a:lnSpc>
                <a:spcPct val="112000"/>
              </a:lnSpc>
              <a:buNone/>
            </a:pPr>
            <a:endParaRPr lang="en-US" sz="2000" dirty="0">
              <a:solidFill>
                <a:schemeClr val="bg1"/>
              </a:solidFill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print(signal)   # True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589520" y="4251960"/>
            <a:ext cx="3931920" cy="2011680"/>
          </a:xfrm>
          <a:prstGeom prst="roundRect">
            <a:avLst>
              <a:gd name="adj" fmla="val 4091"/>
            </a:avLst>
          </a:prstGeom>
          <a:solidFill>
            <a:srgbClr val="221C42"/>
          </a:solidFill>
          <a:ln w="25400">
            <a:solidFill>
              <a:srgbClr val="E8B84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863840" y="44348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Проверьте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7863840" y="498348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0.62 результат False. Порог решает, а не сама сеть.</a:t>
            </a:r>
            <a:endParaRPr lang="en-US" sz="1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Практика. Этап первый: тетрадь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7043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 в парах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49240" cy="2743200"/>
          </a:xfrm>
          <a:prstGeom prst="roundRect">
            <a:avLst>
              <a:gd name="adj" fmla="val 3000"/>
            </a:avLst>
          </a:prstGeom>
          <a:solidFill>
            <a:srgbClr val="221C42"/>
          </a:solidFill>
          <a:ln w="25400">
            <a:solidFill>
              <a:srgbClr val="4FD1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9659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делать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56032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Построить таблицы истинности</a:t>
            </a:r>
            <a:endParaRPr lang="en-US" sz="21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Вычислить значение выражения</a:t>
            </a:r>
            <a:endParaRPr lang="en-US" sz="21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Записать условие словами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6172200" y="1828800"/>
            <a:ext cx="5349240" cy="2743200"/>
          </a:xfrm>
          <a:prstGeom prst="roundRect">
            <a:avLst>
              <a:gd name="adj" fmla="val 3000"/>
            </a:avLst>
          </a:prstGeom>
          <a:solidFill>
            <a:srgbClr val="221C42"/>
          </a:solidFill>
          <a:ln w="25400">
            <a:solidFill>
              <a:srgbClr val="3DD6A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92240" y="19659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 карточек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56032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1—3 выполняют все.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4—6 по мере готовности.</a:t>
            </a:r>
            <a:endParaRPr lang="en-US" sz="2100" dirty="0"/>
          </a:p>
          <a:p>
            <a:pPr marL="0" indent="0">
              <a:buNone/>
            </a:pP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 6: найти ошибку в записи условия.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640080" y="484632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221C42"/>
          </a:solidFill>
          <a:ln w="25400">
            <a:solidFill>
              <a:srgbClr val="E8B84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49834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Ловушка урока</a:t>
            </a:r>
            <a:endParaRPr lang="en-US" sz="23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544068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Запись klass == 10 or 11 всегда истинна. Почему — объяснить письменно.</a:t>
            </a:r>
            <a:endParaRPr lang="en-US" sz="2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Практика. Этап второй: компьютер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6400800" cy="731520"/>
          </a:xfrm>
          <a:prstGeom prst="roundRect">
            <a:avLst>
              <a:gd name="adj" fmla="val 10000"/>
            </a:avLst>
          </a:prstGeom>
          <a:solidFill>
            <a:srgbClr val="221C42"/>
          </a:solidFill>
          <a:ln w="22225">
            <a:solidFill>
              <a:srgbClr val="8B7C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938528"/>
            <a:ext cx="512064" cy="512064"/>
          </a:xfrm>
          <a:prstGeom prst="ellipse">
            <a:avLst/>
          </a:prstGeom>
          <a:solidFill>
            <a:srgbClr val="8B7C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9385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82880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Вывести значения and, or, not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2670048"/>
            <a:ext cx="6400800" cy="731520"/>
          </a:xfrm>
          <a:prstGeom prst="roundRect">
            <a:avLst>
              <a:gd name="adj" fmla="val 10000"/>
            </a:avLst>
          </a:prstGeom>
          <a:solidFill>
            <a:srgbClr val="221C42"/>
          </a:solidFill>
          <a:ln w="22225">
            <a:solidFill>
              <a:srgbClr val="4FD1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2779776"/>
            <a:ext cx="512064" cy="512064"/>
          </a:xfrm>
          <a:prstGeom prst="ellipse">
            <a:avLst/>
          </a:prstGeom>
          <a:solidFill>
            <a:srgbClr val="4FD1E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277977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2670048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Условие умного дома: температура и присутствие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640080" y="3511296"/>
            <a:ext cx="6400800" cy="731520"/>
          </a:xfrm>
          <a:prstGeom prst="roundRect">
            <a:avLst>
              <a:gd name="adj" fmla="val 10000"/>
            </a:avLst>
          </a:prstGeom>
          <a:solidFill>
            <a:srgbClr val="221C42"/>
          </a:solidFill>
          <a:ln w="22225">
            <a:solidFill>
              <a:srgbClr val="3DD6A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3621024"/>
            <a:ext cx="512064" cy="512064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68680" y="36210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3511296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Условие робота: нет препятствия и заряд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640080" y="4352544"/>
            <a:ext cx="6400800" cy="731520"/>
          </a:xfrm>
          <a:prstGeom prst="roundRect">
            <a:avLst>
              <a:gd name="adj" fmla="val 10000"/>
            </a:avLst>
          </a:prstGeom>
          <a:solidFill>
            <a:srgbClr val="221C42"/>
          </a:solidFill>
          <a:ln w="22225">
            <a:solidFill>
              <a:srgbClr val="3DD6A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" y="4462272"/>
            <a:ext cx="512064" cy="512064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8680" y="44622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4352544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Проверить равносильность двух выражений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640080" y="5193792"/>
            <a:ext cx="6400800" cy="731520"/>
          </a:xfrm>
          <a:prstGeom prst="roundRect">
            <a:avLst>
              <a:gd name="adj" fmla="val 10000"/>
            </a:avLst>
          </a:prstGeom>
          <a:solidFill>
            <a:srgbClr val="221C42"/>
          </a:solidFill>
          <a:ln w="22225">
            <a:solidFill>
              <a:srgbClr val="F2789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" y="5303520"/>
            <a:ext cx="512064" cy="512064"/>
          </a:xfrm>
          <a:prstGeom prst="ellipse">
            <a:avLst/>
          </a:prstGeom>
          <a:solidFill>
            <a:srgbClr val="F2789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8680" y="53035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5193792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Сравнить not True or True и not (True or True)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0" y="18288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Шаблон: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7315200" y="2331720"/>
            <a:ext cx="4206240" cy="1627632"/>
          </a:xfrm>
          <a:prstGeom prst="roundRect">
            <a:avLst>
              <a:gd name="adj" fmla="val 3371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516368" y="2468880"/>
            <a:ext cx="384048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 = 17</a:t>
            </a:r>
            <a:endParaRPr lang="en-US" sz="17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doma = True</a:t>
            </a:r>
            <a:endParaRPr lang="en-US" sz="1700" dirty="0"/>
          </a:p>
          <a:p>
            <a:pPr marL="0" indent="0">
              <a:lnSpc>
                <a:spcPct val="112000"/>
              </a:lnSpc>
              <a:buNone/>
            </a:pPr>
            <a:endParaRPr lang="en-US" sz="17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print(temp &lt; 18 and doma)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Правило: прочитай сообщение об ошибке сам, потом поднимай руку.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Домашнее задание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192024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221C42"/>
          </a:solidFill>
          <a:ln w="22225">
            <a:solidFill>
              <a:srgbClr val="8B7C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1920240"/>
            <a:ext cx="2743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Всем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3840480" y="2011680"/>
            <a:ext cx="7406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Построить таблицу истинности выражения (А и не В) или В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" y="333756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221C42"/>
          </a:solidFill>
          <a:ln w="22225">
            <a:solidFill>
              <a:srgbClr val="4FD1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3337560"/>
            <a:ext cx="2743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Всем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3840480" y="3429000"/>
            <a:ext cx="7406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Записать условием: число больше нуля и меньше ста, либо равно нулю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40080" y="475488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221C42"/>
          </a:solidFill>
          <a:ln w="22225">
            <a:solidFill>
              <a:srgbClr val="3DD6A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4754880"/>
            <a:ext cx="2743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есть компьютер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3840480" y="4846320"/>
            <a:ext cx="7406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Проверить построенную таблицу программой на всех четырёх наборах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2636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Первые два задания выполняются в тетради — компьютер не нужен.</a:t>
            </a:r>
            <a:endParaRPr lang="en-US" sz="1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1188720"/>
            <a:ext cx="4937760" cy="4937760"/>
          </a:xfrm>
          <a:prstGeom prst="ellipse">
            <a:avLst/>
          </a:prstGeom>
          <a:solidFill>
            <a:srgbClr val="8B7CF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1887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Итог занятия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377440"/>
            <a:ext cx="7315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Логическая величина: истина или ложь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требует оба условия, ИЛИ — хотя бы одно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Порядок: сначала not, затем and, затем or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Таблица истинности доказывает равносильность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Умный дом, робот и автопилот решают по условию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5778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следующем занятии: программа научится выбирать — условный оператор.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1355</Words>
  <Application>Microsoft Office PowerPoint</Application>
  <PresentationFormat>Широкоэкранный</PresentationFormat>
  <Paragraphs>258</Paragraphs>
  <Slides>19</Slides>
  <Notes>19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4" baseType="lpstr">
      <vt:lpstr>Arial</vt:lpstr>
      <vt:lpstr>Calibri</vt:lpstr>
      <vt:lpstr>Cambria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Мухаммадчон Мусоев</cp:lastModifiedBy>
  <cp:revision>3</cp:revision>
  <dcterms:created xsi:type="dcterms:W3CDTF">2026-09-25T16:11:25Z</dcterms:created>
  <dcterms:modified xsi:type="dcterms:W3CDTF">2026-09-25T16:24:00Z</dcterms:modified>
</cp:coreProperties>
</file>