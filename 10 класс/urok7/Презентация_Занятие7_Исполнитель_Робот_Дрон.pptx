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58" r:id="rId4"/>
    <p:sldId id="259" r:id="rId5"/>
    <p:sldId id="278" r:id="rId6"/>
    <p:sldId id="260" r:id="rId7"/>
    <p:sldId id="261" r:id="rId8"/>
    <p:sldId id="262" r:id="rId9"/>
    <p:sldId id="263" r:id="rId10"/>
    <p:sldId id="277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4" d="100"/>
          <a:sy n="104" d="100"/>
        </p:scale>
        <p:origin x="284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256040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Урок 13 — теория в тетради. Урок 14 — практика в Python IDLE. Компьютеры на первом часе не нужны.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Собрать ответы на доске, не исправляя. Обычно звучат: сколько тратит заряда один шаг, на какой высоте лететь, что значит «долетит». Эти ответы потом разложим по стадиям.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Опора для запоминания: «понять → описать → придумать → записать → проверить → оценить». Стадии 1—3 делает человек на бумаге, 4—5 — вместе с компьютером, 6 — снова человек.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Посчитать модель вслух: 20 + 25 + 4 = 49. Анализ: туда 49 %, обратно ещё 49 % — остаётся 2 %. Любой ветер — и дрон не вернётся. Решение фермера: лететь ниже или ставить зарядку в саду.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Спросить: что случится с моделью при сильном ветре? (Расход вырастет, модель даст слишком оптимистичный ответ.) Это связь со стадией 6: анализ результата учитывает допущения модели.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Логическую ошибку компьютер не найдёт сам — её находит только тест. Поэтому тесты придумывают до запуска.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Пример ручного управления — пульт игрушечной машинки. Программного — стиральная машина с выбранной программой, автопилот дрона.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Сначала закрыть ответ: пусть класс пройдёт маршрут пальцем в тетради. Затем показать стрелки. Подчеркнуть: ось y направлена вверх, как в математике.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Две команды подряд пишут разные группы — сравнить, чья программа короче. Если робот «додумывает», сразу остановить: это нарушение формального исполнения.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Связь с Python: незнакомая команда — как опечатка в имени (Python «не понимает»). Деление на ноль — Python «не может».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Обратить внимание: подъём дороже спуска — дрону тяжело бороться с притяжением. Такие решения и есть стадия «модель».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Ответы: 1) постановка, модель, алгоритм, программа, тестирование, анализ. 2) дано 4 м, 3 м, плитка 0,2 м; найти число плиток; модель (4/0,2)·(3/0,2) = 20·15 = 300. 3) (4; 1). 4) RRRRUUU — 7 команд (порядок любой). 5) R → (4;3), U → (4;4), R — «не могу» (стена), U — «не могу» (стена), X — «не понимаю». 6) «+EENNN-»: 10 + 5·5 + 2 = 37 %.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Блиц перед стартом: какие две переменные описывают положение робота? Что делает команда L с x?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Ввести код вместе с классом в IDLE: File → New File, сохранить как robot.py, запуск — F5.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Это задание 3 практической работы. Таблица трассировки — тот же приём, что на занятии 3 с циклами.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Связь с уроком 12: если поставить пятую ветку первой, робот будет «упираться в стену» на каждом шаге.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Обязательно обратить внимание: в строке маршрута «-» — обычный минус с клавиатуры, а не длинное тире.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Условия, данные и ожидаемый вывод — в распечатке. Задание 7 требует записать стадии решения комментариями — проверить это при обходе.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Ошибку «русская Е» показать вживую: в маршруте «++ЕEENN--» первая Е — кириллица. Дрон пропустит шаг, программа ошибки не выдаст. Это логическая ошибка — найти её помогает только тест.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13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8778240" y="-1280160"/>
            <a:ext cx="5669280" cy="5669280"/>
          </a:xfrm>
          <a:prstGeom prst="ellipse">
            <a:avLst/>
          </a:prstGeom>
          <a:solidFill>
            <a:srgbClr val="231C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0241280" y="3291840"/>
            <a:ext cx="4023360" cy="4023360"/>
          </a:xfrm>
          <a:prstGeom prst="ellipse">
            <a:avLst/>
          </a:prstGeom>
          <a:solidFill>
            <a:srgbClr val="2A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4FD1E0"/>
                </a:solidFill>
                <a:latin typeface="Calibri"/>
              </a:rPr>
              <a:t>ЗАНЯТИЕ 7 · УРОК 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37360"/>
            <a:ext cx="8686800" cy="1737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5000" b="1" i="0">
                <a:solidFill>
                  <a:srgbClr val="FFFFFF"/>
                </a:solidFill>
                <a:latin typeface="Cambria"/>
              </a:rPr>
              <a:t>От задачи</a:t>
            </a:r>
          </a:p>
          <a:p>
            <a:pPr algn="l">
              <a:spcAft>
                <a:spcPts val="0"/>
              </a:spcAft>
            </a:pPr>
            <a:r>
              <a:rPr sz="5000" b="1" i="0">
                <a:solidFill>
                  <a:srgbClr val="FFFFFF"/>
                </a:solidFill>
                <a:latin typeface="Cambria"/>
              </a:rPr>
              <a:t>до полёта дрона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392" y="3657600"/>
            <a:ext cx="9144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 i="0">
                <a:solidFill>
                  <a:srgbClr val="C3BEDA"/>
                </a:solidFill>
                <a:latin typeface="Calibri"/>
              </a:rPr>
              <a:t>Стадии решения задачи с помощью компьютера · Исполнитель алгоритмов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13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1" i="0">
                <a:solidFill>
                  <a:srgbClr val="FFFFFF"/>
                </a:solidFill>
                <a:latin typeface="Cambria"/>
              </a:rPr>
              <a:t>Задача от фермера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97280"/>
            <a:ext cx="108813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 i="1">
                <a:solidFill>
                  <a:srgbClr val="C3BEDA"/>
                </a:solidFill>
                <a:latin typeface="Calibri"/>
              </a:rPr>
              <a:t>С чего начинается любая программа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6000"/>
            </a:avLst>
          </a:prstGeom>
          <a:solidFill>
            <a:srgbClr val="221C42"/>
          </a:solidFill>
          <a:ln w="25400">
            <a:solidFill>
              <a:srgbClr val="F2789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874519"/>
            <a:ext cx="10332720" cy="1143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 i="0">
                <a:solidFill>
                  <a:srgbClr val="FFFFFF"/>
                </a:solidFill>
                <a:latin typeface="Calibri"/>
              </a:rPr>
              <a:t>Дрон должен отвезти посылку из склада в соседний сад: 3 клетки на восток, 2 на север. Заряда — 100 %. Долетит ли он и как записать маршрут?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3337560"/>
            <a:ext cx="10881360" cy="1005840"/>
          </a:xfrm>
          <a:prstGeom prst="roundRect">
            <a:avLst>
              <a:gd name="adj" fmla="val 6000"/>
            </a:avLst>
          </a:prstGeom>
          <a:solidFill>
            <a:srgbClr val="3DD6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3383280"/>
            <a:ext cx="10332720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1" i="0">
                <a:solidFill>
                  <a:srgbClr val="17132E"/>
                </a:solidFill>
                <a:latin typeface="Calibri"/>
              </a:rPr>
              <a:t>Код — это только четвёртый шаг из шести. Если пропустить первые три, программа ответит на чужой вопрос.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663440"/>
            <a:ext cx="1088136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 i="0">
                <a:solidFill>
                  <a:srgbClr val="E8B84B"/>
                </a:solidFill>
                <a:latin typeface="Calibri"/>
              </a:rPr>
              <a:t>Спросите класс:</a:t>
            </a:r>
          </a:p>
          <a:p>
            <a:pPr algn="l">
              <a:spcAft>
                <a:spcPts val="400"/>
              </a:spcAft>
            </a:pPr>
            <a:r>
              <a:rPr sz="2000" b="0" i="0">
                <a:solidFill>
                  <a:srgbClr val="FFFFFF"/>
                </a:solidFill>
                <a:latin typeface="Calibri"/>
              </a:rPr>
              <a:t>Что нам нужно знать, прежде чем писать хоть одну строку?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13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65760"/>
            <a:ext cx="1088136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 i="0">
                <a:solidFill>
                  <a:schemeClr val="bg1"/>
                </a:solidFill>
                <a:latin typeface="Cambria"/>
              </a:rPr>
              <a:t>Шесть стадий решения задачи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97280"/>
            <a:ext cx="1088136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0" i="1">
                <a:solidFill>
                  <a:schemeClr val="bg1"/>
                </a:solidFill>
                <a:latin typeface="Calibri"/>
              </a:rPr>
              <a:t>Как профессиональный программист работает с любой задачей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83080"/>
            <a:ext cx="3474720" cy="1645920"/>
          </a:xfrm>
          <a:prstGeom prst="roundRect">
            <a:avLst>
              <a:gd name="adj" fmla="val 6000"/>
            </a:avLst>
          </a:prstGeom>
          <a:solidFill>
            <a:srgbClr val="221C42"/>
          </a:solidFill>
          <a:ln w="25400">
            <a:solidFill>
              <a:srgbClr val="E8B8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solidFill>
                <a:schemeClr val="bg1"/>
              </a:solidFill>
            </a:endParaRPr>
          </a:p>
        </p:txBody>
      </p:sp>
      <p:sp>
        <p:nvSpPr>
          <p:cNvPr id="5" name="Oval 4"/>
          <p:cNvSpPr/>
          <p:nvPr/>
        </p:nvSpPr>
        <p:spPr>
          <a:xfrm>
            <a:off x="822959" y="1965960"/>
            <a:ext cx="502920" cy="502920"/>
          </a:xfrm>
          <a:prstGeom prst="ellipse">
            <a:avLst/>
          </a:prstGeom>
          <a:solidFill>
            <a:srgbClr val="E8B8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/>
            <a:r>
              <a:rPr sz="2400" b="1">
                <a:solidFill>
                  <a:schemeClr val="bg1"/>
                </a:solidFill>
                <a:latin typeface="Calibr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870948"/>
            <a:ext cx="2514600" cy="7386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 i="0">
                <a:solidFill>
                  <a:schemeClr val="bg1"/>
                </a:solidFill>
                <a:latin typeface="Calibri"/>
              </a:rPr>
              <a:t>Постановка задачи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651760"/>
            <a:ext cx="3063240" cy="7386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0" i="0">
                <a:solidFill>
                  <a:schemeClr val="bg1"/>
                </a:solidFill>
                <a:latin typeface="Calibri"/>
              </a:rPr>
              <a:t>что дано, что найти, какие условия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783080"/>
            <a:ext cx="3474720" cy="1645920"/>
          </a:xfrm>
          <a:prstGeom prst="roundRect">
            <a:avLst>
              <a:gd name="adj" fmla="val 6000"/>
            </a:avLst>
          </a:prstGeom>
          <a:solidFill>
            <a:srgbClr val="221C42"/>
          </a:solidFill>
          <a:ln w="25400">
            <a:solidFill>
              <a:srgbClr val="E8B8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solidFill>
                <a:schemeClr val="bg1"/>
              </a:solidFill>
            </a:endParaRPr>
          </a:p>
        </p:txBody>
      </p:sp>
      <p:sp>
        <p:nvSpPr>
          <p:cNvPr id="9" name="Oval 8"/>
          <p:cNvSpPr/>
          <p:nvPr/>
        </p:nvSpPr>
        <p:spPr>
          <a:xfrm>
            <a:off x="4526280" y="1965960"/>
            <a:ext cx="502920" cy="502920"/>
          </a:xfrm>
          <a:prstGeom prst="ellipse">
            <a:avLst/>
          </a:prstGeom>
          <a:solidFill>
            <a:srgbClr val="E8B8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/>
            <a:r>
              <a:rPr sz="2400" b="1">
                <a:solidFill>
                  <a:schemeClr val="bg1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66360" y="2055614"/>
            <a:ext cx="25146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 i="0">
                <a:solidFill>
                  <a:schemeClr val="bg1"/>
                </a:solidFill>
                <a:latin typeface="Calibri"/>
              </a:rPr>
              <a:t>Модель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2651760"/>
            <a:ext cx="3063240" cy="7386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0" i="0">
                <a:solidFill>
                  <a:schemeClr val="bg1"/>
                </a:solidFill>
                <a:latin typeface="Calibri"/>
              </a:rPr>
              <a:t>величины, формулы, правила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19" y="1783080"/>
            <a:ext cx="3474720" cy="1645920"/>
          </a:xfrm>
          <a:prstGeom prst="roundRect">
            <a:avLst>
              <a:gd name="adj" fmla="val 6000"/>
            </a:avLst>
          </a:prstGeom>
          <a:solidFill>
            <a:srgbClr val="221C42"/>
          </a:solidFill>
          <a:ln w="25400">
            <a:solidFill>
              <a:srgbClr val="4FD1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solidFill>
                <a:schemeClr val="bg1"/>
              </a:solidFill>
            </a:endParaRPr>
          </a:p>
        </p:txBody>
      </p:sp>
      <p:sp>
        <p:nvSpPr>
          <p:cNvPr id="13" name="Oval 12"/>
          <p:cNvSpPr/>
          <p:nvPr/>
        </p:nvSpPr>
        <p:spPr>
          <a:xfrm>
            <a:off x="8229599" y="1965960"/>
            <a:ext cx="502920" cy="502920"/>
          </a:xfrm>
          <a:prstGeom prst="ellipse">
            <a:avLst/>
          </a:prstGeom>
          <a:solidFill>
            <a:srgbClr val="4FD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/>
            <a:r>
              <a:rPr sz="2400" b="1">
                <a:solidFill>
                  <a:schemeClr val="bg1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69680" y="2055614"/>
            <a:ext cx="25146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 i="0">
                <a:solidFill>
                  <a:schemeClr val="bg1"/>
                </a:solidFill>
                <a:latin typeface="Calibri"/>
              </a:rPr>
              <a:t>Алгоритм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75319" y="2651760"/>
            <a:ext cx="3063240" cy="7386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0" i="0">
                <a:solidFill>
                  <a:schemeClr val="bg1"/>
                </a:solidFill>
                <a:latin typeface="Calibri"/>
              </a:rPr>
              <a:t>последовательность шагов, блок-схема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657600"/>
            <a:ext cx="3474720" cy="1645920"/>
          </a:xfrm>
          <a:prstGeom prst="roundRect">
            <a:avLst>
              <a:gd name="adj" fmla="val 6000"/>
            </a:avLst>
          </a:prstGeom>
          <a:solidFill>
            <a:srgbClr val="221C42"/>
          </a:solidFill>
          <a:ln w="25400">
            <a:solidFill>
              <a:srgbClr val="4FD1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solidFill>
                <a:schemeClr val="bg1"/>
              </a:solidFill>
            </a:endParaRPr>
          </a:p>
        </p:txBody>
      </p:sp>
      <p:sp>
        <p:nvSpPr>
          <p:cNvPr id="17" name="Oval 16"/>
          <p:cNvSpPr/>
          <p:nvPr/>
        </p:nvSpPr>
        <p:spPr>
          <a:xfrm>
            <a:off x="822959" y="3840480"/>
            <a:ext cx="502920" cy="502920"/>
          </a:xfrm>
          <a:prstGeom prst="ellipse">
            <a:avLst/>
          </a:prstGeom>
          <a:solidFill>
            <a:srgbClr val="4FD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/>
            <a:r>
              <a:rPr sz="2400" b="1">
                <a:solidFill>
                  <a:schemeClr val="bg1"/>
                </a:solidFill>
                <a:latin typeface="Calibri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63040" y="3930134"/>
            <a:ext cx="25146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 i="0">
                <a:solidFill>
                  <a:schemeClr val="bg1"/>
                </a:solidFill>
                <a:latin typeface="Calibri"/>
              </a:rPr>
              <a:t>Программа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526280"/>
            <a:ext cx="3063240" cy="7386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0" i="0">
                <a:solidFill>
                  <a:schemeClr val="bg1"/>
                </a:solidFill>
                <a:latin typeface="Calibri"/>
              </a:rPr>
              <a:t>запись алгоритма на языке Python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43400" y="3657600"/>
            <a:ext cx="3474720" cy="1645920"/>
          </a:xfrm>
          <a:prstGeom prst="roundRect">
            <a:avLst>
              <a:gd name="adj" fmla="val 6000"/>
            </a:avLst>
          </a:prstGeom>
          <a:solidFill>
            <a:srgbClr val="221C42"/>
          </a:solidFill>
          <a:ln w="25400">
            <a:solidFill>
              <a:srgbClr val="F2789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solidFill>
                <a:schemeClr val="bg1"/>
              </a:solidFill>
            </a:endParaRPr>
          </a:p>
        </p:txBody>
      </p:sp>
      <p:sp>
        <p:nvSpPr>
          <p:cNvPr id="21" name="Oval 20"/>
          <p:cNvSpPr/>
          <p:nvPr/>
        </p:nvSpPr>
        <p:spPr>
          <a:xfrm>
            <a:off x="4526280" y="3840480"/>
            <a:ext cx="502920" cy="502920"/>
          </a:xfrm>
          <a:prstGeom prst="ellipse">
            <a:avLst/>
          </a:prstGeom>
          <a:solidFill>
            <a:srgbClr val="F278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/>
            <a:r>
              <a:rPr sz="2400" b="1">
                <a:solidFill>
                  <a:schemeClr val="bg1"/>
                </a:solidFill>
                <a:latin typeface="Calibri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66360" y="3745469"/>
            <a:ext cx="2514600" cy="7386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 i="0">
                <a:solidFill>
                  <a:schemeClr val="bg1"/>
                </a:solidFill>
                <a:latin typeface="Calibri"/>
              </a:rPr>
              <a:t>Тестирование и отладка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4526280"/>
            <a:ext cx="3063240" cy="7386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0" i="0">
                <a:solidFill>
                  <a:schemeClr val="bg1"/>
                </a:solidFill>
                <a:latin typeface="Calibri"/>
              </a:rPr>
              <a:t>проверка на данных, поиск ошибок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46719" y="3657600"/>
            <a:ext cx="3474720" cy="1645920"/>
          </a:xfrm>
          <a:prstGeom prst="roundRect">
            <a:avLst>
              <a:gd name="adj" fmla="val 6000"/>
            </a:avLst>
          </a:prstGeom>
          <a:solidFill>
            <a:srgbClr val="221C42"/>
          </a:solidFill>
          <a:ln w="25400">
            <a:solidFill>
              <a:srgbClr val="3DD6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solidFill>
                <a:schemeClr val="bg1"/>
              </a:solidFill>
            </a:endParaRPr>
          </a:p>
        </p:txBody>
      </p:sp>
      <p:sp>
        <p:nvSpPr>
          <p:cNvPr id="25" name="Oval 24"/>
          <p:cNvSpPr/>
          <p:nvPr/>
        </p:nvSpPr>
        <p:spPr>
          <a:xfrm>
            <a:off x="8229599" y="3840480"/>
            <a:ext cx="502920" cy="502920"/>
          </a:xfrm>
          <a:prstGeom prst="ellipse">
            <a:avLst/>
          </a:prstGeom>
          <a:solidFill>
            <a:srgbClr val="3DD6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/>
            <a:r>
              <a:rPr sz="2400" b="1">
                <a:solidFill>
                  <a:schemeClr val="bg1"/>
                </a:solidFill>
                <a:latin typeface="Calibri"/>
              </a:rPr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69680" y="3930134"/>
            <a:ext cx="25146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 i="0">
                <a:solidFill>
                  <a:schemeClr val="bg1"/>
                </a:solidFill>
                <a:latin typeface="Calibri"/>
              </a:rPr>
              <a:t>Анализ результата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75319" y="4526280"/>
            <a:ext cx="3063240" cy="7386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0" i="0">
                <a:solidFill>
                  <a:schemeClr val="bg1"/>
                </a:solidFill>
                <a:latin typeface="Calibri"/>
              </a:rPr>
              <a:t>ответ на вопрос задачи — верен ли он?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5715000"/>
            <a:ext cx="10881360" cy="7386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0" i="1">
                <a:solidFill>
                  <a:schemeClr val="bg1"/>
                </a:solidFill>
                <a:latin typeface="Calibri"/>
              </a:rPr>
              <a:t>Если на стадии 6 ответ неверный — возвращаемся назад: к программе, алгоритму или даже к постановке.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13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1" i="0">
                <a:solidFill>
                  <a:srgbClr val="FFFFFF"/>
                </a:solidFill>
                <a:latin typeface="Cambria"/>
              </a:rPr>
              <a:t>Те же стадии — для дрона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97280"/>
            <a:ext cx="108813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 i="1">
                <a:solidFill>
                  <a:srgbClr val="C3BEDA"/>
                </a:solidFill>
                <a:latin typeface="Calibri"/>
              </a:rPr>
              <a:t>Проходим задачу фермера по шагам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37360"/>
            <a:ext cx="10881360" cy="594360"/>
          </a:xfrm>
          <a:prstGeom prst="roundRect">
            <a:avLst>
              <a:gd name="adj" fmla="val 6000"/>
            </a:avLst>
          </a:prstGeom>
          <a:solidFill>
            <a:srgbClr val="221C42"/>
          </a:solidFill>
          <a:ln w="19050">
            <a:solidFill>
              <a:srgbClr val="E8B8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solidFill>
                <a:schemeClr val="bg1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68680" y="1880651"/>
            <a:ext cx="237744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 i="0">
                <a:solidFill>
                  <a:schemeClr val="bg1"/>
                </a:solidFill>
                <a:latin typeface="Calibri"/>
              </a:rPr>
              <a:t>1  Постановка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91840" y="1726764"/>
            <a:ext cx="8046720" cy="61555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 i="0">
                <a:solidFill>
                  <a:schemeClr val="bg1"/>
                </a:solidFill>
                <a:latin typeface="Calibri"/>
              </a:rPr>
              <a:t>Дано: цель (3; 2), высота полёта 2, заряд 100 %. Найти: маршрут и расход заряда.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423160"/>
            <a:ext cx="10881360" cy="594360"/>
          </a:xfrm>
          <a:prstGeom prst="roundRect">
            <a:avLst>
              <a:gd name="adj" fmla="val 6000"/>
            </a:avLst>
          </a:prstGeom>
          <a:solidFill>
            <a:srgbClr val="221C42"/>
          </a:solidFill>
          <a:ln w="19050">
            <a:solidFill>
              <a:srgbClr val="E8B8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solidFill>
                <a:schemeClr val="bg1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68680" y="2566451"/>
            <a:ext cx="237744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 i="0">
                <a:solidFill>
                  <a:schemeClr val="bg1"/>
                </a:solidFill>
                <a:latin typeface="Calibri"/>
              </a:rPr>
              <a:t>2  Модель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91840" y="2412564"/>
            <a:ext cx="8046720" cy="61555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 i="0">
                <a:solidFill>
                  <a:schemeClr val="bg1"/>
                </a:solidFill>
                <a:latin typeface="Calibri"/>
              </a:rPr>
              <a:t>Шаг в сторону — 5 %, подъём — 10 %, спуск — 2 %.  Расход = 2·10 + 5·5 + 2·2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108960"/>
            <a:ext cx="10881360" cy="594360"/>
          </a:xfrm>
          <a:prstGeom prst="roundRect">
            <a:avLst>
              <a:gd name="adj" fmla="val 6000"/>
            </a:avLst>
          </a:prstGeom>
          <a:solidFill>
            <a:srgbClr val="221C42"/>
          </a:solidFill>
          <a:ln w="19050">
            <a:solidFill>
              <a:srgbClr val="4FD1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solidFill>
                <a:schemeClr val="bg1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68680" y="3252251"/>
            <a:ext cx="237744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 i="0">
                <a:solidFill>
                  <a:schemeClr val="bg1"/>
                </a:solidFill>
                <a:latin typeface="Calibri"/>
              </a:rPr>
              <a:t>3  Алгоритм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91840" y="3252252"/>
            <a:ext cx="804672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 i="0">
                <a:solidFill>
                  <a:schemeClr val="bg1"/>
                </a:solidFill>
                <a:latin typeface="Calibri"/>
              </a:rPr>
              <a:t>Взлететь на 2 → 3 шага на восток → 2 на север → сесть.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794760"/>
            <a:ext cx="10881360" cy="594360"/>
          </a:xfrm>
          <a:prstGeom prst="roundRect">
            <a:avLst>
              <a:gd name="adj" fmla="val 6000"/>
            </a:avLst>
          </a:prstGeom>
          <a:solidFill>
            <a:srgbClr val="221C42"/>
          </a:solidFill>
          <a:ln w="19050">
            <a:solidFill>
              <a:srgbClr val="4FD1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solidFill>
                <a:schemeClr val="bg1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68680" y="3938051"/>
            <a:ext cx="237744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 i="0">
                <a:solidFill>
                  <a:schemeClr val="bg1"/>
                </a:solidFill>
                <a:latin typeface="Calibri"/>
              </a:rPr>
              <a:t>4  Программа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91840" y="3938052"/>
            <a:ext cx="804672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 i="0">
                <a:solidFill>
                  <a:schemeClr val="bg1"/>
                </a:solidFill>
                <a:latin typeface="Calibri"/>
              </a:rPr>
              <a:t>Маршрут строкой «++EEENN--» и цикл, который её выполняет.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480560"/>
            <a:ext cx="10881360" cy="594360"/>
          </a:xfrm>
          <a:prstGeom prst="roundRect">
            <a:avLst>
              <a:gd name="adj" fmla="val 6000"/>
            </a:avLst>
          </a:prstGeom>
          <a:solidFill>
            <a:srgbClr val="221C42"/>
          </a:solidFill>
          <a:ln w="19050">
            <a:solidFill>
              <a:srgbClr val="F2789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solidFill>
                <a:schemeClr val="bg1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68680" y="4623851"/>
            <a:ext cx="237744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 i="0">
                <a:solidFill>
                  <a:schemeClr val="bg1"/>
                </a:solidFill>
                <a:latin typeface="Calibri"/>
              </a:rPr>
              <a:t>5  Тестирование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91840" y="4469964"/>
            <a:ext cx="8046720" cy="61555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 i="0">
                <a:solidFill>
                  <a:schemeClr val="bg1"/>
                </a:solidFill>
                <a:latin typeface="Calibri"/>
              </a:rPr>
              <a:t>Проверяем на простом случае, посчитанном вручную: цель (1; 0), высота 2 → 20 + 5 + 4 = 29 %.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5166360"/>
            <a:ext cx="10881360" cy="594360"/>
          </a:xfrm>
          <a:prstGeom prst="roundRect">
            <a:avLst>
              <a:gd name="adj" fmla="val 6000"/>
            </a:avLst>
          </a:prstGeom>
          <a:solidFill>
            <a:srgbClr val="221C42"/>
          </a:solidFill>
          <a:ln w="19050">
            <a:solidFill>
              <a:srgbClr val="3DD6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solidFill>
                <a:schemeClr val="bg1"/>
              </a:solidFill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868680" y="5309651"/>
            <a:ext cx="237744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 i="0">
                <a:solidFill>
                  <a:schemeClr val="bg1"/>
                </a:solidFill>
                <a:latin typeface="Calibri"/>
              </a:rPr>
              <a:t>6  Анализ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91840" y="5155764"/>
            <a:ext cx="8046720" cy="61555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 i="0">
                <a:solidFill>
                  <a:schemeClr val="bg1"/>
                </a:solidFill>
                <a:latin typeface="Calibri"/>
              </a:rPr>
              <a:t>Расход 49 % — дрон долетит и вернётся? 2 × 49 = 98 % — впритык. Рискованно!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989320"/>
            <a:ext cx="108813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 i="1">
                <a:solidFill>
                  <a:srgbClr val="4FD1E0"/>
                </a:solidFill>
                <a:latin typeface="Calibri"/>
              </a:rPr>
              <a:t>Анализ результата — не формальность: он нашёл проблему, которую не видно в коде.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721B3E67-6989-7C2A-E1CA-E980D61BDA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369" y="60834"/>
            <a:ext cx="12084796" cy="6745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06943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13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1" i="0">
                <a:solidFill>
                  <a:srgbClr val="FFFFFF"/>
                </a:solidFill>
                <a:latin typeface="Cambria"/>
              </a:rPr>
              <a:t>Модель: из слов — в формулу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97280"/>
            <a:ext cx="108813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 i="1">
                <a:solidFill>
                  <a:srgbClr val="C3BEDA"/>
                </a:solidFill>
                <a:latin typeface="Calibri"/>
              </a:rPr>
              <a:t>Стадия 2 превращает описание в числа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83080"/>
            <a:ext cx="5760720" cy="3200400"/>
          </a:xfrm>
          <a:prstGeom prst="roundRect">
            <a:avLst>
              <a:gd name="adj" fmla="val 3000"/>
            </a:avLst>
          </a:prstGeom>
          <a:solidFill>
            <a:srgbClr val="0E0B1F"/>
          </a:solidFill>
          <a:ln w="15875">
            <a:solidFill>
              <a:srgbClr val="4A4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 b="1">
              <a:solidFill>
                <a:schemeClr val="bg1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68680" y="1947672"/>
            <a:ext cx="5303520" cy="255198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2000" b="1" i="0">
                <a:solidFill>
                  <a:schemeClr val="bg1"/>
                </a:solidFill>
                <a:latin typeface="Consolas"/>
              </a:rPr>
              <a:t># что знаем о дроне</a:t>
            </a:r>
          </a:p>
          <a:p>
            <a:pPr algn="l">
              <a:spcAft>
                <a:spcPts val="100"/>
              </a:spcAft>
            </a:pPr>
            <a:r>
              <a:rPr sz="2000" b="1" i="0">
                <a:solidFill>
                  <a:schemeClr val="bg1"/>
                </a:solidFill>
                <a:latin typeface="Consolas"/>
              </a:rPr>
              <a:t>shag   = 5     # % за шаг в сторону</a:t>
            </a:r>
          </a:p>
          <a:p>
            <a:pPr algn="l">
              <a:spcAft>
                <a:spcPts val="100"/>
              </a:spcAft>
            </a:pPr>
            <a:r>
              <a:rPr sz="2000" b="1" i="0">
                <a:solidFill>
                  <a:schemeClr val="bg1"/>
                </a:solidFill>
                <a:latin typeface="Consolas"/>
              </a:rPr>
              <a:t>podyom = 10    # % за подъём на 1</a:t>
            </a:r>
          </a:p>
          <a:p>
            <a:pPr algn="l">
              <a:spcAft>
                <a:spcPts val="100"/>
              </a:spcAft>
            </a:pPr>
            <a:r>
              <a:rPr sz="2000" b="1" i="0">
                <a:solidFill>
                  <a:schemeClr val="bg1"/>
                </a:solidFill>
                <a:latin typeface="Consolas"/>
              </a:rPr>
              <a:t>spusk  = 2     # % за спуск на 1</a:t>
            </a:r>
          </a:p>
          <a:p>
            <a:pPr algn="l">
              <a:spcAft>
                <a:spcPts val="100"/>
              </a:spcAft>
            </a:pPr>
            <a:r>
              <a:rPr sz="2000" b="1" i="0">
                <a:solidFill>
                  <a:schemeClr val="bg1"/>
                </a:solidFill>
                <a:latin typeface="Consolas"/>
              </a:rPr>
              <a:t> </a:t>
            </a:r>
          </a:p>
          <a:p>
            <a:pPr algn="l">
              <a:spcAft>
                <a:spcPts val="100"/>
              </a:spcAft>
            </a:pPr>
            <a:r>
              <a:rPr sz="2000" b="1" i="0">
                <a:solidFill>
                  <a:schemeClr val="bg1"/>
                </a:solidFill>
                <a:latin typeface="Consolas"/>
              </a:rPr>
              <a:t># расход для цели (3; 2), высота 2</a:t>
            </a:r>
          </a:p>
          <a:p>
            <a:pPr algn="l">
              <a:spcAft>
                <a:spcPts val="100"/>
              </a:spcAft>
            </a:pPr>
            <a:r>
              <a:rPr sz="2000" b="1" i="0">
                <a:solidFill>
                  <a:schemeClr val="bg1"/>
                </a:solidFill>
                <a:latin typeface="Consolas"/>
              </a:rPr>
              <a:t>rashod = 2*10 + (3+2)*5 + 2*2</a:t>
            </a:r>
          </a:p>
          <a:p>
            <a:pPr algn="l">
              <a:spcAft>
                <a:spcPts val="100"/>
              </a:spcAft>
            </a:pPr>
            <a:r>
              <a:rPr sz="2000" b="1" i="0">
                <a:solidFill>
                  <a:schemeClr val="bg1"/>
                </a:solidFill>
                <a:latin typeface="Consolas"/>
              </a:rPr>
              <a:t>print(rashod)   # 49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75120" y="1783080"/>
            <a:ext cx="4846320" cy="960120"/>
          </a:xfrm>
          <a:prstGeom prst="roundRect">
            <a:avLst>
              <a:gd name="adj" fmla="val 6000"/>
            </a:avLst>
          </a:prstGeom>
          <a:solidFill>
            <a:srgbClr val="221C42"/>
          </a:solidFill>
          <a:ln w="25400">
            <a:solidFill>
              <a:srgbClr val="4FD1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 b="1">
              <a:solidFill>
                <a:schemeClr val="bg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903720" y="1856231"/>
            <a:ext cx="438912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 i="0">
                <a:solidFill>
                  <a:schemeClr val="bg1"/>
                </a:solidFill>
                <a:latin typeface="Calibri"/>
              </a:rPr>
              <a:t>Величины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03720" y="2240280"/>
            <a:ext cx="438912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 i="0">
                <a:solidFill>
                  <a:schemeClr val="bg1"/>
                </a:solidFill>
                <a:latin typeface="Calibri"/>
              </a:rPr>
              <a:t>имя, значение, тип: shag, zaryad, 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75120" y="2880360"/>
            <a:ext cx="4846320" cy="1021006"/>
          </a:xfrm>
          <a:prstGeom prst="roundRect">
            <a:avLst>
              <a:gd name="adj" fmla="val 6000"/>
            </a:avLst>
          </a:prstGeom>
          <a:solidFill>
            <a:srgbClr val="221C42"/>
          </a:solidFill>
          <a:ln w="25400">
            <a:solidFill>
              <a:srgbClr val="E8B8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 b="1">
              <a:solidFill>
                <a:schemeClr val="bg1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903720" y="2953512"/>
            <a:ext cx="438912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 i="0">
                <a:solidFill>
                  <a:schemeClr val="bg1"/>
                </a:solidFill>
                <a:latin typeface="Calibri"/>
              </a:rPr>
              <a:t>Константы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03720" y="3337560"/>
            <a:ext cx="4529348" cy="6155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 i="0" dirty="0" err="1">
                <a:solidFill>
                  <a:schemeClr val="bg1"/>
                </a:solidFill>
                <a:latin typeface="Calibri"/>
              </a:rPr>
              <a:t>не</a:t>
            </a:r>
            <a:r>
              <a:rPr sz="2000" b="1" i="0" dirty="0">
                <a:solidFill>
                  <a:schemeClr val="bg1"/>
                </a:solidFill>
                <a:latin typeface="Calibri"/>
              </a:rPr>
              <a:t> </a:t>
            </a:r>
            <a:r>
              <a:rPr sz="2000" b="1" i="0" dirty="0" err="1">
                <a:solidFill>
                  <a:schemeClr val="bg1"/>
                </a:solidFill>
                <a:latin typeface="Calibri"/>
              </a:rPr>
              <a:t>меняются</a:t>
            </a:r>
            <a:r>
              <a:rPr sz="2000" b="1" i="0" dirty="0">
                <a:solidFill>
                  <a:schemeClr val="bg1"/>
                </a:solidFill>
                <a:latin typeface="Calibri"/>
              </a:rPr>
              <a:t> в </a:t>
            </a:r>
            <a:r>
              <a:rPr sz="2000" b="1" i="0" dirty="0" err="1">
                <a:solidFill>
                  <a:schemeClr val="bg1"/>
                </a:solidFill>
                <a:latin typeface="Calibri"/>
              </a:rPr>
              <a:t>полёте</a:t>
            </a:r>
            <a:r>
              <a:rPr sz="2000" b="1" i="0" dirty="0">
                <a:solidFill>
                  <a:schemeClr val="bg1"/>
                </a:solidFill>
                <a:latin typeface="Calibri"/>
              </a:rPr>
              <a:t>: </a:t>
            </a:r>
            <a:r>
              <a:rPr sz="2000" b="1" i="0" dirty="0" err="1">
                <a:solidFill>
                  <a:schemeClr val="bg1"/>
                </a:solidFill>
                <a:latin typeface="Calibri"/>
              </a:rPr>
              <a:t>цена</a:t>
            </a:r>
            <a:r>
              <a:rPr sz="2000" b="1" i="0" dirty="0">
                <a:solidFill>
                  <a:schemeClr val="bg1"/>
                </a:solidFill>
                <a:latin typeface="Calibri"/>
              </a:rPr>
              <a:t> </a:t>
            </a:r>
            <a:r>
              <a:rPr sz="2000" b="1" i="0" dirty="0" err="1">
                <a:solidFill>
                  <a:schemeClr val="bg1"/>
                </a:solidFill>
                <a:latin typeface="Calibri"/>
              </a:rPr>
              <a:t>шага</a:t>
            </a:r>
            <a:r>
              <a:rPr sz="2000" b="1" i="0" dirty="0">
                <a:solidFill>
                  <a:schemeClr val="bg1"/>
                </a:solidFill>
                <a:latin typeface="Calibri"/>
              </a:rPr>
              <a:t>, </a:t>
            </a:r>
            <a:r>
              <a:rPr sz="2000" b="1" i="0" dirty="0" err="1">
                <a:solidFill>
                  <a:schemeClr val="bg1"/>
                </a:solidFill>
                <a:latin typeface="Calibri"/>
              </a:rPr>
              <a:t>подъёма</a:t>
            </a:r>
            <a:endParaRPr sz="2000" b="1" i="0" dirty="0">
              <a:solidFill>
                <a:schemeClr val="bg1"/>
              </a:solidFill>
              <a:latin typeface="Calibri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6675120" y="3977638"/>
            <a:ext cx="4846320" cy="1115999"/>
          </a:xfrm>
          <a:prstGeom prst="roundRect">
            <a:avLst>
              <a:gd name="adj" fmla="val 6000"/>
            </a:avLst>
          </a:prstGeom>
          <a:solidFill>
            <a:srgbClr val="221C42"/>
          </a:solidFill>
          <a:ln w="25400">
            <a:solidFill>
              <a:srgbClr val="F2789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 b="1">
              <a:solidFill>
                <a:schemeClr val="bg1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903720" y="4050791"/>
            <a:ext cx="438912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 i="0">
                <a:solidFill>
                  <a:schemeClr val="bg1"/>
                </a:solidFill>
                <a:latin typeface="Calibri"/>
              </a:rPr>
              <a:t>Допущения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03720" y="4434840"/>
            <a:ext cx="4389120" cy="6155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 i="0" dirty="0" err="1">
                <a:solidFill>
                  <a:schemeClr val="bg1"/>
                </a:solidFill>
                <a:latin typeface="Calibri"/>
              </a:rPr>
              <a:t>нет</a:t>
            </a:r>
            <a:r>
              <a:rPr sz="2000" b="1" i="0" dirty="0">
                <a:solidFill>
                  <a:schemeClr val="bg1"/>
                </a:solidFill>
                <a:latin typeface="Calibri"/>
              </a:rPr>
              <a:t> </a:t>
            </a:r>
            <a:r>
              <a:rPr sz="2000" b="1" i="0" dirty="0" err="1">
                <a:solidFill>
                  <a:schemeClr val="bg1"/>
                </a:solidFill>
                <a:latin typeface="Calibri"/>
              </a:rPr>
              <a:t>ветра</a:t>
            </a:r>
            <a:r>
              <a:rPr sz="2000" b="1" i="0" dirty="0">
                <a:solidFill>
                  <a:schemeClr val="bg1"/>
                </a:solidFill>
                <a:latin typeface="Calibri"/>
              </a:rPr>
              <a:t>, </a:t>
            </a:r>
            <a:r>
              <a:rPr sz="2000" b="1" i="0" dirty="0" err="1">
                <a:solidFill>
                  <a:schemeClr val="bg1"/>
                </a:solidFill>
                <a:latin typeface="Calibri"/>
              </a:rPr>
              <a:t>клетки</a:t>
            </a:r>
            <a:r>
              <a:rPr sz="2000" b="1" i="0" dirty="0">
                <a:solidFill>
                  <a:schemeClr val="bg1"/>
                </a:solidFill>
                <a:latin typeface="Calibri"/>
              </a:rPr>
              <a:t> </a:t>
            </a:r>
            <a:r>
              <a:rPr sz="2000" b="1" i="0" dirty="0" err="1">
                <a:solidFill>
                  <a:schemeClr val="bg1"/>
                </a:solidFill>
                <a:latin typeface="Calibri"/>
              </a:rPr>
              <a:t>одинаковые</a:t>
            </a:r>
            <a:r>
              <a:rPr sz="2000" b="1" i="0" dirty="0">
                <a:solidFill>
                  <a:schemeClr val="bg1"/>
                </a:solidFill>
                <a:latin typeface="Calibri"/>
              </a:rPr>
              <a:t>, </a:t>
            </a:r>
            <a:r>
              <a:rPr sz="2000" b="1" i="0" dirty="0" err="1">
                <a:solidFill>
                  <a:schemeClr val="bg1"/>
                </a:solidFill>
                <a:latin typeface="Calibri"/>
              </a:rPr>
              <a:t>батарея</a:t>
            </a:r>
            <a:r>
              <a:rPr sz="2000" b="1" i="0" dirty="0">
                <a:solidFill>
                  <a:schemeClr val="bg1"/>
                </a:solidFill>
                <a:latin typeface="Calibri"/>
              </a:rPr>
              <a:t> </a:t>
            </a:r>
            <a:r>
              <a:rPr sz="2000" b="1" i="0" dirty="0" err="1">
                <a:solidFill>
                  <a:schemeClr val="bg1"/>
                </a:solidFill>
                <a:latin typeface="Calibri"/>
              </a:rPr>
              <a:t>тратится</a:t>
            </a:r>
            <a:r>
              <a:rPr sz="2000" b="1" i="0" dirty="0">
                <a:solidFill>
                  <a:schemeClr val="bg1"/>
                </a:solidFill>
                <a:latin typeface="Calibri"/>
              </a:rPr>
              <a:t> </a:t>
            </a:r>
            <a:r>
              <a:rPr sz="2000" b="1" i="0" dirty="0" err="1">
                <a:solidFill>
                  <a:schemeClr val="bg1"/>
                </a:solidFill>
                <a:latin typeface="Calibri"/>
              </a:rPr>
              <a:t>ровно</a:t>
            </a:r>
            <a:endParaRPr sz="2000" b="1" i="0" dirty="0">
              <a:solidFill>
                <a:schemeClr val="bg1"/>
              </a:solidFill>
              <a:latin typeface="Calibri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40080" y="5349240"/>
            <a:ext cx="108813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 i="1">
                <a:solidFill>
                  <a:srgbClr val="4FD1E0"/>
                </a:solidFill>
                <a:latin typeface="Calibri"/>
              </a:rPr>
              <a:t>Любая модель упрощает мир. Важно знать, что именно мы упростили.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13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1" i="0">
                <a:solidFill>
                  <a:srgbClr val="FFFFFF"/>
                </a:solidFill>
                <a:latin typeface="Cambria"/>
              </a:rPr>
              <a:t>Тестирование и отладка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97280"/>
            <a:ext cx="108813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 i="1">
                <a:solidFill>
                  <a:srgbClr val="C3BEDA"/>
                </a:solidFill>
                <a:latin typeface="Calibri"/>
              </a:rPr>
              <a:t>Стадия 5: программа запустилась — это ещё не значит, что она верна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83080"/>
            <a:ext cx="5303520" cy="2103120"/>
          </a:xfrm>
          <a:prstGeom prst="roundRect">
            <a:avLst>
              <a:gd name="adj" fmla="val 6000"/>
            </a:avLst>
          </a:prstGeom>
          <a:solidFill>
            <a:srgbClr val="221C42"/>
          </a:solidFill>
          <a:ln w="25400">
            <a:solidFill>
              <a:srgbClr val="F2789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914400" y="1920240"/>
            <a:ext cx="4754880" cy="3231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1" i="0">
                <a:solidFill>
                  <a:schemeClr val="bg1"/>
                </a:solidFill>
                <a:latin typeface="Calibri"/>
              </a:rPr>
              <a:t>Синтаксическая ошибка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377440"/>
            <a:ext cx="4754880" cy="5232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 i="0">
                <a:solidFill>
                  <a:schemeClr val="bg1"/>
                </a:solidFill>
                <a:latin typeface="Calibri"/>
              </a:rPr>
              <a:t>Python не понимает запись. Программа не запускается.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3063240"/>
            <a:ext cx="4754880" cy="640080"/>
          </a:xfrm>
          <a:prstGeom prst="roundRect">
            <a:avLst>
              <a:gd name="adj" fmla="val 3000"/>
            </a:avLst>
          </a:prstGeom>
          <a:solidFill>
            <a:srgbClr val="0E0B1F"/>
          </a:solidFill>
          <a:ln w="15875">
            <a:solidFill>
              <a:srgbClr val="4A4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143000" y="3227832"/>
            <a:ext cx="429768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600" b="0" i="0">
                <a:solidFill>
                  <a:schemeClr val="bg1"/>
                </a:solidFill>
                <a:latin typeface="Consolas"/>
              </a:rPr>
              <a:t>if c = "R":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783080"/>
            <a:ext cx="5303520" cy="2103120"/>
          </a:xfrm>
          <a:prstGeom prst="roundRect">
            <a:avLst>
              <a:gd name="adj" fmla="val 6000"/>
            </a:avLst>
          </a:prstGeom>
          <a:solidFill>
            <a:srgbClr val="221C42"/>
          </a:solidFill>
          <a:ln w="25400">
            <a:solidFill>
              <a:srgbClr val="E8B8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446520" y="1920240"/>
            <a:ext cx="4754880" cy="3231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1" i="0">
                <a:solidFill>
                  <a:schemeClr val="bg1"/>
                </a:solidFill>
                <a:latin typeface="Calibri"/>
              </a:rPr>
              <a:t>Логическая ошибка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2377440"/>
            <a:ext cx="4754880" cy="2616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 i="0">
                <a:solidFill>
                  <a:schemeClr val="bg1"/>
                </a:solidFill>
                <a:latin typeface="Calibri"/>
              </a:rPr>
              <a:t>Программа работает, но отвечает неверно.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46520" y="3063240"/>
            <a:ext cx="4754880" cy="640080"/>
          </a:xfrm>
          <a:prstGeom prst="roundRect">
            <a:avLst>
              <a:gd name="adj" fmla="val 3000"/>
            </a:avLst>
          </a:prstGeom>
          <a:solidFill>
            <a:srgbClr val="0E0B1F"/>
          </a:solidFill>
          <a:ln w="15875">
            <a:solidFill>
              <a:srgbClr val="4A4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675120" y="3227832"/>
            <a:ext cx="429768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600" b="0" i="0">
                <a:solidFill>
                  <a:schemeClr val="bg1"/>
                </a:solidFill>
                <a:latin typeface="Consolas"/>
              </a:rPr>
              <a:t>x = x + 1   # для "L"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114800"/>
            <a:ext cx="10881360" cy="1325880"/>
          </a:xfrm>
          <a:prstGeom prst="roundRect">
            <a:avLst>
              <a:gd name="adj" fmla="val 6000"/>
            </a:avLst>
          </a:prstGeom>
          <a:solidFill>
            <a:srgbClr val="221C42"/>
          </a:solidFill>
          <a:ln w="25400">
            <a:solidFill>
              <a:srgbClr val="4FD1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914400" y="4206240"/>
            <a:ext cx="10332720" cy="88229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chemeClr val="bg1"/>
                </a:solidFill>
                <a:latin typeface="Calibri"/>
              </a:rPr>
              <a:t>Тест — это данные, для которых ответ известен заранее.</a:t>
            </a:r>
          </a:p>
          <a:p>
            <a:pPr algn="l">
              <a:spcAft>
                <a:spcPts val="400"/>
              </a:spcAft>
            </a:pPr>
            <a:r>
              <a:rPr sz="1800" b="0" i="0">
                <a:solidFill>
                  <a:schemeClr val="bg1"/>
                </a:solidFill>
                <a:latin typeface="Calibri"/>
              </a:rPr>
              <a:t>Маршрут «RRUU» → робот обязан оказаться в (2; 2). Пустой маршрут → в (0; 0). Если нет — ищем ошибку.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715000"/>
            <a:ext cx="108813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 i="1">
                <a:solidFill>
                  <a:srgbClr val="4FD1E0"/>
                </a:solidFill>
                <a:latin typeface="Calibri"/>
              </a:rPr>
              <a:t>Отладка — поиск и исправление ошибок. Лучший помощник — вывод промежуточных значений (трассировка).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13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65760"/>
            <a:ext cx="1088136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 i="0">
                <a:solidFill>
                  <a:schemeClr val="bg1"/>
                </a:solidFill>
                <a:latin typeface="Cambria"/>
              </a:rPr>
              <a:t>Исполнитель алгоритма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97280"/>
            <a:ext cx="1088136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 i="1">
                <a:solidFill>
                  <a:schemeClr val="bg1"/>
                </a:solidFill>
                <a:latin typeface="Calibri"/>
              </a:rPr>
              <a:t>Тот, кто выполняет команды — человек, робот или компьютер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83080"/>
            <a:ext cx="5303520" cy="1371600"/>
          </a:xfrm>
          <a:prstGeom prst="roundRect">
            <a:avLst>
              <a:gd name="adj" fmla="val 6000"/>
            </a:avLst>
          </a:prstGeom>
          <a:solidFill>
            <a:srgbClr val="221C42"/>
          </a:solidFill>
          <a:ln w="25400">
            <a:solidFill>
              <a:srgbClr val="4FD1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 b="1">
              <a:solidFill>
                <a:schemeClr val="bg1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914400" y="1920240"/>
            <a:ext cx="475488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 i="0">
                <a:solidFill>
                  <a:schemeClr val="bg1"/>
                </a:solidFill>
                <a:latin typeface="Calibri"/>
              </a:rPr>
              <a:t>Среда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377440"/>
            <a:ext cx="4754880" cy="6155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 i="0">
                <a:solidFill>
                  <a:schemeClr val="bg1"/>
                </a:solidFill>
                <a:latin typeface="Calibri"/>
              </a:rPr>
              <a:t>где работает: клетчатое поле, воздух над садом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1783080"/>
            <a:ext cx="5303520" cy="1371600"/>
          </a:xfrm>
          <a:prstGeom prst="roundRect">
            <a:avLst>
              <a:gd name="adj" fmla="val 6000"/>
            </a:avLst>
          </a:prstGeom>
          <a:solidFill>
            <a:srgbClr val="221C42"/>
          </a:solidFill>
          <a:ln w="25400">
            <a:solidFill>
              <a:srgbClr val="E8B8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 b="1">
              <a:solidFill>
                <a:schemeClr val="bg1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446520" y="1920240"/>
            <a:ext cx="475488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 i="0">
                <a:solidFill>
                  <a:schemeClr val="bg1"/>
                </a:solidFill>
                <a:latin typeface="Calibri"/>
              </a:rPr>
              <a:t>СКИ — система команд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520" y="2377440"/>
            <a:ext cx="4754880" cy="6155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 i="0">
                <a:solidFill>
                  <a:schemeClr val="bg1"/>
                </a:solidFill>
                <a:latin typeface="Calibri"/>
              </a:rPr>
              <a:t>все команды, которые он понимает: U, D, L, 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383280"/>
            <a:ext cx="5303520" cy="1371600"/>
          </a:xfrm>
          <a:prstGeom prst="roundRect">
            <a:avLst>
              <a:gd name="adj" fmla="val 6000"/>
            </a:avLst>
          </a:prstGeom>
          <a:solidFill>
            <a:srgbClr val="221C42"/>
          </a:solidFill>
          <a:ln w="25400">
            <a:solidFill>
              <a:srgbClr val="F2789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 b="1">
              <a:solidFill>
                <a:schemeClr val="bg1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914400" y="3520440"/>
            <a:ext cx="475488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 i="0">
                <a:solidFill>
                  <a:schemeClr val="bg1"/>
                </a:solidFill>
                <a:latin typeface="Calibri"/>
              </a:rPr>
              <a:t>Отказ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977640"/>
            <a:ext cx="4754880" cy="6155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 i="0">
                <a:solidFill>
                  <a:schemeClr val="bg1"/>
                </a:solidFill>
                <a:latin typeface="Calibri"/>
              </a:rPr>
              <a:t>команду нельзя выполнить: «не понимаю» или «не могу»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3383280"/>
            <a:ext cx="5303520" cy="1371600"/>
          </a:xfrm>
          <a:prstGeom prst="roundRect">
            <a:avLst>
              <a:gd name="adj" fmla="val 6000"/>
            </a:avLst>
          </a:prstGeom>
          <a:solidFill>
            <a:srgbClr val="221C42"/>
          </a:solidFill>
          <a:ln w="25400">
            <a:solidFill>
              <a:srgbClr val="3DD6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 b="1">
              <a:solidFill>
                <a:schemeClr val="bg1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446520" y="3520440"/>
            <a:ext cx="475488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 i="0">
                <a:solidFill>
                  <a:schemeClr val="bg1"/>
                </a:solidFill>
                <a:latin typeface="Calibri"/>
              </a:rPr>
              <a:t>Формальное исполнение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3977640"/>
            <a:ext cx="4754880" cy="6155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 i="0">
                <a:solidFill>
                  <a:schemeClr val="bg1"/>
                </a:solidFill>
                <a:latin typeface="Calibri"/>
              </a:rPr>
              <a:t>выполняет команды точно, не думая о смысле задачи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5120640"/>
            <a:ext cx="10881360" cy="731520"/>
          </a:xfrm>
          <a:prstGeom prst="roundRect">
            <a:avLst>
              <a:gd name="adj" fmla="val 6000"/>
            </a:avLst>
          </a:prstGeom>
          <a:solidFill>
            <a:srgbClr val="221C42"/>
          </a:solidFill>
          <a:ln w="25400">
            <a:solidFill>
              <a:srgbClr val="8B7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 b="1">
              <a:solidFill>
                <a:schemeClr val="bg1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914400" y="5178624"/>
            <a:ext cx="10332720" cy="61555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 i="0">
                <a:solidFill>
                  <a:schemeClr val="bg1"/>
                </a:solidFill>
                <a:latin typeface="Calibri"/>
              </a:rPr>
              <a:t>Управление: ручное — человек даёт команды по одной; программное — исполнитель получает весь алгоритм сразу.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13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1" i="0">
                <a:solidFill>
                  <a:srgbClr val="FFFFFF"/>
                </a:solidFill>
                <a:latin typeface="Cambria"/>
              </a:rPr>
              <a:t>Робот на клетчатом поле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97280"/>
            <a:ext cx="108813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 i="1">
                <a:solidFill>
                  <a:srgbClr val="C3BEDA"/>
                </a:solidFill>
                <a:latin typeface="Calibri"/>
              </a:rPr>
              <a:t>Поле 5 × 5, клетки задаются координатами (x; y)</a:t>
            </a:r>
          </a:p>
        </p:txBody>
      </p:sp>
      <p:sp>
        <p:nvSpPr>
          <p:cNvPr id="4" name="Rectangle 3"/>
          <p:cNvSpPr/>
          <p:nvPr/>
        </p:nvSpPr>
        <p:spPr>
          <a:xfrm>
            <a:off x="1097280" y="4736592"/>
            <a:ext cx="749808" cy="749808"/>
          </a:xfrm>
          <a:prstGeom prst="rect">
            <a:avLst/>
          </a:prstGeom>
          <a:solidFill>
            <a:srgbClr val="221C42"/>
          </a:solidFill>
          <a:ln w="12700">
            <a:solidFill>
              <a:srgbClr val="4A4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097280" y="3986783"/>
            <a:ext cx="749808" cy="749808"/>
          </a:xfrm>
          <a:prstGeom prst="rect">
            <a:avLst/>
          </a:prstGeom>
          <a:solidFill>
            <a:srgbClr val="221C42"/>
          </a:solidFill>
          <a:ln w="12700">
            <a:solidFill>
              <a:srgbClr val="4A4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097280" y="3236976"/>
            <a:ext cx="749808" cy="749808"/>
          </a:xfrm>
          <a:prstGeom prst="rect">
            <a:avLst/>
          </a:prstGeom>
          <a:solidFill>
            <a:srgbClr val="221C42"/>
          </a:solidFill>
          <a:ln w="12700">
            <a:solidFill>
              <a:srgbClr val="4A4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097280" y="2487168"/>
            <a:ext cx="749808" cy="749808"/>
          </a:xfrm>
          <a:prstGeom prst="rect">
            <a:avLst/>
          </a:prstGeom>
          <a:solidFill>
            <a:srgbClr val="221C42"/>
          </a:solidFill>
          <a:ln w="12700">
            <a:solidFill>
              <a:srgbClr val="4A4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097280" y="1737360"/>
            <a:ext cx="749808" cy="749808"/>
          </a:xfrm>
          <a:prstGeom prst="rect">
            <a:avLst/>
          </a:prstGeom>
          <a:solidFill>
            <a:srgbClr val="221C42"/>
          </a:solidFill>
          <a:ln w="12700">
            <a:solidFill>
              <a:srgbClr val="4A4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847088" y="4736592"/>
            <a:ext cx="749808" cy="749808"/>
          </a:xfrm>
          <a:prstGeom prst="rect">
            <a:avLst/>
          </a:prstGeom>
          <a:solidFill>
            <a:srgbClr val="221C42"/>
          </a:solidFill>
          <a:ln w="12700">
            <a:solidFill>
              <a:srgbClr val="4A4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1847088" y="3986783"/>
            <a:ext cx="749808" cy="749808"/>
          </a:xfrm>
          <a:prstGeom prst="rect">
            <a:avLst/>
          </a:prstGeom>
          <a:solidFill>
            <a:srgbClr val="221C42"/>
          </a:solidFill>
          <a:ln w="12700">
            <a:solidFill>
              <a:srgbClr val="4A4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1847088" y="3236976"/>
            <a:ext cx="749808" cy="749808"/>
          </a:xfrm>
          <a:prstGeom prst="rect">
            <a:avLst/>
          </a:prstGeom>
          <a:solidFill>
            <a:srgbClr val="221C42"/>
          </a:solidFill>
          <a:ln w="12700">
            <a:solidFill>
              <a:srgbClr val="4A4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1847088" y="2487168"/>
            <a:ext cx="749808" cy="749808"/>
          </a:xfrm>
          <a:prstGeom prst="rect">
            <a:avLst/>
          </a:prstGeom>
          <a:solidFill>
            <a:srgbClr val="221C42"/>
          </a:solidFill>
          <a:ln w="12700">
            <a:solidFill>
              <a:srgbClr val="4A4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1847088" y="1737360"/>
            <a:ext cx="749808" cy="749808"/>
          </a:xfrm>
          <a:prstGeom prst="rect">
            <a:avLst/>
          </a:prstGeom>
          <a:solidFill>
            <a:srgbClr val="221C42"/>
          </a:solidFill>
          <a:ln w="12700">
            <a:solidFill>
              <a:srgbClr val="4A4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2596896" y="4736592"/>
            <a:ext cx="749808" cy="749808"/>
          </a:xfrm>
          <a:prstGeom prst="rect">
            <a:avLst/>
          </a:prstGeom>
          <a:solidFill>
            <a:srgbClr val="221C42"/>
          </a:solidFill>
          <a:ln w="12700">
            <a:solidFill>
              <a:srgbClr val="4A4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2596896" y="3986783"/>
            <a:ext cx="749808" cy="749808"/>
          </a:xfrm>
          <a:prstGeom prst="rect">
            <a:avLst/>
          </a:prstGeom>
          <a:solidFill>
            <a:srgbClr val="221C42"/>
          </a:solidFill>
          <a:ln w="12700">
            <a:solidFill>
              <a:srgbClr val="4A4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2596896" y="3236976"/>
            <a:ext cx="749808" cy="749808"/>
          </a:xfrm>
          <a:prstGeom prst="rect">
            <a:avLst/>
          </a:prstGeom>
          <a:solidFill>
            <a:srgbClr val="221C42"/>
          </a:solidFill>
          <a:ln w="12700">
            <a:solidFill>
              <a:srgbClr val="4A4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2596896" y="2487168"/>
            <a:ext cx="749808" cy="749808"/>
          </a:xfrm>
          <a:prstGeom prst="rect">
            <a:avLst/>
          </a:prstGeom>
          <a:solidFill>
            <a:srgbClr val="221C42"/>
          </a:solidFill>
          <a:ln w="12700">
            <a:solidFill>
              <a:srgbClr val="4A4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2596896" y="1737360"/>
            <a:ext cx="749808" cy="749808"/>
          </a:xfrm>
          <a:prstGeom prst="rect">
            <a:avLst/>
          </a:prstGeom>
          <a:solidFill>
            <a:srgbClr val="221C42"/>
          </a:solidFill>
          <a:ln w="12700">
            <a:solidFill>
              <a:srgbClr val="4A4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3346704" y="4736592"/>
            <a:ext cx="749808" cy="749808"/>
          </a:xfrm>
          <a:prstGeom prst="rect">
            <a:avLst/>
          </a:prstGeom>
          <a:solidFill>
            <a:srgbClr val="221C42"/>
          </a:solidFill>
          <a:ln w="12700">
            <a:solidFill>
              <a:srgbClr val="4A4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3346704" y="3986783"/>
            <a:ext cx="749808" cy="749808"/>
          </a:xfrm>
          <a:prstGeom prst="rect">
            <a:avLst/>
          </a:prstGeom>
          <a:solidFill>
            <a:srgbClr val="221C42"/>
          </a:solidFill>
          <a:ln w="12700">
            <a:solidFill>
              <a:srgbClr val="4A4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3346704" y="3236976"/>
            <a:ext cx="749808" cy="749808"/>
          </a:xfrm>
          <a:prstGeom prst="rect">
            <a:avLst/>
          </a:prstGeom>
          <a:solidFill>
            <a:srgbClr val="221C42"/>
          </a:solidFill>
          <a:ln w="12700">
            <a:solidFill>
              <a:srgbClr val="4A4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3346704" y="2487168"/>
            <a:ext cx="749808" cy="749808"/>
          </a:xfrm>
          <a:prstGeom prst="rect">
            <a:avLst/>
          </a:prstGeom>
          <a:solidFill>
            <a:srgbClr val="221C42"/>
          </a:solidFill>
          <a:ln w="12700">
            <a:solidFill>
              <a:srgbClr val="4A4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3346704" y="1737360"/>
            <a:ext cx="749808" cy="749808"/>
          </a:xfrm>
          <a:prstGeom prst="rect">
            <a:avLst/>
          </a:prstGeom>
          <a:solidFill>
            <a:srgbClr val="221C42"/>
          </a:solidFill>
          <a:ln w="12700">
            <a:solidFill>
              <a:srgbClr val="4A4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096511" y="4736592"/>
            <a:ext cx="749808" cy="749808"/>
          </a:xfrm>
          <a:prstGeom prst="rect">
            <a:avLst/>
          </a:prstGeom>
          <a:solidFill>
            <a:srgbClr val="221C42"/>
          </a:solidFill>
          <a:ln w="12700">
            <a:solidFill>
              <a:srgbClr val="4A4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4096511" y="3986783"/>
            <a:ext cx="749808" cy="749808"/>
          </a:xfrm>
          <a:prstGeom prst="rect">
            <a:avLst/>
          </a:prstGeom>
          <a:solidFill>
            <a:srgbClr val="221C42"/>
          </a:solidFill>
          <a:ln w="12700">
            <a:solidFill>
              <a:srgbClr val="4A4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4096511" y="3236976"/>
            <a:ext cx="749808" cy="749808"/>
          </a:xfrm>
          <a:prstGeom prst="rect">
            <a:avLst/>
          </a:prstGeom>
          <a:solidFill>
            <a:srgbClr val="221C42"/>
          </a:solidFill>
          <a:ln w="12700">
            <a:solidFill>
              <a:srgbClr val="4A4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4096511" y="2487168"/>
            <a:ext cx="749808" cy="749808"/>
          </a:xfrm>
          <a:prstGeom prst="rect">
            <a:avLst/>
          </a:prstGeom>
          <a:solidFill>
            <a:srgbClr val="221C42"/>
          </a:solidFill>
          <a:ln w="12700">
            <a:solidFill>
              <a:srgbClr val="4A4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4096511" y="1737360"/>
            <a:ext cx="749808" cy="749808"/>
          </a:xfrm>
          <a:prstGeom prst="rect">
            <a:avLst/>
          </a:prstGeom>
          <a:solidFill>
            <a:srgbClr val="221C42"/>
          </a:solidFill>
          <a:ln w="12700">
            <a:solidFill>
              <a:srgbClr val="4A4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097280" y="5532120"/>
            <a:ext cx="74980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 i="0">
                <a:solidFill>
                  <a:srgbClr val="C3BEDA"/>
                </a:solidFill>
                <a:latin typeface="Calibri"/>
              </a:rPr>
              <a:t>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59" y="4736592"/>
            <a:ext cx="228600" cy="7498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 i="0">
                <a:solidFill>
                  <a:srgbClr val="C3BEDA"/>
                </a:solidFill>
                <a:latin typeface="Calibri"/>
              </a:rPr>
              <a:t>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847088" y="5532120"/>
            <a:ext cx="74980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 i="0">
                <a:solidFill>
                  <a:srgbClr val="C3BEDA"/>
                </a:solidFill>
                <a:latin typeface="Calibri"/>
              </a:rPr>
              <a:t>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59" y="3986783"/>
            <a:ext cx="228600" cy="7498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 i="0">
                <a:solidFill>
                  <a:srgbClr val="C3BEDA"/>
                </a:solidFill>
                <a:latin typeface="Calibri"/>
              </a:rPr>
              <a:t>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596896" y="5532120"/>
            <a:ext cx="74980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 i="0">
                <a:solidFill>
                  <a:srgbClr val="C3BEDA"/>
                </a:solidFill>
                <a:latin typeface="Calibri"/>
              </a:rPr>
              <a:t>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2959" y="3236976"/>
            <a:ext cx="228600" cy="7498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 i="0">
                <a:solidFill>
                  <a:srgbClr val="C3BEDA"/>
                </a:solidFill>
                <a:latin typeface="Calibri"/>
              </a:rPr>
              <a:t>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346704" y="5532120"/>
            <a:ext cx="74980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 i="0">
                <a:solidFill>
                  <a:srgbClr val="C3BEDA"/>
                </a:solidFill>
                <a:latin typeface="Calibri"/>
              </a:rP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2959" y="2487168"/>
            <a:ext cx="228600" cy="7498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 i="0">
                <a:solidFill>
                  <a:srgbClr val="C3BEDA"/>
                </a:solidFill>
                <a:latin typeface="Calibri"/>
              </a:rPr>
              <a:t>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096511" y="5532120"/>
            <a:ext cx="74980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 i="0">
                <a:solidFill>
                  <a:srgbClr val="C3BEDA"/>
                </a:solidFill>
                <a:latin typeface="Calibri"/>
              </a:rPr>
              <a:t>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2959" y="1737360"/>
            <a:ext cx="228600" cy="7498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 i="0">
                <a:solidFill>
                  <a:srgbClr val="C3BEDA"/>
                </a:solidFill>
                <a:latin typeface="Calibri"/>
              </a:rPr>
              <a:t>4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1472184" y="5111496"/>
            <a:ext cx="749807" cy="0"/>
          </a:xfrm>
          <a:prstGeom prst="line">
            <a:avLst/>
          </a:prstGeom>
          <a:ln w="38100">
            <a:solidFill>
              <a:srgbClr val="E8B84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2221991" y="5111496"/>
            <a:ext cx="749809" cy="0"/>
          </a:xfrm>
          <a:prstGeom prst="line">
            <a:avLst/>
          </a:prstGeom>
          <a:ln w="38100">
            <a:solidFill>
              <a:srgbClr val="E8B84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2971800" y="5111496"/>
            <a:ext cx="749807" cy="0"/>
          </a:xfrm>
          <a:prstGeom prst="line">
            <a:avLst/>
          </a:prstGeom>
          <a:ln w="38100">
            <a:solidFill>
              <a:srgbClr val="E8B84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V="1">
            <a:off x="3721607" y="4361688"/>
            <a:ext cx="0" cy="749808"/>
          </a:xfrm>
          <a:prstGeom prst="line">
            <a:avLst/>
          </a:prstGeom>
          <a:ln w="38100">
            <a:solidFill>
              <a:srgbClr val="E8B84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V="1">
            <a:off x="3721607" y="3611879"/>
            <a:ext cx="0" cy="749809"/>
          </a:xfrm>
          <a:prstGeom prst="line">
            <a:avLst/>
          </a:prstGeom>
          <a:ln w="38100">
            <a:solidFill>
              <a:srgbClr val="E8B84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H="1">
            <a:off x="2971800" y="3611879"/>
            <a:ext cx="749807" cy="0"/>
          </a:xfrm>
          <a:prstGeom prst="line">
            <a:avLst/>
          </a:prstGeom>
          <a:ln w="38100">
            <a:solidFill>
              <a:srgbClr val="E8B84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2971800" y="3611879"/>
            <a:ext cx="0" cy="749809"/>
          </a:xfrm>
          <a:prstGeom prst="line">
            <a:avLst/>
          </a:prstGeom>
          <a:ln w="38100">
            <a:solidFill>
              <a:srgbClr val="E8B84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Oval 45"/>
          <p:cNvSpPr/>
          <p:nvPr/>
        </p:nvSpPr>
        <p:spPr>
          <a:xfrm>
            <a:off x="2746857" y="4136745"/>
            <a:ext cx="449884" cy="449884"/>
          </a:xfrm>
          <a:prstGeom prst="ellipse">
            <a:avLst/>
          </a:prstGeom>
          <a:solidFill>
            <a:srgbClr val="3DD6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ounded Rectangle 46"/>
          <p:cNvSpPr/>
          <p:nvPr/>
        </p:nvSpPr>
        <p:spPr>
          <a:xfrm>
            <a:off x="1209751" y="4849063"/>
            <a:ext cx="524865" cy="524865"/>
          </a:xfrm>
          <a:prstGeom prst="roundRect">
            <a:avLst>
              <a:gd name="adj" fmla="val 20000"/>
            </a:avLst>
          </a:prstGeom>
          <a:solidFill>
            <a:srgbClr val="8B7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Р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669280" y="1737360"/>
            <a:ext cx="585216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 i="0">
                <a:solidFill>
                  <a:schemeClr val="bg1"/>
                </a:solidFill>
                <a:latin typeface="Calibri"/>
              </a:rPr>
              <a:t>Система команд робота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5669280" y="2240280"/>
            <a:ext cx="5852160" cy="530352"/>
          </a:xfrm>
          <a:prstGeom prst="roundRect">
            <a:avLst>
              <a:gd name="adj" fmla="val 6000"/>
            </a:avLst>
          </a:prstGeom>
          <a:solidFill>
            <a:srgbClr val="221C42"/>
          </a:solidFill>
          <a:ln w="15875">
            <a:solidFill>
              <a:srgbClr val="4A4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 b="1">
              <a:solidFill>
                <a:schemeClr val="bg1"/>
              </a:solidFill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5897880" y="2351567"/>
            <a:ext cx="54864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 i="0">
                <a:solidFill>
                  <a:schemeClr val="bg1"/>
                </a:solidFill>
                <a:latin typeface="Consolas"/>
              </a:rPr>
              <a:t>U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537960" y="2351567"/>
            <a:ext cx="182880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 i="0">
                <a:solidFill>
                  <a:schemeClr val="bg1"/>
                </a:solidFill>
                <a:latin typeface="Calibri"/>
              </a:rPr>
              <a:t>вверх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503920" y="2351568"/>
            <a:ext cx="283464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 i="0">
                <a:solidFill>
                  <a:schemeClr val="bg1"/>
                </a:solidFill>
                <a:latin typeface="Consolas"/>
              </a:rPr>
              <a:t>y = y + 1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5669280" y="2862072"/>
            <a:ext cx="5852160" cy="530352"/>
          </a:xfrm>
          <a:prstGeom prst="roundRect">
            <a:avLst>
              <a:gd name="adj" fmla="val 6000"/>
            </a:avLst>
          </a:prstGeom>
          <a:solidFill>
            <a:srgbClr val="221C42"/>
          </a:solidFill>
          <a:ln w="15875">
            <a:solidFill>
              <a:srgbClr val="4A4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 b="1">
              <a:solidFill>
                <a:schemeClr val="bg1"/>
              </a:solidFill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5897880" y="2973359"/>
            <a:ext cx="54864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 i="0">
                <a:solidFill>
                  <a:schemeClr val="bg1"/>
                </a:solidFill>
                <a:latin typeface="Consolas"/>
              </a:rPr>
              <a:t>D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537960" y="2973359"/>
            <a:ext cx="182880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 i="0">
                <a:solidFill>
                  <a:schemeClr val="bg1"/>
                </a:solidFill>
                <a:latin typeface="Calibri"/>
              </a:rPr>
              <a:t>вниз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503920" y="2973360"/>
            <a:ext cx="283464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 i="0">
                <a:solidFill>
                  <a:schemeClr val="bg1"/>
                </a:solidFill>
                <a:latin typeface="Consolas"/>
              </a:rPr>
              <a:t>y = y − 1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5669280" y="3483864"/>
            <a:ext cx="5852160" cy="530352"/>
          </a:xfrm>
          <a:prstGeom prst="roundRect">
            <a:avLst>
              <a:gd name="adj" fmla="val 6000"/>
            </a:avLst>
          </a:prstGeom>
          <a:solidFill>
            <a:srgbClr val="221C42"/>
          </a:solidFill>
          <a:ln w="15875">
            <a:solidFill>
              <a:srgbClr val="4A4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 b="1">
              <a:solidFill>
                <a:schemeClr val="bg1"/>
              </a:solidFill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5897880" y="3595151"/>
            <a:ext cx="54864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 i="0">
                <a:solidFill>
                  <a:schemeClr val="bg1"/>
                </a:solidFill>
                <a:latin typeface="Consolas"/>
              </a:rPr>
              <a:t>L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537960" y="3595151"/>
            <a:ext cx="182880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 i="0">
                <a:solidFill>
                  <a:schemeClr val="bg1"/>
                </a:solidFill>
                <a:latin typeface="Calibri"/>
              </a:rPr>
              <a:t>влево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503920" y="3595152"/>
            <a:ext cx="283464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 i="0">
                <a:solidFill>
                  <a:schemeClr val="bg1"/>
                </a:solidFill>
                <a:latin typeface="Consolas"/>
              </a:rPr>
              <a:t>x = x − 1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5669280" y="4105656"/>
            <a:ext cx="5852160" cy="530352"/>
          </a:xfrm>
          <a:prstGeom prst="roundRect">
            <a:avLst>
              <a:gd name="adj" fmla="val 6000"/>
            </a:avLst>
          </a:prstGeom>
          <a:solidFill>
            <a:srgbClr val="221C42"/>
          </a:solidFill>
          <a:ln w="15875">
            <a:solidFill>
              <a:srgbClr val="4A4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 b="1">
              <a:solidFill>
                <a:schemeClr val="bg1"/>
              </a:solidFill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5897880" y="4216943"/>
            <a:ext cx="54864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 i="0">
                <a:solidFill>
                  <a:schemeClr val="bg1"/>
                </a:solidFill>
                <a:latin typeface="Consolas"/>
              </a:rPr>
              <a:t>R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537960" y="4216943"/>
            <a:ext cx="182880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 i="0">
                <a:solidFill>
                  <a:schemeClr val="bg1"/>
                </a:solidFill>
                <a:latin typeface="Calibri"/>
              </a:rPr>
              <a:t>вправо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503920" y="4216944"/>
            <a:ext cx="283464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 i="0">
                <a:solidFill>
                  <a:schemeClr val="bg1"/>
                </a:solidFill>
                <a:latin typeface="Consolas"/>
              </a:rPr>
              <a:t>x = x + 1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5669280" y="4846320"/>
            <a:ext cx="5852160" cy="685800"/>
          </a:xfrm>
          <a:prstGeom prst="roundRect">
            <a:avLst>
              <a:gd name="adj" fmla="val 3000"/>
            </a:avLst>
          </a:prstGeom>
          <a:solidFill>
            <a:srgbClr val="0E0B1F"/>
          </a:solidFill>
          <a:ln w="15875">
            <a:solidFill>
              <a:srgbClr val="4A4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 b="1">
              <a:solidFill>
                <a:schemeClr val="bg1"/>
              </a:solidFill>
            </a:endParaRPr>
          </a:p>
        </p:txBody>
      </p:sp>
      <p:sp>
        <p:nvSpPr>
          <p:cNvPr id="66" name="TextBox 65"/>
          <p:cNvSpPr txBox="1"/>
          <p:nvPr/>
        </p:nvSpPr>
        <p:spPr>
          <a:xfrm>
            <a:off x="5897880" y="5010912"/>
            <a:ext cx="539496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2000" b="1" i="0">
                <a:solidFill>
                  <a:schemeClr val="bg1"/>
                </a:solidFill>
                <a:latin typeface="Consolas"/>
              </a:rPr>
              <a:t>komandy = "RRRUULD"   # где окажется?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40080" y="5806440"/>
            <a:ext cx="108813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 i="1">
                <a:solidFill>
                  <a:srgbClr val="4FD1E0"/>
                </a:solidFill>
                <a:latin typeface="Calibri"/>
              </a:rPr>
              <a:t>Маршрут на поле — это и есть программа «RRRUULD». Робот остановится в клетке (2; 1).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48B7F9B9-C70B-6537-44D3-B6284C88FC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26581"/>
            <a:ext cx="12239625" cy="68314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91406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13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40080" y="411480"/>
            <a:ext cx="2011680" cy="384048"/>
          </a:xfrm>
          <a:prstGeom prst="roundRect">
            <a:avLst>
              <a:gd name="adj" fmla="val 20000"/>
            </a:avLst>
          </a:prstGeom>
          <a:solidFill>
            <a:srgbClr val="E8B8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/>
            <a:r>
              <a:rPr sz="1300" b="1">
                <a:solidFill>
                  <a:srgbClr val="17132E"/>
                </a:solidFill>
                <a:latin typeface="Calibri"/>
              </a:rPr>
              <a:t>ИГРА · 7 МИНУТ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05840"/>
            <a:ext cx="108813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1" i="0">
                <a:solidFill>
                  <a:srgbClr val="FFFFFF"/>
                </a:solidFill>
                <a:latin typeface="Cambria"/>
              </a:rPr>
              <a:t>Робот-одноклассник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920240"/>
            <a:ext cx="10881360" cy="1051560"/>
          </a:xfrm>
          <a:prstGeom prst="roundRect">
            <a:avLst>
              <a:gd name="adj" fmla="val 6000"/>
            </a:avLst>
          </a:prstGeom>
          <a:solidFill>
            <a:srgbClr val="221C42"/>
          </a:solidFill>
          <a:ln w="25400">
            <a:solidFill>
              <a:srgbClr val="4FD1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 b="1">
              <a:solidFill>
                <a:schemeClr val="bg1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914400" y="2292131"/>
            <a:ext cx="237744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 i="0">
                <a:solidFill>
                  <a:schemeClr val="bg1"/>
                </a:solidFill>
                <a:latin typeface="Calibri"/>
              </a:rPr>
              <a:t>Исполнитель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91840" y="1984355"/>
            <a:ext cx="8046720" cy="9233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 i="0">
                <a:solidFill>
                  <a:schemeClr val="bg1"/>
                </a:solidFill>
                <a:latin typeface="Calibri"/>
              </a:rPr>
              <a:t>выходит к доске, стоит на клетке пола или на начерченном поле. Выполняет только команды «вперёд», «поворот налево», «поворот направо».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3108960"/>
            <a:ext cx="10881360" cy="1051560"/>
          </a:xfrm>
          <a:prstGeom prst="roundRect">
            <a:avLst>
              <a:gd name="adj" fmla="val 6000"/>
            </a:avLst>
          </a:prstGeom>
          <a:solidFill>
            <a:srgbClr val="221C42"/>
          </a:solidFill>
          <a:ln w="25400">
            <a:solidFill>
              <a:srgbClr val="E8B8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 b="1">
              <a:solidFill>
                <a:schemeClr val="bg1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14400" y="3480851"/>
            <a:ext cx="237744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 i="0">
                <a:solidFill>
                  <a:schemeClr val="bg1"/>
                </a:solidFill>
                <a:latin typeface="Calibri"/>
              </a:rPr>
              <a:t>Программисты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91840" y="3326964"/>
            <a:ext cx="8046720" cy="61555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 i="0">
                <a:solidFill>
                  <a:schemeClr val="bg1"/>
                </a:solidFill>
                <a:latin typeface="Calibri"/>
              </a:rPr>
              <a:t>класс записывает на листке программу, чтобы привести «робота» к цели — к двери или к столу учителя.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4297680"/>
            <a:ext cx="10881360" cy="1051560"/>
          </a:xfrm>
          <a:prstGeom prst="roundRect">
            <a:avLst>
              <a:gd name="adj" fmla="val 6000"/>
            </a:avLst>
          </a:prstGeom>
          <a:solidFill>
            <a:srgbClr val="221C42"/>
          </a:solidFill>
          <a:ln w="25400">
            <a:solidFill>
              <a:srgbClr val="F2789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 b="1">
              <a:solidFill>
                <a:schemeClr val="bg1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914400" y="4669571"/>
            <a:ext cx="237744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 i="0">
                <a:solidFill>
                  <a:schemeClr val="bg1"/>
                </a:solidFill>
                <a:latin typeface="Calibri"/>
              </a:rPr>
              <a:t>Правило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91840" y="4515684"/>
            <a:ext cx="8046720" cy="61555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 i="0">
                <a:solidFill>
                  <a:schemeClr val="bg1"/>
                </a:solidFill>
                <a:latin typeface="Calibri"/>
              </a:rPr>
              <a:t>робот исполняет формально. На «иди к двери» отвечает: «Не понимаю». Упёрся в парту — «Не могу».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577840"/>
            <a:ext cx="108813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 i="1">
                <a:solidFill>
                  <a:srgbClr val="4FD1E0"/>
                </a:solidFill>
                <a:latin typeface="Calibri"/>
              </a:rPr>
              <a:t>Вывод после игры: исполнитель не догадывается, что вы имели в виду. Ответственность за алгоритм — на программисте.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13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1" i="0">
                <a:solidFill>
                  <a:srgbClr val="FFFFFF"/>
                </a:solidFill>
                <a:latin typeface="Cambria"/>
              </a:rPr>
              <a:t>Два вида отказов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97280"/>
            <a:ext cx="108813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 i="1">
                <a:solidFill>
                  <a:srgbClr val="C3BEDA"/>
                </a:solidFill>
                <a:latin typeface="Calibri"/>
              </a:rPr>
              <a:t>Когда исполнитель не выполняет команду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83080"/>
            <a:ext cx="5303520" cy="3291840"/>
          </a:xfrm>
          <a:prstGeom prst="roundRect">
            <a:avLst>
              <a:gd name="adj" fmla="val 6000"/>
            </a:avLst>
          </a:prstGeom>
          <a:solidFill>
            <a:srgbClr val="221C42"/>
          </a:solidFill>
          <a:ln w="25400">
            <a:solidFill>
              <a:srgbClr val="E8B8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solidFill>
                <a:schemeClr val="bg1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914400" y="1920240"/>
            <a:ext cx="475488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 i="0">
                <a:solidFill>
                  <a:schemeClr val="bg1"/>
                </a:solidFill>
                <a:latin typeface="Cambria"/>
              </a:rPr>
              <a:t>«Не понимаю»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560320"/>
            <a:ext cx="4754880" cy="7386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0" i="0">
                <a:solidFill>
                  <a:schemeClr val="bg1"/>
                </a:solidFill>
                <a:latin typeface="Calibri"/>
              </a:rPr>
              <a:t>Команды нет в системе команд исполнителя.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3474720"/>
            <a:ext cx="4754880" cy="1280160"/>
          </a:xfrm>
          <a:prstGeom prst="roundRect">
            <a:avLst>
              <a:gd name="adj" fmla="val 3000"/>
            </a:avLst>
          </a:prstGeom>
          <a:solidFill>
            <a:srgbClr val="0E0B1F"/>
          </a:solidFill>
          <a:ln w="15875">
            <a:solidFill>
              <a:srgbClr val="4A4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solidFill>
                <a:schemeClr val="bg1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143000" y="3639312"/>
            <a:ext cx="4297680" cy="751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2400" b="0" i="0">
                <a:solidFill>
                  <a:schemeClr val="bg1"/>
                </a:solidFill>
                <a:latin typeface="Consolas"/>
              </a:rPr>
              <a:t>komandy = "RRXU"</a:t>
            </a:r>
          </a:p>
          <a:p>
            <a:pPr algn="l">
              <a:spcAft>
                <a:spcPts val="100"/>
              </a:spcAft>
            </a:pPr>
            <a:r>
              <a:rPr sz="2400" b="0" i="0">
                <a:solidFill>
                  <a:schemeClr val="bg1"/>
                </a:solidFill>
                <a:latin typeface="Consolas"/>
              </a:rPr>
              <a:t># X — такой команды нет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783080"/>
            <a:ext cx="5303520" cy="3291840"/>
          </a:xfrm>
          <a:prstGeom prst="roundRect">
            <a:avLst>
              <a:gd name="adj" fmla="val 6000"/>
            </a:avLst>
          </a:prstGeom>
          <a:solidFill>
            <a:srgbClr val="221C42"/>
          </a:solidFill>
          <a:ln w="25400">
            <a:solidFill>
              <a:srgbClr val="F2789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solidFill>
                <a:schemeClr val="bg1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446520" y="1920240"/>
            <a:ext cx="475488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 i="0">
                <a:solidFill>
                  <a:schemeClr val="bg1"/>
                </a:solidFill>
                <a:latin typeface="Cambria"/>
              </a:rPr>
              <a:t>«Не могу»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2560320"/>
            <a:ext cx="4754880" cy="7386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0" i="0">
                <a:solidFill>
                  <a:schemeClr val="bg1"/>
                </a:solidFill>
                <a:latin typeface="Calibri"/>
              </a:rPr>
              <a:t>Команда есть, но в этой обстановке её выполнить нельзя.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46520" y="3474720"/>
            <a:ext cx="4754880" cy="1280160"/>
          </a:xfrm>
          <a:prstGeom prst="roundRect">
            <a:avLst>
              <a:gd name="adj" fmla="val 3000"/>
            </a:avLst>
          </a:prstGeom>
          <a:solidFill>
            <a:srgbClr val="0E0B1F"/>
          </a:solidFill>
          <a:ln w="15875">
            <a:solidFill>
              <a:srgbClr val="4A4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solidFill>
                <a:schemeClr val="bg1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675120" y="3639312"/>
            <a:ext cx="4297680" cy="11208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2400" b="0" i="0">
                <a:solidFill>
                  <a:schemeClr val="bg1"/>
                </a:solidFill>
                <a:latin typeface="Consolas"/>
              </a:rPr>
              <a:t># робот в клетке (4; 2)</a:t>
            </a:r>
          </a:p>
          <a:p>
            <a:pPr algn="l">
              <a:spcAft>
                <a:spcPts val="100"/>
              </a:spcAft>
            </a:pPr>
            <a:r>
              <a:rPr sz="2400" b="0" i="0">
                <a:solidFill>
                  <a:schemeClr val="bg1"/>
                </a:solidFill>
                <a:latin typeface="Consolas"/>
              </a:rPr>
              <a:t># команда R — за поле, стена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440680"/>
            <a:ext cx="108813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 i="1">
                <a:solidFill>
                  <a:srgbClr val="4FD1E0"/>
                </a:solidFill>
                <a:latin typeface="Calibri"/>
              </a:rPr>
              <a:t>Хороший исполнитель не ломается при отказе: сообщает о нём и ждёт следующую команду. Завтра так запрограммируем робота.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13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1" i="0">
                <a:solidFill>
                  <a:srgbClr val="FFFFFF"/>
                </a:solidFill>
                <a:latin typeface="Cambria"/>
              </a:rPr>
              <a:t>Дрон — исполнитель в пространстве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97280"/>
            <a:ext cx="108813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 i="1">
                <a:solidFill>
                  <a:srgbClr val="C3BEDA"/>
                </a:solidFill>
                <a:latin typeface="Calibri"/>
              </a:rPr>
              <a:t>К плоскости x, y добавляется высота h и заряд батареи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83080"/>
            <a:ext cx="6766560" cy="530352"/>
          </a:xfrm>
          <a:prstGeom prst="roundRect">
            <a:avLst>
              <a:gd name="adj" fmla="val 6000"/>
            </a:avLst>
          </a:prstGeom>
          <a:solidFill>
            <a:srgbClr val="2D2560"/>
          </a:solidFill>
          <a:ln w="15875">
            <a:solidFill>
              <a:srgbClr val="4A4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solidFill>
                <a:schemeClr val="bg1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68680" y="1894367"/>
            <a:ext cx="118872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 i="0">
                <a:solidFill>
                  <a:schemeClr val="bg1"/>
                </a:solidFill>
                <a:latin typeface="Calibri"/>
              </a:rPr>
              <a:t>Команда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94560" y="1894368"/>
            <a:ext cx="219456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 i="0">
                <a:solidFill>
                  <a:schemeClr val="bg1"/>
                </a:solidFill>
                <a:latin typeface="Calibri"/>
              </a:rPr>
              <a:t>Действие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80560" y="1894368"/>
            <a:ext cx="155448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 i="0">
                <a:solidFill>
                  <a:schemeClr val="bg1"/>
                </a:solidFill>
                <a:latin typeface="Calibri"/>
              </a:rPr>
              <a:t>Изменение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894368"/>
            <a:ext cx="100584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 i="0">
                <a:solidFill>
                  <a:schemeClr val="bg1"/>
                </a:solidFill>
                <a:latin typeface="Calibri"/>
              </a:rPr>
              <a:t>Заряд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404872"/>
            <a:ext cx="6766560" cy="530352"/>
          </a:xfrm>
          <a:prstGeom prst="roundRect">
            <a:avLst>
              <a:gd name="adj" fmla="val 6000"/>
            </a:avLst>
          </a:prstGeom>
          <a:solidFill>
            <a:srgbClr val="221C42"/>
          </a:solidFill>
          <a:ln w="15875">
            <a:solidFill>
              <a:srgbClr val="4A4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solidFill>
                <a:schemeClr val="bg1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68680" y="2516159"/>
            <a:ext cx="118872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 i="0">
                <a:solidFill>
                  <a:schemeClr val="bg1"/>
                </a:solidFill>
                <a:latin typeface="Consolas"/>
              </a:rPr>
              <a:t>N  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4560" y="2516160"/>
            <a:ext cx="219456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 i="0">
                <a:solidFill>
                  <a:schemeClr val="bg1"/>
                </a:solidFill>
                <a:latin typeface="Calibri"/>
              </a:rPr>
              <a:t>север / юг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2516160"/>
            <a:ext cx="155448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 i="0">
                <a:solidFill>
                  <a:schemeClr val="bg1"/>
                </a:solidFill>
                <a:latin typeface="Consolas"/>
              </a:rPr>
              <a:t>y ±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2516160"/>
            <a:ext cx="100584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 i="0">
                <a:solidFill>
                  <a:schemeClr val="bg1"/>
                </a:solidFill>
                <a:latin typeface="Calibri"/>
              </a:rPr>
              <a:t>5 %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026664"/>
            <a:ext cx="6766560" cy="530352"/>
          </a:xfrm>
          <a:prstGeom prst="roundRect">
            <a:avLst>
              <a:gd name="adj" fmla="val 6000"/>
            </a:avLst>
          </a:prstGeom>
          <a:solidFill>
            <a:srgbClr val="221C42"/>
          </a:solidFill>
          <a:ln w="15875">
            <a:solidFill>
              <a:srgbClr val="4A4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solidFill>
                <a:schemeClr val="bg1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868680" y="3137951"/>
            <a:ext cx="118872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 i="0">
                <a:solidFill>
                  <a:schemeClr val="bg1"/>
                </a:solidFill>
                <a:latin typeface="Consolas"/>
              </a:rPr>
              <a:t>E  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94560" y="3137952"/>
            <a:ext cx="219456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 i="0">
                <a:solidFill>
                  <a:schemeClr val="bg1"/>
                </a:solidFill>
                <a:latin typeface="Calibri"/>
              </a:rPr>
              <a:t>восток / запад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60" y="3137952"/>
            <a:ext cx="155448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 i="0">
                <a:solidFill>
                  <a:schemeClr val="bg1"/>
                </a:solidFill>
                <a:latin typeface="Consolas"/>
              </a:rPr>
              <a:t>x ± 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0" y="3137952"/>
            <a:ext cx="100584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 i="0">
                <a:solidFill>
                  <a:schemeClr val="bg1"/>
                </a:solidFill>
                <a:latin typeface="Calibri"/>
              </a:rPr>
              <a:t>5 %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3648456"/>
            <a:ext cx="6766560" cy="530352"/>
          </a:xfrm>
          <a:prstGeom prst="roundRect">
            <a:avLst>
              <a:gd name="adj" fmla="val 6000"/>
            </a:avLst>
          </a:prstGeom>
          <a:solidFill>
            <a:srgbClr val="221C42"/>
          </a:solidFill>
          <a:ln w="15875">
            <a:solidFill>
              <a:srgbClr val="4A4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solidFill>
                <a:schemeClr val="bg1"/>
              </a:solidFill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868680" y="3759743"/>
            <a:ext cx="118872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 i="0">
                <a:solidFill>
                  <a:schemeClr val="bg1"/>
                </a:solidFill>
                <a:latin typeface="Consolas"/>
              </a:rPr>
              <a:t>+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94560" y="3759744"/>
            <a:ext cx="219456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 i="0">
                <a:solidFill>
                  <a:schemeClr val="bg1"/>
                </a:solidFill>
                <a:latin typeface="Calibri"/>
              </a:rPr>
              <a:t>подняться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80560" y="3759744"/>
            <a:ext cx="155448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 i="0">
                <a:solidFill>
                  <a:schemeClr val="bg1"/>
                </a:solidFill>
                <a:latin typeface="Consolas"/>
              </a:rPr>
              <a:t>h + 1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0" y="3759744"/>
            <a:ext cx="100584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 i="0">
                <a:solidFill>
                  <a:schemeClr val="bg1"/>
                </a:solidFill>
                <a:latin typeface="Calibri"/>
              </a:rPr>
              <a:t>10 %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4270248"/>
            <a:ext cx="6766560" cy="530352"/>
          </a:xfrm>
          <a:prstGeom prst="roundRect">
            <a:avLst>
              <a:gd name="adj" fmla="val 6000"/>
            </a:avLst>
          </a:prstGeom>
          <a:solidFill>
            <a:srgbClr val="221C42"/>
          </a:solidFill>
          <a:ln w="15875">
            <a:solidFill>
              <a:srgbClr val="4A4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solidFill>
                <a:schemeClr val="bg1"/>
              </a:solidFill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68680" y="4381535"/>
            <a:ext cx="118872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 i="0">
                <a:solidFill>
                  <a:schemeClr val="bg1"/>
                </a:solidFill>
                <a:latin typeface="Consolas"/>
              </a:rPr>
              <a:t>−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194560" y="4381536"/>
            <a:ext cx="219456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 i="0">
                <a:solidFill>
                  <a:schemeClr val="bg1"/>
                </a:solidFill>
                <a:latin typeface="Calibri"/>
              </a:rPr>
              <a:t>опуститься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80560" y="4381536"/>
            <a:ext cx="155448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 i="0">
                <a:solidFill>
                  <a:schemeClr val="bg1"/>
                </a:solidFill>
                <a:latin typeface="Consolas"/>
              </a:rPr>
              <a:t>h − 1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7920" y="4381536"/>
            <a:ext cx="100584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 i="0">
                <a:solidFill>
                  <a:schemeClr val="bg1"/>
                </a:solidFill>
                <a:latin typeface="Calibri"/>
              </a:rPr>
              <a:t>2 %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772400" y="1783080"/>
            <a:ext cx="3749039" cy="3017520"/>
          </a:xfrm>
          <a:prstGeom prst="roundRect">
            <a:avLst>
              <a:gd name="adj" fmla="val 6000"/>
            </a:avLst>
          </a:prstGeom>
          <a:solidFill>
            <a:srgbClr val="221C42"/>
          </a:solidFill>
          <a:ln w="25400">
            <a:solidFill>
              <a:srgbClr val="F2789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solidFill>
                <a:schemeClr val="bg1"/>
              </a:solidFill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8046720" y="1920240"/>
            <a:ext cx="3291840" cy="20518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 i="0">
                <a:solidFill>
                  <a:schemeClr val="bg1"/>
                </a:solidFill>
                <a:latin typeface="Calibri"/>
              </a:rPr>
              <a:t>Отказы дрона</a:t>
            </a:r>
          </a:p>
          <a:p>
            <a:pPr algn="l">
              <a:spcAft>
                <a:spcPts val="800"/>
              </a:spcAft>
            </a:pPr>
            <a:r>
              <a:rPr sz="2000" b="0" i="0">
                <a:solidFill>
                  <a:schemeClr val="bg1"/>
                </a:solidFill>
                <a:latin typeface="Calibri"/>
              </a:rPr>
              <a:t>«Не могу»: лететь в сторону, стоя на земле (h = 0).</a:t>
            </a:r>
          </a:p>
          <a:p>
            <a:pPr algn="l">
              <a:spcAft>
                <a:spcPts val="800"/>
              </a:spcAft>
            </a:pPr>
            <a:r>
              <a:rPr sz="2000" b="0" i="0">
                <a:solidFill>
                  <a:schemeClr val="bg1"/>
                </a:solidFill>
                <a:latin typeface="Calibri"/>
              </a:rPr>
              <a:t>«Не могу»: заряда меньше, чем стоит команда — аварийная посадка.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" y="5029200"/>
            <a:ext cx="10881360" cy="685800"/>
          </a:xfrm>
          <a:prstGeom prst="roundRect">
            <a:avLst>
              <a:gd name="adj" fmla="val 3000"/>
            </a:avLst>
          </a:prstGeom>
          <a:solidFill>
            <a:srgbClr val="0E0B1F"/>
          </a:solidFill>
          <a:ln w="15875">
            <a:solidFill>
              <a:srgbClr val="4A4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solidFill>
                <a:schemeClr val="bg1"/>
              </a:solidFill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868680" y="5193792"/>
            <a:ext cx="1042416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2000" b="0" i="0">
                <a:solidFill>
                  <a:schemeClr val="bg1"/>
                </a:solidFill>
                <a:latin typeface="Consolas"/>
              </a:rPr>
              <a:t>marshrut = "++EEENN--"     # взлёт, 3 на восток, 2 на север, посадка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5897880"/>
            <a:ext cx="108813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 i="1">
                <a:solidFill>
                  <a:srgbClr val="4FD1E0"/>
                </a:solidFill>
                <a:latin typeface="Calibri"/>
              </a:rPr>
              <a:t>Это маршрут задачи фермера. Заряд в конце: 100 − 49 = 51 %.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13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1" i="0">
                <a:solidFill>
                  <a:srgbClr val="FFFFFF"/>
                </a:solidFill>
                <a:latin typeface="Cambria"/>
              </a:rPr>
              <a:t>Практика урока 13: тетрадь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97280"/>
            <a:ext cx="108813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 i="1">
                <a:solidFill>
                  <a:srgbClr val="C3BEDA"/>
                </a:solidFill>
                <a:latin typeface="Calibri"/>
              </a:rPr>
              <a:t>Работа в парах. Нарисуйте в тетради поле 5 × 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691640"/>
            <a:ext cx="10881360" cy="566928"/>
          </a:xfrm>
          <a:prstGeom prst="roundRect">
            <a:avLst>
              <a:gd name="adj" fmla="val 6000"/>
            </a:avLst>
          </a:prstGeom>
          <a:solidFill>
            <a:srgbClr val="221C42"/>
          </a:solidFill>
          <a:ln w="22225">
            <a:solidFill>
              <a:srgbClr val="E8B8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777240" y="1783080"/>
            <a:ext cx="384048" cy="384048"/>
          </a:xfrm>
          <a:prstGeom prst="ellipse">
            <a:avLst/>
          </a:prstGeom>
          <a:solidFill>
            <a:srgbClr val="E8B8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/>
            <a:r>
              <a:rPr sz="1500" b="1">
                <a:solidFill>
                  <a:srgbClr val="17132E"/>
                </a:solidFill>
                <a:latin typeface="Calibr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691640"/>
            <a:ext cx="1005840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FFFFFF"/>
                </a:solidFill>
                <a:latin typeface="Calibri"/>
              </a:rPr>
              <a:t>Расставь стадии по порядку: программа, модель, анализ, постановка, тестирование, алгоритм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350008"/>
            <a:ext cx="10881360" cy="566928"/>
          </a:xfrm>
          <a:prstGeom prst="roundRect">
            <a:avLst>
              <a:gd name="adj" fmla="val 6000"/>
            </a:avLst>
          </a:prstGeom>
          <a:solidFill>
            <a:srgbClr val="221C42"/>
          </a:solidFill>
          <a:ln w="22225">
            <a:solidFill>
              <a:srgbClr val="E8B8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777240" y="2441448"/>
            <a:ext cx="384048" cy="384048"/>
          </a:xfrm>
          <a:prstGeom prst="ellipse">
            <a:avLst/>
          </a:prstGeom>
          <a:solidFill>
            <a:srgbClr val="E8B8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/>
            <a:r>
              <a:rPr sz="1500" b="1">
                <a:solidFill>
                  <a:srgbClr val="17132E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2350008"/>
            <a:ext cx="1005840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FFFFFF"/>
                </a:solidFill>
                <a:latin typeface="Calibri"/>
              </a:rPr>
              <a:t>Задача: сколько плиток 20 × 20 см нужно на пол 4 × 3 м? Выпиши: дано, найти, модель (формула)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008376"/>
            <a:ext cx="10881360" cy="566928"/>
          </a:xfrm>
          <a:prstGeom prst="roundRect">
            <a:avLst>
              <a:gd name="adj" fmla="val 6000"/>
            </a:avLst>
          </a:prstGeom>
          <a:solidFill>
            <a:srgbClr val="221C42"/>
          </a:solidFill>
          <a:ln w="22225">
            <a:solidFill>
              <a:srgbClr val="4FD1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777240" y="3099816"/>
            <a:ext cx="384048" cy="384048"/>
          </a:xfrm>
          <a:prstGeom prst="ellipse">
            <a:avLst/>
          </a:prstGeom>
          <a:solidFill>
            <a:srgbClr val="4FD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/>
            <a:r>
              <a:rPr sz="1500" b="1">
                <a:solidFill>
                  <a:srgbClr val="17132E"/>
                </a:solidFill>
                <a:latin typeface="Calibr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3008376"/>
            <a:ext cx="1005840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FFFFFF"/>
                </a:solidFill>
                <a:latin typeface="Calibri"/>
              </a:rPr>
              <a:t>Выполни на поле программу «RRUURRD» с клетки (0; 0). В какой клетке робот?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666744"/>
            <a:ext cx="10881360" cy="566928"/>
          </a:xfrm>
          <a:prstGeom prst="roundRect">
            <a:avLst>
              <a:gd name="adj" fmla="val 6000"/>
            </a:avLst>
          </a:prstGeom>
          <a:solidFill>
            <a:srgbClr val="221C42"/>
          </a:solidFill>
          <a:ln w="22225">
            <a:solidFill>
              <a:srgbClr val="4FD1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777240" y="3758183"/>
            <a:ext cx="384048" cy="384048"/>
          </a:xfrm>
          <a:prstGeom prst="ellipse">
            <a:avLst/>
          </a:prstGeom>
          <a:solidFill>
            <a:srgbClr val="4FD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/>
            <a:r>
              <a:rPr sz="1500" b="1">
                <a:solidFill>
                  <a:srgbClr val="17132E"/>
                </a:solidFill>
                <a:latin typeface="Calibri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25880" y="3666744"/>
            <a:ext cx="1005840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FFFFFF"/>
                </a:solidFill>
                <a:latin typeface="Calibri"/>
              </a:rPr>
              <a:t>Напиши программу, которая приводит робота из (0; 0) в (4; 3) за наименьшее число команд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25112"/>
            <a:ext cx="10881360" cy="566928"/>
          </a:xfrm>
          <a:prstGeom prst="roundRect">
            <a:avLst>
              <a:gd name="adj" fmla="val 6000"/>
            </a:avLst>
          </a:prstGeom>
          <a:solidFill>
            <a:srgbClr val="221C42"/>
          </a:solidFill>
          <a:ln w="22225">
            <a:solidFill>
              <a:srgbClr val="F2789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777240" y="4416552"/>
            <a:ext cx="384048" cy="384048"/>
          </a:xfrm>
          <a:prstGeom prst="ellipse">
            <a:avLst/>
          </a:prstGeom>
          <a:solidFill>
            <a:srgbClr val="F278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/>
            <a:r>
              <a:rPr sz="1500" b="1">
                <a:solidFill>
                  <a:srgbClr val="17132E"/>
                </a:solidFill>
                <a:latin typeface="Calibri"/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25880" y="4325112"/>
            <a:ext cx="1005840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FFFFFF"/>
                </a:solidFill>
                <a:latin typeface="Calibri"/>
              </a:rPr>
              <a:t>Робот в (3; 3). Программа «RURUX». Найди все отказы и назови вид каждого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4983479"/>
            <a:ext cx="10881360" cy="566928"/>
          </a:xfrm>
          <a:prstGeom prst="roundRect">
            <a:avLst>
              <a:gd name="adj" fmla="val 6000"/>
            </a:avLst>
          </a:prstGeom>
          <a:solidFill>
            <a:srgbClr val="221C42"/>
          </a:solidFill>
          <a:ln w="22225">
            <a:solidFill>
              <a:srgbClr val="3DD6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777240" y="5074919"/>
            <a:ext cx="384048" cy="384048"/>
          </a:xfrm>
          <a:prstGeom prst="ellipse">
            <a:avLst/>
          </a:prstGeom>
          <a:solidFill>
            <a:srgbClr val="3DD6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/>
            <a:r>
              <a:rPr sz="1500" b="1">
                <a:solidFill>
                  <a:srgbClr val="17132E"/>
                </a:solidFill>
                <a:latin typeface="Calibri"/>
              </a:rPr>
              <a:t>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25880" y="4983479"/>
            <a:ext cx="1005840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FFFFFF"/>
                </a:solidFill>
                <a:latin typeface="Calibri"/>
              </a:rPr>
              <a:t>Составь маршрут дрона к цели (2; 3) на высоте 1 и посчитай расход заряда по модели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760720"/>
            <a:ext cx="108813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 i="1">
                <a:solidFill>
                  <a:srgbClr val="4FD1E0"/>
                </a:solidFill>
                <a:latin typeface="Calibri"/>
              </a:rPr>
              <a:t>Задачи 1—4 — все, 5—6 — по мере готовности. Ответы проверим завтра программой.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13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8778240" y="-1280160"/>
            <a:ext cx="5669280" cy="5669280"/>
          </a:xfrm>
          <a:prstGeom prst="ellipse">
            <a:avLst/>
          </a:prstGeom>
          <a:solidFill>
            <a:srgbClr val="231C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0241280" y="3291840"/>
            <a:ext cx="4023360" cy="4023360"/>
          </a:xfrm>
          <a:prstGeom prst="ellipse">
            <a:avLst/>
          </a:prstGeom>
          <a:solidFill>
            <a:srgbClr val="2A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4FD1E0"/>
                </a:solidFill>
                <a:latin typeface="Calibri"/>
              </a:rPr>
              <a:t>ЗАНЯТИЕ 7 · УРОК 14 · PYTHON IDLE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37360"/>
            <a:ext cx="8686800" cy="1737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5000" b="1" i="0">
                <a:solidFill>
                  <a:srgbClr val="FFFFFF"/>
                </a:solidFill>
                <a:latin typeface="Cambria"/>
              </a:rPr>
              <a:t>Управляем роботом</a:t>
            </a:r>
          </a:p>
          <a:p>
            <a:pPr algn="l">
              <a:spcAft>
                <a:spcPts val="0"/>
              </a:spcAft>
            </a:pPr>
            <a:r>
              <a:rPr sz="5000" b="1" i="0">
                <a:solidFill>
                  <a:srgbClr val="FFFFFF"/>
                </a:solidFill>
                <a:latin typeface="Cambria"/>
              </a:rPr>
              <a:t>и дроном из кода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392" y="3657600"/>
            <a:ext cx="9144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 i="0">
                <a:solidFill>
                  <a:srgbClr val="C3BEDA"/>
                </a:solidFill>
                <a:latin typeface="Calibri"/>
              </a:rPr>
              <a:t>Переменные — это положение. Строка — это маршрут. Цикл — это исполнение.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" y="4343400"/>
            <a:ext cx="9144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 i="1">
                <a:solidFill>
                  <a:srgbClr val="4FD1E0"/>
                </a:solidFill>
                <a:latin typeface="Calibri"/>
              </a:rPr>
              <a:t>Всё, что вы знаете: переменные, цикл, ветвление. Ничего нового — только применение.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13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1" i="0">
                <a:solidFill>
                  <a:srgbClr val="FFFFFF"/>
                </a:solidFill>
                <a:latin typeface="Cambria"/>
              </a:rPr>
              <a:t>Робот в Python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97280"/>
            <a:ext cx="108813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 i="1">
                <a:solidFill>
                  <a:srgbClr val="C3BEDA"/>
                </a:solidFill>
                <a:latin typeface="Calibri"/>
              </a:rPr>
              <a:t>Положение — переменные x и y. Программа — строка команд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37360"/>
            <a:ext cx="6035040" cy="4865958"/>
          </a:xfrm>
          <a:prstGeom prst="roundRect">
            <a:avLst>
              <a:gd name="adj" fmla="val 3000"/>
            </a:avLst>
          </a:prstGeom>
          <a:solidFill>
            <a:srgbClr val="0E0B1F"/>
          </a:solidFill>
          <a:ln w="15875">
            <a:solidFill>
              <a:srgbClr val="4A4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82763" y="1828800"/>
            <a:ext cx="5577840" cy="47961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2000" b="1" i="0" dirty="0">
                <a:solidFill>
                  <a:schemeClr val="bg1"/>
                </a:solidFill>
                <a:latin typeface="Consolas"/>
              </a:rPr>
              <a:t>x = 0</a:t>
            </a:r>
          </a:p>
          <a:p>
            <a:pPr algn="l">
              <a:spcAft>
                <a:spcPts val="100"/>
              </a:spcAft>
            </a:pPr>
            <a:r>
              <a:rPr sz="2000" b="1" i="0" dirty="0">
                <a:solidFill>
                  <a:schemeClr val="bg1"/>
                </a:solidFill>
                <a:latin typeface="Consolas"/>
              </a:rPr>
              <a:t>y = 0</a:t>
            </a:r>
          </a:p>
          <a:p>
            <a:pPr algn="l">
              <a:spcAft>
                <a:spcPts val="100"/>
              </a:spcAft>
            </a:pPr>
            <a:r>
              <a:rPr sz="2000" b="1" i="0" dirty="0" err="1">
                <a:solidFill>
                  <a:schemeClr val="bg1"/>
                </a:solidFill>
                <a:latin typeface="Consolas"/>
              </a:rPr>
              <a:t>komandy</a:t>
            </a:r>
            <a:r>
              <a:rPr sz="2000" b="1" i="0" dirty="0">
                <a:solidFill>
                  <a:schemeClr val="bg1"/>
                </a:solidFill>
                <a:latin typeface="Consolas"/>
              </a:rPr>
              <a:t> = "RRRUULD"</a:t>
            </a:r>
          </a:p>
          <a:p>
            <a:pPr algn="l">
              <a:spcAft>
                <a:spcPts val="100"/>
              </a:spcAft>
            </a:pPr>
            <a:r>
              <a:rPr sz="2000" b="1" i="0" dirty="0">
                <a:solidFill>
                  <a:schemeClr val="bg1"/>
                </a:solidFill>
                <a:latin typeface="Consolas"/>
              </a:rPr>
              <a:t> </a:t>
            </a:r>
          </a:p>
          <a:p>
            <a:pPr algn="l">
              <a:spcAft>
                <a:spcPts val="100"/>
              </a:spcAft>
            </a:pPr>
            <a:r>
              <a:rPr sz="2000" b="1" i="0" dirty="0">
                <a:solidFill>
                  <a:schemeClr val="bg1"/>
                </a:solidFill>
                <a:latin typeface="Consolas"/>
              </a:rPr>
              <a:t>for c in </a:t>
            </a:r>
            <a:r>
              <a:rPr sz="2000" b="1" i="0" dirty="0" err="1">
                <a:solidFill>
                  <a:schemeClr val="bg1"/>
                </a:solidFill>
                <a:latin typeface="Consolas"/>
              </a:rPr>
              <a:t>komandy</a:t>
            </a:r>
            <a:r>
              <a:rPr sz="2000" b="1" i="0" dirty="0">
                <a:solidFill>
                  <a:schemeClr val="bg1"/>
                </a:solidFill>
                <a:latin typeface="Consolas"/>
              </a:rPr>
              <a:t>:</a:t>
            </a:r>
          </a:p>
          <a:p>
            <a:pPr algn="l">
              <a:spcAft>
                <a:spcPts val="100"/>
              </a:spcAft>
            </a:pPr>
            <a:r>
              <a:rPr sz="2000" b="1" i="0" dirty="0">
                <a:solidFill>
                  <a:schemeClr val="bg1"/>
                </a:solidFill>
                <a:latin typeface="Consolas"/>
              </a:rPr>
              <a:t>    if c == "R":</a:t>
            </a:r>
          </a:p>
          <a:p>
            <a:pPr algn="l">
              <a:spcAft>
                <a:spcPts val="100"/>
              </a:spcAft>
            </a:pPr>
            <a:r>
              <a:rPr sz="2000" b="1" i="0" dirty="0">
                <a:solidFill>
                  <a:schemeClr val="bg1"/>
                </a:solidFill>
                <a:latin typeface="Consolas"/>
              </a:rPr>
              <a:t>        x = x + 1</a:t>
            </a:r>
          </a:p>
          <a:p>
            <a:pPr algn="l">
              <a:spcAft>
                <a:spcPts val="100"/>
              </a:spcAft>
            </a:pPr>
            <a:r>
              <a:rPr sz="2000" b="1" i="0" dirty="0">
                <a:solidFill>
                  <a:schemeClr val="bg1"/>
                </a:solidFill>
                <a:latin typeface="Consolas"/>
              </a:rPr>
              <a:t>    </a:t>
            </a:r>
            <a:r>
              <a:rPr sz="2000" b="1" i="0" dirty="0" err="1">
                <a:solidFill>
                  <a:schemeClr val="bg1"/>
                </a:solidFill>
                <a:latin typeface="Consolas"/>
              </a:rPr>
              <a:t>elif</a:t>
            </a:r>
            <a:r>
              <a:rPr sz="2000" b="1" i="0" dirty="0">
                <a:solidFill>
                  <a:schemeClr val="bg1"/>
                </a:solidFill>
                <a:latin typeface="Consolas"/>
              </a:rPr>
              <a:t> c == "L":</a:t>
            </a:r>
          </a:p>
          <a:p>
            <a:pPr algn="l">
              <a:spcAft>
                <a:spcPts val="100"/>
              </a:spcAft>
            </a:pPr>
            <a:r>
              <a:rPr sz="2000" b="1" i="0" dirty="0">
                <a:solidFill>
                  <a:schemeClr val="bg1"/>
                </a:solidFill>
                <a:latin typeface="Consolas"/>
              </a:rPr>
              <a:t>        x = x - 1</a:t>
            </a:r>
          </a:p>
          <a:p>
            <a:pPr algn="l">
              <a:spcAft>
                <a:spcPts val="100"/>
              </a:spcAft>
            </a:pPr>
            <a:r>
              <a:rPr sz="2000" b="1" i="0" dirty="0">
                <a:solidFill>
                  <a:schemeClr val="bg1"/>
                </a:solidFill>
                <a:latin typeface="Consolas"/>
              </a:rPr>
              <a:t>    </a:t>
            </a:r>
            <a:r>
              <a:rPr sz="2000" b="1" i="0" dirty="0" err="1">
                <a:solidFill>
                  <a:schemeClr val="bg1"/>
                </a:solidFill>
                <a:latin typeface="Consolas"/>
              </a:rPr>
              <a:t>elif</a:t>
            </a:r>
            <a:r>
              <a:rPr sz="2000" b="1" i="0" dirty="0">
                <a:solidFill>
                  <a:schemeClr val="bg1"/>
                </a:solidFill>
                <a:latin typeface="Consolas"/>
              </a:rPr>
              <a:t> c == "U":</a:t>
            </a:r>
          </a:p>
          <a:p>
            <a:pPr algn="l">
              <a:spcAft>
                <a:spcPts val="100"/>
              </a:spcAft>
            </a:pPr>
            <a:r>
              <a:rPr sz="2000" b="1" i="0" dirty="0">
                <a:solidFill>
                  <a:schemeClr val="bg1"/>
                </a:solidFill>
                <a:latin typeface="Consolas"/>
              </a:rPr>
              <a:t>        y = y + 1</a:t>
            </a:r>
          </a:p>
          <a:p>
            <a:pPr algn="l">
              <a:spcAft>
                <a:spcPts val="100"/>
              </a:spcAft>
            </a:pPr>
            <a:r>
              <a:rPr sz="2000" b="1" i="0" dirty="0">
                <a:solidFill>
                  <a:schemeClr val="bg1"/>
                </a:solidFill>
                <a:latin typeface="Consolas"/>
              </a:rPr>
              <a:t>    </a:t>
            </a:r>
            <a:r>
              <a:rPr sz="2000" b="1" i="0" dirty="0" err="1">
                <a:solidFill>
                  <a:schemeClr val="bg1"/>
                </a:solidFill>
                <a:latin typeface="Consolas"/>
              </a:rPr>
              <a:t>elif</a:t>
            </a:r>
            <a:r>
              <a:rPr sz="2000" b="1" i="0" dirty="0">
                <a:solidFill>
                  <a:schemeClr val="bg1"/>
                </a:solidFill>
                <a:latin typeface="Consolas"/>
              </a:rPr>
              <a:t> c == "D":</a:t>
            </a:r>
          </a:p>
          <a:p>
            <a:pPr algn="l">
              <a:spcAft>
                <a:spcPts val="100"/>
              </a:spcAft>
            </a:pPr>
            <a:r>
              <a:rPr sz="2000" b="1" i="0" dirty="0">
                <a:solidFill>
                  <a:schemeClr val="bg1"/>
                </a:solidFill>
                <a:latin typeface="Consolas"/>
              </a:rPr>
              <a:t>        y = y - 1</a:t>
            </a:r>
          </a:p>
          <a:p>
            <a:pPr algn="l">
              <a:spcAft>
                <a:spcPts val="100"/>
              </a:spcAft>
            </a:pPr>
            <a:r>
              <a:rPr sz="2000" b="1" i="0" dirty="0">
                <a:solidFill>
                  <a:schemeClr val="bg1"/>
                </a:solidFill>
                <a:latin typeface="Consolas"/>
              </a:rPr>
              <a:t> </a:t>
            </a:r>
          </a:p>
          <a:p>
            <a:pPr algn="l">
              <a:spcAft>
                <a:spcPts val="100"/>
              </a:spcAft>
            </a:pPr>
            <a:r>
              <a:rPr sz="2000" b="1" i="0" dirty="0">
                <a:solidFill>
                  <a:schemeClr val="bg1"/>
                </a:solidFill>
                <a:latin typeface="Consolas"/>
              </a:rPr>
              <a:t>print("</a:t>
            </a:r>
            <a:r>
              <a:rPr sz="2000" b="1" i="0" dirty="0" err="1">
                <a:solidFill>
                  <a:schemeClr val="bg1"/>
                </a:solidFill>
                <a:latin typeface="Consolas"/>
              </a:rPr>
              <a:t>Робот</a:t>
            </a:r>
            <a:r>
              <a:rPr sz="2000" b="1" i="0" dirty="0">
                <a:solidFill>
                  <a:schemeClr val="bg1"/>
                </a:solidFill>
                <a:latin typeface="Consolas"/>
              </a:rPr>
              <a:t> в </a:t>
            </a:r>
            <a:r>
              <a:rPr sz="2000" b="1" i="0" dirty="0" err="1">
                <a:solidFill>
                  <a:schemeClr val="bg1"/>
                </a:solidFill>
                <a:latin typeface="Consolas"/>
              </a:rPr>
              <a:t>клетке</a:t>
            </a:r>
            <a:r>
              <a:rPr sz="2000" b="1" i="0" dirty="0">
                <a:solidFill>
                  <a:schemeClr val="bg1"/>
                </a:solidFill>
                <a:latin typeface="Consolas"/>
              </a:rPr>
              <a:t>:", x, y)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949440" y="1737360"/>
            <a:ext cx="4572000" cy="868680"/>
          </a:xfrm>
          <a:prstGeom prst="roundRect">
            <a:avLst>
              <a:gd name="adj" fmla="val 6000"/>
            </a:avLst>
          </a:prstGeom>
          <a:solidFill>
            <a:srgbClr val="221C42"/>
          </a:solidFill>
          <a:ln w="25400">
            <a:solidFill>
              <a:srgbClr val="4FD1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178040" y="1792224"/>
            <a:ext cx="411480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b="1" i="0">
                <a:solidFill>
                  <a:schemeClr val="bg1"/>
                </a:solidFill>
                <a:latin typeface="Calibri"/>
              </a:rPr>
              <a:t>Среда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78040" y="2157984"/>
            <a:ext cx="411480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b="0" i="0">
                <a:solidFill>
                  <a:schemeClr val="bg1"/>
                </a:solidFill>
                <a:latin typeface="Calibri"/>
              </a:rPr>
              <a:t>переменные x и 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949440" y="2761488"/>
            <a:ext cx="4572000" cy="868680"/>
          </a:xfrm>
          <a:prstGeom prst="roundRect">
            <a:avLst>
              <a:gd name="adj" fmla="val 6000"/>
            </a:avLst>
          </a:prstGeom>
          <a:solidFill>
            <a:srgbClr val="221C42"/>
          </a:solidFill>
          <a:ln w="25400">
            <a:solidFill>
              <a:srgbClr val="E8B8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178040" y="2816352"/>
            <a:ext cx="411480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b="1" i="0">
                <a:solidFill>
                  <a:schemeClr val="bg1"/>
                </a:solidFill>
                <a:latin typeface="Calibri"/>
              </a:rPr>
              <a:t>Программа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78040" y="3182112"/>
            <a:ext cx="411480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b="0" i="0">
                <a:solidFill>
                  <a:schemeClr val="bg1"/>
                </a:solidFill>
                <a:latin typeface="Calibri"/>
              </a:rPr>
              <a:t>строка komandy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949440" y="3785616"/>
            <a:ext cx="4572000" cy="868680"/>
          </a:xfrm>
          <a:prstGeom prst="roundRect">
            <a:avLst>
              <a:gd name="adj" fmla="val 6000"/>
            </a:avLst>
          </a:prstGeom>
          <a:solidFill>
            <a:srgbClr val="221C42"/>
          </a:solidFill>
          <a:ln w="25400">
            <a:solidFill>
              <a:srgbClr val="3DD6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178040" y="3840480"/>
            <a:ext cx="411480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b="1" i="0">
                <a:solidFill>
                  <a:schemeClr val="bg1"/>
                </a:solidFill>
                <a:latin typeface="Calibri"/>
              </a:rPr>
              <a:t>Исполнение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78040" y="4206240"/>
            <a:ext cx="411480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b="0" i="0">
                <a:solidFill>
                  <a:schemeClr val="bg1"/>
                </a:solidFill>
                <a:latin typeface="Calibri"/>
              </a:rPr>
              <a:t>цикл берёт команды по одной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949440" y="4809744"/>
            <a:ext cx="4572000" cy="868680"/>
          </a:xfrm>
          <a:prstGeom prst="roundRect">
            <a:avLst>
              <a:gd name="adj" fmla="val 6000"/>
            </a:avLst>
          </a:prstGeom>
          <a:solidFill>
            <a:srgbClr val="221C42"/>
          </a:solidFill>
          <a:ln w="25400">
            <a:solidFill>
              <a:srgbClr val="F2789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178040" y="4864607"/>
            <a:ext cx="411480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b="1" i="0">
                <a:solidFill>
                  <a:schemeClr val="bg1"/>
                </a:solidFill>
                <a:latin typeface="Calibri"/>
              </a:rPr>
              <a:t>Система команд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78040" y="5230368"/>
            <a:ext cx="411480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b="0" i="0">
                <a:solidFill>
                  <a:schemeClr val="bg1"/>
                </a:solidFill>
                <a:latin typeface="Calibri"/>
              </a:rPr>
              <a:t>ветки if — elif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13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1" i="0">
                <a:solidFill>
                  <a:srgbClr val="FFFFFF"/>
                </a:solidFill>
                <a:latin typeface="Cambria"/>
              </a:rPr>
              <a:t>Трассировка: смотрим каждый шаг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97280"/>
            <a:ext cx="108813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 i="1">
                <a:solidFill>
                  <a:srgbClr val="C3BEDA"/>
                </a:solidFill>
                <a:latin typeface="Calibri"/>
              </a:rPr>
              <a:t>Главный инструмент отладки — вывод промежуточных значений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37360"/>
            <a:ext cx="6035040" cy="1920240"/>
          </a:xfrm>
          <a:prstGeom prst="roundRect">
            <a:avLst>
              <a:gd name="adj" fmla="val 3000"/>
            </a:avLst>
          </a:prstGeom>
          <a:solidFill>
            <a:srgbClr val="0E0B1F"/>
          </a:solidFill>
          <a:ln w="15875">
            <a:solidFill>
              <a:srgbClr val="4A4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68680" y="1901952"/>
            <a:ext cx="5577840" cy="15773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2000" b="0" i="0">
                <a:solidFill>
                  <a:schemeClr val="bg1"/>
                </a:solidFill>
                <a:latin typeface="Consolas"/>
              </a:rPr>
              <a:t>for i in range(len(komandy)):</a:t>
            </a:r>
          </a:p>
          <a:p>
            <a:pPr algn="l">
              <a:spcAft>
                <a:spcPts val="100"/>
              </a:spcAft>
            </a:pPr>
            <a:r>
              <a:rPr sz="2000" b="0" i="0">
                <a:solidFill>
                  <a:schemeClr val="bg1"/>
                </a:solidFill>
                <a:latin typeface="Consolas"/>
              </a:rPr>
              <a:t>    c = komandy[i]</a:t>
            </a:r>
          </a:p>
          <a:p>
            <a:pPr algn="l">
              <a:spcAft>
                <a:spcPts val="100"/>
              </a:spcAft>
            </a:pPr>
            <a:r>
              <a:rPr sz="2000" b="0" i="0">
                <a:solidFill>
                  <a:schemeClr val="bg1"/>
                </a:solidFill>
                <a:latin typeface="Consolas"/>
              </a:rPr>
              <a:t>    # ... те же ветки if — elif ...</a:t>
            </a:r>
          </a:p>
          <a:p>
            <a:pPr algn="l">
              <a:spcAft>
                <a:spcPts val="100"/>
              </a:spcAft>
            </a:pPr>
            <a:r>
              <a:rPr sz="2000" b="0" i="0">
                <a:solidFill>
                  <a:schemeClr val="bg1"/>
                </a:solidFill>
                <a:latin typeface="Consolas"/>
              </a:rPr>
              <a:t>    print("Шаг", i + 1, ":", c, "-&gt;", x, y)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040880" y="1737360"/>
            <a:ext cx="1069848" cy="475488"/>
          </a:xfrm>
          <a:prstGeom prst="roundRect">
            <a:avLst>
              <a:gd name="adj" fmla="val 10000"/>
            </a:avLst>
          </a:prstGeom>
          <a:solidFill>
            <a:srgbClr val="2D2560"/>
          </a:solidFill>
          <a:ln w="12700">
            <a:solidFill>
              <a:srgbClr val="4A4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/>
            <a:r>
              <a:rPr sz="1500" b="1">
                <a:solidFill>
                  <a:srgbClr val="C3BEDA"/>
                </a:solidFill>
                <a:latin typeface="Calibri"/>
              </a:rPr>
              <a:t>Шаг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56448" y="1737360"/>
            <a:ext cx="1069848" cy="475488"/>
          </a:xfrm>
          <a:prstGeom prst="roundRect">
            <a:avLst>
              <a:gd name="adj" fmla="val 10000"/>
            </a:avLst>
          </a:prstGeom>
          <a:solidFill>
            <a:srgbClr val="2D2560"/>
          </a:solidFill>
          <a:ln w="12700">
            <a:solidFill>
              <a:srgbClr val="4A4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/>
            <a:r>
              <a:rPr sz="1500" b="1">
                <a:solidFill>
                  <a:srgbClr val="C3BEDA"/>
                </a:solidFill>
                <a:latin typeface="Calibri"/>
              </a:rPr>
              <a:t>Команда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272016" y="1737360"/>
            <a:ext cx="1069848" cy="475488"/>
          </a:xfrm>
          <a:prstGeom prst="roundRect">
            <a:avLst>
              <a:gd name="adj" fmla="val 10000"/>
            </a:avLst>
          </a:prstGeom>
          <a:solidFill>
            <a:srgbClr val="2D2560"/>
          </a:solidFill>
          <a:ln w="12700">
            <a:solidFill>
              <a:srgbClr val="4A4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/>
            <a:r>
              <a:rPr sz="1500" b="1">
                <a:solidFill>
                  <a:srgbClr val="C3BEDA"/>
                </a:solidFill>
                <a:latin typeface="Calibri"/>
              </a:rPr>
              <a:t>x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387584" y="1737360"/>
            <a:ext cx="1069848" cy="475488"/>
          </a:xfrm>
          <a:prstGeom prst="roundRect">
            <a:avLst>
              <a:gd name="adj" fmla="val 10000"/>
            </a:avLst>
          </a:prstGeom>
          <a:solidFill>
            <a:srgbClr val="2D2560"/>
          </a:solidFill>
          <a:ln w="12700">
            <a:solidFill>
              <a:srgbClr val="4A4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/>
            <a:r>
              <a:rPr sz="1500" b="1">
                <a:solidFill>
                  <a:srgbClr val="C3BEDA"/>
                </a:solidFill>
                <a:latin typeface="Calibri"/>
              </a:rPr>
              <a:t>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040880" y="2267712"/>
            <a:ext cx="1069848" cy="475488"/>
          </a:xfrm>
          <a:prstGeom prst="roundRect">
            <a:avLst>
              <a:gd name="adj" fmla="val 10000"/>
            </a:avLst>
          </a:prstGeom>
          <a:solidFill>
            <a:srgbClr val="221C42"/>
          </a:solidFill>
          <a:ln w="12700">
            <a:solidFill>
              <a:srgbClr val="4A4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/>
            <a:r>
              <a:rPr sz="1700" b="0">
                <a:solidFill>
                  <a:srgbClr val="FFFFFF"/>
                </a:solidFill>
                <a:latin typeface="Consolas"/>
              </a:rPr>
              <a:t>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56448" y="2267712"/>
            <a:ext cx="1069848" cy="475488"/>
          </a:xfrm>
          <a:prstGeom prst="roundRect">
            <a:avLst>
              <a:gd name="adj" fmla="val 10000"/>
            </a:avLst>
          </a:prstGeom>
          <a:solidFill>
            <a:srgbClr val="221C42"/>
          </a:solidFill>
          <a:ln w="12700">
            <a:solidFill>
              <a:srgbClr val="4A4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/>
            <a:r>
              <a:rPr sz="1700" b="0">
                <a:solidFill>
                  <a:srgbClr val="4FD1E0"/>
                </a:solidFill>
                <a:latin typeface="Consolas"/>
              </a:rPr>
              <a:t>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272016" y="2267712"/>
            <a:ext cx="1069848" cy="475488"/>
          </a:xfrm>
          <a:prstGeom prst="roundRect">
            <a:avLst>
              <a:gd name="adj" fmla="val 10000"/>
            </a:avLst>
          </a:prstGeom>
          <a:solidFill>
            <a:srgbClr val="221C42"/>
          </a:solidFill>
          <a:ln w="12700">
            <a:solidFill>
              <a:srgbClr val="4A4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/>
            <a:r>
              <a:rPr sz="1700" b="0">
                <a:solidFill>
                  <a:srgbClr val="FFFFFF"/>
                </a:solidFill>
                <a:latin typeface="Consolas"/>
              </a:rPr>
              <a:t>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387584" y="2267712"/>
            <a:ext cx="1069848" cy="475488"/>
          </a:xfrm>
          <a:prstGeom prst="roundRect">
            <a:avLst>
              <a:gd name="adj" fmla="val 10000"/>
            </a:avLst>
          </a:prstGeom>
          <a:solidFill>
            <a:srgbClr val="221C42"/>
          </a:solidFill>
          <a:ln w="12700">
            <a:solidFill>
              <a:srgbClr val="4A4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/>
            <a:r>
              <a:rPr sz="1700" b="0">
                <a:solidFill>
                  <a:srgbClr val="FFFFFF"/>
                </a:solidFill>
                <a:latin typeface="Consolas"/>
              </a:rPr>
              <a:t>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040880" y="2798063"/>
            <a:ext cx="1069848" cy="475488"/>
          </a:xfrm>
          <a:prstGeom prst="roundRect">
            <a:avLst>
              <a:gd name="adj" fmla="val 10000"/>
            </a:avLst>
          </a:prstGeom>
          <a:solidFill>
            <a:srgbClr val="221C42"/>
          </a:solidFill>
          <a:ln w="12700">
            <a:solidFill>
              <a:srgbClr val="4A4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/>
            <a:r>
              <a:rPr sz="1700" b="0">
                <a:solidFill>
                  <a:srgbClr val="FFFFFF"/>
                </a:solidFill>
                <a:latin typeface="Consolas"/>
              </a:rPr>
              <a:t>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56448" y="2798063"/>
            <a:ext cx="1069848" cy="475488"/>
          </a:xfrm>
          <a:prstGeom prst="roundRect">
            <a:avLst>
              <a:gd name="adj" fmla="val 10000"/>
            </a:avLst>
          </a:prstGeom>
          <a:solidFill>
            <a:srgbClr val="221C42"/>
          </a:solidFill>
          <a:ln w="12700">
            <a:solidFill>
              <a:srgbClr val="4A4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/>
            <a:r>
              <a:rPr sz="1700" b="0">
                <a:solidFill>
                  <a:srgbClr val="4FD1E0"/>
                </a:solidFill>
                <a:latin typeface="Consolas"/>
              </a:rPr>
              <a:t>U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272016" y="2798063"/>
            <a:ext cx="1069848" cy="475488"/>
          </a:xfrm>
          <a:prstGeom prst="roundRect">
            <a:avLst>
              <a:gd name="adj" fmla="val 10000"/>
            </a:avLst>
          </a:prstGeom>
          <a:solidFill>
            <a:srgbClr val="221C42"/>
          </a:solidFill>
          <a:ln w="12700">
            <a:solidFill>
              <a:srgbClr val="4A4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/>
            <a:r>
              <a:rPr sz="1700" b="0">
                <a:solidFill>
                  <a:srgbClr val="FFFFFF"/>
                </a:solidFill>
                <a:latin typeface="Consolas"/>
              </a:rPr>
              <a:t>1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387584" y="2798063"/>
            <a:ext cx="1069848" cy="475488"/>
          </a:xfrm>
          <a:prstGeom prst="roundRect">
            <a:avLst>
              <a:gd name="adj" fmla="val 10000"/>
            </a:avLst>
          </a:prstGeom>
          <a:solidFill>
            <a:srgbClr val="221C42"/>
          </a:solidFill>
          <a:ln w="12700">
            <a:solidFill>
              <a:srgbClr val="4A4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/>
            <a:r>
              <a:rPr sz="1700" b="0">
                <a:solidFill>
                  <a:srgbClr val="FFFFFF"/>
                </a:solidFill>
                <a:latin typeface="Consolas"/>
              </a:rPr>
              <a:t>1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040880" y="3328415"/>
            <a:ext cx="1069848" cy="475488"/>
          </a:xfrm>
          <a:prstGeom prst="roundRect">
            <a:avLst>
              <a:gd name="adj" fmla="val 10000"/>
            </a:avLst>
          </a:prstGeom>
          <a:solidFill>
            <a:srgbClr val="221C42"/>
          </a:solidFill>
          <a:ln w="12700">
            <a:solidFill>
              <a:srgbClr val="4A4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/>
            <a:r>
              <a:rPr sz="1700" b="0">
                <a:solidFill>
                  <a:srgbClr val="FFFFFF"/>
                </a:solidFill>
                <a:latin typeface="Consolas"/>
              </a:rPr>
              <a:t>3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56448" y="3328415"/>
            <a:ext cx="1069848" cy="475488"/>
          </a:xfrm>
          <a:prstGeom prst="roundRect">
            <a:avLst>
              <a:gd name="adj" fmla="val 10000"/>
            </a:avLst>
          </a:prstGeom>
          <a:solidFill>
            <a:srgbClr val="221C42"/>
          </a:solidFill>
          <a:ln w="12700">
            <a:solidFill>
              <a:srgbClr val="4A4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/>
            <a:r>
              <a:rPr sz="1700" b="0">
                <a:solidFill>
                  <a:srgbClr val="4FD1E0"/>
                </a:solidFill>
                <a:latin typeface="Consolas"/>
              </a:rPr>
              <a:t>U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272016" y="3328415"/>
            <a:ext cx="1069848" cy="475488"/>
          </a:xfrm>
          <a:prstGeom prst="roundRect">
            <a:avLst>
              <a:gd name="adj" fmla="val 10000"/>
            </a:avLst>
          </a:prstGeom>
          <a:solidFill>
            <a:srgbClr val="221C42"/>
          </a:solidFill>
          <a:ln w="12700">
            <a:solidFill>
              <a:srgbClr val="4A4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/>
            <a:r>
              <a:rPr sz="1700" b="0">
                <a:solidFill>
                  <a:srgbClr val="FFFFFF"/>
                </a:solidFill>
                <a:latin typeface="Consolas"/>
              </a:rPr>
              <a:t>1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387584" y="3328415"/>
            <a:ext cx="1069848" cy="475488"/>
          </a:xfrm>
          <a:prstGeom prst="roundRect">
            <a:avLst>
              <a:gd name="adj" fmla="val 10000"/>
            </a:avLst>
          </a:prstGeom>
          <a:solidFill>
            <a:srgbClr val="221C42"/>
          </a:solidFill>
          <a:ln w="12700">
            <a:solidFill>
              <a:srgbClr val="4A4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/>
            <a:r>
              <a:rPr sz="1700" b="0">
                <a:solidFill>
                  <a:srgbClr val="FFFFFF"/>
                </a:solidFill>
                <a:latin typeface="Consolas"/>
              </a:rPr>
              <a:t>2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040880" y="3858768"/>
            <a:ext cx="1069848" cy="475488"/>
          </a:xfrm>
          <a:prstGeom prst="roundRect">
            <a:avLst>
              <a:gd name="adj" fmla="val 10000"/>
            </a:avLst>
          </a:prstGeom>
          <a:solidFill>
            <a:srgbClr val="221C42"/>
          </a:solidFill>
          <a:ln w="12700">
            <a:solidFill>
              <a:srgbClr val="4A4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/>
            <a:r>
              <a:rPr sz="1700" b="0">
                <a:solidFill>
                  <a:srgbClr val="FFFFFF"/>
                </a:solidFill>
                <a:latin typeface="Consolas"/>
              </a:rPr>
              <a:t>4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156448" y="3858768"/>
            <a:ext cx="1069848" cy="475488"/>
          </a:xfrm>
          <a:prstGeom prst="roundRect">
            <a:avLst>
              <a:gd name="adj" fmla="val 10000"/>
            </a:avLst>
          </a:prstGeom>
          <a:solidFill>
            <a:srgbClr val="221C42"/>
          </a:solidFill>
          <a:ln w="12700">
            <a:solidFill>
              <a:srgbClr val="4A4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/>
            <a:r>
              <a:rPr sz="1700" b="0">
                <a:solidFill>
                  <a:srgbClr val="4FD1E0"/>
                </a:solidFill>
                <a:latin typeface="Consolas"/>
              </a:rPr>
              <a:t>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272016" y="3858768"/>
            <a:ext cx="1069848" cy="475488"/>
          </a:xfrm>
          <a:prstGeom prst="roundRect">
            <a:avLst>
              <a:gd name="adj" fmla="val 10000"/>
            </a:avLst>
          </a:prstGeom>
          <a:solidFill>
            <a:srgbClr val="221C42"/>
          </a:solidFill>
          <a:ln w="12700">
            <a:solidFill>
              <a:srgbClr val="4A4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/>
            <a:r>
              <a:rPr sz="1700" b="0">
                <a:solidFill>
                  <a:srgbClr val="FFFFFF"/>
                </a:solidFill>
                <a:latin typeface="Consolas"/>
              </a:rPr>
              <a:t>2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387584" y="3858768"/>
            <a:ext cx="1069848" cy="475488"/>
          </a:xfrm>
          <a:prstGeom prst="roundRect">
            <a:avLst>
              <a:gd name="adj" fmla="val 10000"/>
            </a:avLst>
          </a:prstGeom>
          <a:solidFill>
            <a:srgbClr val="221C42"/>
          </a:solidFill>
          <a:ln w="12700">
            <a:solidFill>
              <a:srgbClr val="4A4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/>
            <a:r>
              <a:rPr sz="1700" b="0">
                <a:solidFill>
                  <a:srgbClr val="FFFFFF"/>
                </a:solidFill>
                <a:latin typeface="Consolas"/>
              </a:rPr>
              <a:t>2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040880" y="4389120"/>
            <a:ext cx="1069848" cy="475488"/>
          </a:xfrm>
          <a:prstGeom prst="roundRect">
            <a:avLst>
              <a:gd name="adj" fmla="val 10000"/>
            </a:avLst>
          </a:prstGeom>
          <a:solidFill>
            <a:srgbClr val="221C42"/>
          </a:solidFill>
          <a:ln w="12700">
            <a:solidFill>
              <a:srgbClr val="4A4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/>
            <a:r>
              <a:rPr sz="1700" b="0">
                <a:solidFill>
                  <a:srgbClr val="FFFFFF"/>
                </a:solidFill>
                <a:latin typeface="Consolas"/>
              </a:rPr>
              <a:t>5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156448" y="4389120"/>
            <a:ext cx="1069848" cy="475488"/>
          </a:xfrm>
          <a:prstGeom prst="roundRect">
            <a:avLst>
              <a:gd name="adj" fmla="val 10000"/>
            </a:avLst>
          </a:prstGeom>
          <a:solidFill>
            <a:srgbClr val="221C42"/>
          </a:solidFill>
          <a:ln w="12700">
            <a:solidFill>
              <a:srgbClr val="4A4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/>
            <a:r>
              <a:rPr sz="1700" b="0">
                <a:solidFill>
                  <a:srgbClr val="4FD1E0"/>
                </a:solidFill>
                <a:latin typeface="Consolas"/>
              </a:rPr>
              <a:t>D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272016" y="4389120"/>
            <a:ext cx="1069848" cy="475488"/>
          </a:xfrm>
          <a:prstGeom prst="roundRect">
            <a:avLst>
              <a:gd name="adj" fmla="val 10000"/>
            </a:avLst>
          </a:prstGeom>
          <a:solidFill>
            <a:srgbClr val="221C42"/>
          </a:solidFill>
          <a:ln w="12700">
            <a:solidFill>
              <a:srgbClr val="4A4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/>
            <a:r>
              <a:rPr sz="1700" b="0">
                <a:solidFill>
                  <a:srgbClr val="FFFFFF"/>
                </a:solidFill>
                <a:latin typeface="Consolas"/>
              </a:rPr>
              <a:t>2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387584" y="4389120"/>
            <a:ext cx="1069848" cy="475488"/>
          </a:xfrm>
          <a:prstGeom prst="roundRect">
            <a:avLst>
              <a:gd name="adj" fmla="val 10000"/>
            </a:avLst>
          </a:prstGeom>
          <a:solidFill>
            <a:srgbClr val="221C42"/>
          </a:solidFill>
          <a:ln w="12700">
            <a:solidFill>
              <a:srgbClr val="4A4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/>
            <a:r>
              <a:rPr sz="1700" b="0">
                <a:solidFill>
                  <a:srgbClr val="FFFFFF"/>
                </a:solidFill>
                <a:latin typeface="Consolas"/>
              </a:rPr>
              <a:t>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40880" y="5029200"/>
            <a:ext cx="44805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4FD1E0"/>
                </a:solidFill>
                <a:latin typeface="Consolas"/>
              </a:rPr>
              <a:t>komandy = "RUURD"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5760720"/>
            <a:ext cx="108813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 i="1">
                <a:solidFill>
                  <a:srgbClr val="4FD1E0"/>
                </a:solidFill>
                <a:latin typeface="Calibri"/>
              </a:rPr>
              <a:t>Сначала заполните таблицу в тетради, потом запустите программу и сравните. Совпало — тест пройден.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13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1" i="0">
                <a:solidFill>
                  <a:srgbClr val="FFFFFF"/>
                </a:solidFill>
                <a:latin typeface="Cambria"/>
              </a:rPr>
              <a:t>Отказы в коде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97280"/>
            <a:ext cx="108813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 i="1">
                <a:solidFill>
                  <a:srgbClr val="C3BEDA"/>
                </a:solidFill>
                <a:latin typeface="Calibri"/>
              </a:rPr>
              <a:t>Робот не выходит за поле 5 × 5 и не выполняет незнакомые команды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37360"/>
            <a:ext cx="6675120" cy="4754880"/>
          </a:xfrm>
          <a:prstGeom prst="roundRect">
            <a:avLst>
              <a:gd name="adj" fmla="val 3000"/>
            </a:avLst>
          </a:prstGeom>
          <a:solidFill>
            <a:srgbClr val="0E0B1F"/>
          </a:solidFill>
          <a:ln w="15875">
            <a:solidFill>
              <a:srgbClr val="4A4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68680" y="1901952"/>
            <a:ext cx="6217920" cy="4308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b="0" i="0" dirty="0">
                <a:solidFill>
                  <a:schemeClr val="bg1"/>
                </a:solidFill>
                <a:latin typeface="Consolas"/>
              </a:rPr>
              <a:t>for c in </a:t>
            </a:r>
            <a:r>
              <a:rPr b="0" i="0" dirty="0" err="1">
                <a:solidFill>
                  <a:schemeClr val="bg1"/>
                </a:solidFill>
                <a:latin typeface="Consolas"/>
              </a:rPr>
              <a:t>komandy</a:t>
            </a:r>
            <a:r>
              <a:rPr b="0" i="0" dirty="0">
                <a:solidFill>
                  <a:schemeClr val="bg1"/>
                </a:solidFill>
                <a:latin typeface="Consolas"/>
              </a:rPr>
              <a:t>:</a:t>
            </a:r>
          </a:p>
          <a:p>
            <a:pPr algn="l">
              <a:spcAft>
                <a:spcPts val="100"/>
              </a:spcAft>
            </a:pPr>
            <a:r>
              <a:rPr b="0" i="0" dirty="0">
                <a:solidFill>
                  <a:schemeClr val="bg1"/>
                </a:solidFill>
                <a:latin typeface="Consolas"/>
              </a:rPr>
              <a:t>    if c == "R" and x &lt; 4:</a:t>
            </a:r>
          </a:p>
          <a:p>
            <a:pPr algn="l">
              <a:spcAft>
                <a:spcPts val="100"/>
              </a:spcAft>
            </a:pPr>
            <a:r>
              <a:rPr b="0" i="0" dirty="0">
                <a:solidFill>
                  <a:schemeClr val="bg1"/>
                </a:solidFill>
                <a:latin typeface="Consolas"/>
              </a:rPr>
              <a:t>        x = x + 1</a:t>
            </a:r>
          </a:p>
          <a:p>
            <a:pPr algn="l">
              <a:spcAft>
                <a:spcPts val="100"/>
              </a:spcAft>
            </a:pPr>
            <a:r>
              <a:rPr b="0" i="0" dirty="0">
                <a:solidFill>
                  <a:schemeClr val="bg1"/>
                </a:solidFill>
                <a:latin typeface="Consolas"/>
              </a:rPr>
              <a:t>    </a:t>
            </a:r>
            <a:r>
              <a:rPr b="0" i="0" dirty="0" err="1">
                <a:solidFill>
                  <a:schemeClr val="bg1"/>
                </a:solidFill>
                <a:latin typeface="Consolas"/>
              </a:rPr>
              <a:t>elif</a:t>
            </a:r>
            <a:r>
              <a:rPr b="0" i="0" dirty="0">
                <a:solidFill>
                  <a:schemeClr val="bg1"/>
                </a:solidFill>
                <a:latin typeface="Consolas"/>
              </a:rPr>
              <a:t> c == "L" and x &gt; 0:</a:t>
            </a:r>
          </a:p>
          <a:p>
            <a:pPr algn="l">
              <a:spcAft>
                <a:spcPts val="100"/>
              </a:spcAft>
            </a:pPr>
            <a:r>
              <a:rPr b="0" i="0" dirty="0">
                <a:solidFill>
                  <a:schemeClr val="bg1"/>
                </a:solidFill>
                <a:latin typeface="Consolas"/>
              </a:rPr>
              <a:t>        x = x - 1</a:t>
            </a:r>
          </a:p>
          <a:p>
            <a:pPr algn="l">
              <a:spcAft>
                <a:spcPts val="100"/>
              </a:spcAft>
            </a:pPr>
            <a:r>
              <a:rPr b="0" i="0" dirty="0">
                <a:solidFill>
                  <a:schemeClr val="bg1"/>
                </a:solidFill>
                <a:latin typeface="Consolas"/>
              </a:rPr>
              <a:t>    </a:t>
            </a:r>
            <a:r>
              <a:rPr b="0" i="0" dirty="0" err="1">
                <a:solidFill>
                  <a:schemeClr val="bg1"/>
                </a:solidFill>
                <a:latin typeface="Consolas"/>
              </a:rPr>
              <a:t>elif</a:t>
            </a:r>
            <a:r>
              <a:rPr b="0" i="0" dirty="0">
                <a:solidFill>
                  <a:schemeClr val="bg1"/>
                </a:solidFill>
                <a:latin typeface="Consolas"/>
              </a:rPr>
              <a:t> c == "U" and y &lt; 4:</a:t>
            </a:r>
          </a:p>
          <a:p>
            <a:pPr algn="l">
              <a:spcAft>
                <a:spcPts val="100"/>
              </a:spcAft>
            </a:pPr>
            <a:r>
              <a:rPr b="0" i="0" dirty="0">
                <a:solidFill>
                  <a:schemeClr val="bg1"/>
                </a:solidFill>
                <a:latin typeface="Consolas"/>
              </a:rPr>
              <a:t>        y = y + 1</a:t>
            </a:r>
          </a:p>
          <a:p>
            <a:pPr algn="l">
              <a:spcAft>
                <a:spcPts val="100"/>
              </a:spcAft>
            </a:pPr>
            <a:r>
              <a:rPr b="0" i="0" dirty="0">
                <a:solidFill>
                  <a:schemeClr val="bg1"/>
                </a:solidFill>
                <a:latin typeface="Consolas"/>
              </a:rPr>
              <a:t>    </a:t>
            </a:r>
            <a:r>
              <a:rPr b="0" i="0" dirty="0" err="1">
                <a:solidFill>
                  <a:schemeClr val="bg1"/>
                </a:solidFill>
                <a:latin typeface="Consolas"/>
              </a:rPr>
              <a:t>elif</a:t>
            </a:r>
            <a:r>
              <a:rPr b="0" i="0" dirty="0">
                <a:solidFill>
                  <a:schemeClr val="bg1"/>
                </a:solidFill>
                <a:latin typeface="Consolas"/>
              </a:rPr>
              <a:t> c == "D" and y &gt; 0:</a:t>
            </a:r>
          </a:p>
          <a:p>
            <a:pPr algn="l">
              <a:spcAft>
                <a:spcPts val="100"/>
              </a:spcAft>
            </a:pPr>
            <a:r>
              <a:rPr b="0" i="0" dirty="0">
                <a:solidFill>
                  <a:schemeClr val="bg1"/>
                </a:solidFill>
                <a:latin typeface="Consolas"/>
              </a:rPr>
              <a:t>        y = y - 1</a:t>
            </a:r>
          </a:p>
          <a:p>
            <a:pPr algn="l">
              <a:spcAft>
                <a:spcPts val="100"/>
              </a:spcAft>
            </a:pPr>
            <a:r>
              <a:rPr b="0" i="0" dirty="0">
                <a:solidFill>
                  <a:schemeClr val="bg1"/>
                </a:solidFill>
                <a:latin typeface="Consolas"/>
              </a:rPr>
              <a:t>    </a:t>
            </a:r>
            <a:r>
              <a:rPr b="0" i="0" dirty="0" err="1">
                <a:solidFill>
                  <a:schemeClr val="bg1"/>
                </a:solidFill>
                <a:latin typeface="Consolas"/>
              </a:rPr>
              <a:t>elif</a:t>
            </a:r>
            <a:r>
              <a:rPr b="0" i="0" dirty="0">
                <a:solidFill>
                  <a:schemeClr val="bg1"/>
                </a:solidFill>
                <a:latin typeface="Consolas"/>
              </a:rPr>
              <a:t> c == "R" or c == "L" or c == "U" or c == "D":</a:t>
            </a:r>
          </a:p>
          <a:p>
            <a:pPr algn="l">
              <a:spcAft>
                <a:spcPts val="100"/>
              </a:spcAft>
            </a:pPr>
            <a:r>
              <a:rPr b="0" i="0" dirty="0">
                <a:solidFill>
                  <a:schemeClr val="bg1"/>
                </a:solidFill>
                <a:latin typeface="Consolas"/>
              </a:rPr>
              <a:t>        print("</a:t>
            </a:r>
            <a:r>
              <a:rPr b="0" i="0" dirty="0" err="1">
                <a:solidFill>
                  <a:schemeClr val="bg1"/>
                </a:solidFill>
                <a:latin typeface="Consolas"/>
              </a:rPr>
              <a:t>Отказ</a:t>
            </a:r>
            <a:r>
              <a:rPr b="0" i="0" dirty="0">
                <a:solidFill>
                  <a:schemeClr val="bg1"/>
                </a:solidFill>
                <a:latin typeface="Consolas"/>
              </a:rPr>
              <a:t>: </a:t>
            </a:r>
            <a:r>
              <a:rPr b="0" i="0" dirty="0" err="1">
                <a:solidFill>
                  <a:schemeClr val="bg1"/>
                </a:solidFill>
                <a:latin typeface="Consolas"/>
              </a:rPr>
              <a:t>стена</a:t>
            </a:r>
            <a:r>
              <a:rPr b="0" i="0" dirty="0">
                <a:solidFill>
                  <a:schemeClr val="bg1"/>
                </a:solidFill>
                <a:latin typeface="Consolas"/>
              </a:rPr>
              <a:t>")          # </a:t>
            </a:r>
            <a:r>
              <a:rPr b="0" i="0" dirty="0" err="1">
                <a:solidFill>
                  <a:schemeClr val="bg1"/>
                </a:solidFill>
                <a:latin typeface="Consolas"/>
              </a:rPr>
              <a:t>не</a:t>
            </a:r>
            <a:r>
              <a:rPr b="0" i="0" dirty="0">
                <a:solidFill>
                  <a:schemeClr val="bg1"/>
                </a:solidFill>
                <a:latin typeface="Consolas"/>
              </a:rPr>
              <a:t> </a:t>
            </a:r>
            <a:r>
              <a:rPr b="0" i="0" dirty="0" err="1">
                <a:solidFill>
                  <a:schemeClr val="bg1"/>
                </a:solidFill>
                <a:latin typeface="Consolas"/>
              </a:rPr>
              <a:t>могу</a:t>
            </a:r>
            <a:endParaRPr b="0" i="0" dirty="0">
              <a:solidFill>
                <a:schemeClr val="bg1"/>
              </a:solidFill>
              <a:latin typeface="Consolas"/>
            </a:endParaRPr>
          </a:p>
          <a:p>
            <a:pPr algn="l">
              <a:spcAft>
                <a:spcPts val="100"/>
              </a:spcAft>
            </a:pPr>
            <a:r>
              <a:rPr b="0" i="0" dirty="0">
                <a:solidFill>
                  <a:schemeClr val="bg1"/>
                </a:solidFill>
                <a:latin typeface="Consolas"/>
              </a:rPr>
              <a:t>    else:</a:t>
            </a:r>
          </a:p>
          <a:p>
            <a:pPr algn="l">
              <a:spcAft>
                <a:spcPts val="100"/>
              </a:spcAft>
            </a:pPr>
            <a:r>
              <a:rPr b="0" i="0" dirty="0">
                <a:solidFill>
                  <a:schemeClr val="bg1"/>
                </a:solidFill>
                <a:latin typeface="Consolas"/>
              </a:rPr>
              <a:t>        print("</a:t>
            </a:r>
            <a:r>
              <a:rPr b="0" i="0" dirty="0" err="1">
                <a:solidFill>
                  <a:schemeClr val="bg1"/>
                </a:solidFill>
                <a:latin typeface="Consolas"/>
              </a:rPr>
              <a:t>Отказ</a:t>
            </a:r>
            <a:r>
              <a:rPr b="0" i="0" dirty="0">
                <a:solidFill>
                  <a:schemeClr val="bg1"/>
                </a:solidFill>
                <a:latin typeface="Consolas"/>
              </a:rPr>
              <a:t>: </a:t>
            </a:r>
            <a:r>
              <a:rPr b="0" i="0" dirty="0" err="1">
                <a:solidFill>
                  <a:schemeClr val="bg1"/>
                </a:solidFill>
                <a:latin typeface="Consolas"/>
              </a:rPr>
              <a:t>не</a:t>
            </a:r>
            <a:r>
              <a:rPr b="0" i="0" dirty="0">
                <a:solidFill>
                  <a:schemeClr val="bg1"/>
                </a:solidFill>
                <a:latin typeface="Consolas"/>
              </a:rPr>
              <a:t> </a:t>
            </a:r>
            <a:r>
              <a:rPr b="0" i="0" dirty="0" err="1">
                <a:solidFill>
                  <a:schemeClr val="bg1"/>
                </a:solidFill>
                <a:latin typeface="Consolas"/>
              </a:rPr>
              <a:t>понимаю</a:t>
            </a:r>
            <a:r>
              <a:rPr b="0" i="0" dirty="0">
                <a:solidFill>
                  <a:schemeClr val="bg1"/>
                </a:solidFill>
                <a:latin typeface="Consolas"/>
              </a:rPr>
              <a:t>", c)  # </a:t>
            </a:r>
            <a:r>
              <a:rPr b="0" i="0" dirty="0" err="1">
                <a:solidFill>
                  <a:schemeClr val="bg1"/>
                </a:solidFill>
                <a:latin typeface="Consolas"/>
              </a:rPr>
              <a:t>не</a:t>
            </a:r>
            <a:r>
              <a:rPr b="0" i="0" dirty="0">
                <a:solidFill>
                  <a:schemeClr val="bg1"/>
                </a:solidFill>
                <a:latin typeface="Consolas"/>
              </a:rPr>
              <a:t> </a:t>
            </a:r>
            <a:r>
              <a:rPr b="0" i="0" dirty="0" err="1">
                <a:solidFill>
                  <a:schemeClr val="bg1"/>
                </a:solidFill>
                <a:latin typeface="Consolas"/>
              </a:rPr>
              <a:t>понимаю</a:t>
            </a:r>
            <a:endParaRPr b="0" i="0" dirty="0">
              <a:solidFill>
                <a:schemeClr val="bg1"/>
              </a:solidFill>
              <a:latin typeface="Consolas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7589520" y="1737360"/>
            <a:ext cx="3931920" cy="3977639"/>
          </a:xfrm>
          <a:prstGeom prst="roundRect">
            <a:avLst>
              <a:gd name="adj" fmla="val 6000"/>
            </a:avLst>
          </a:prstGeom>
          <a:solidFill>
            <a:srgbClr val="221C42"/>
          </a:solidFill>
          <a:ln w="25400">
            <a:solidFill>
              <a:srgbClr val="E8B8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818120" y="1874519"/>
            <a:ext cx="3520440" cy="3282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i="0" dirty="0" err="1">
                <a:solidFill>
                  <a:schemeClr val="bg1"/>
                </a:solidFill>
                <a:latin typeface="Calibri"/>
              </a:rPr>
              <a:t>Как</a:t>
            </a:r>
            <a:r>
              <a:rPr sz="2000" i="0" dirty="0">
                <a:solidFill>
                  <a:schemeClr val="bg1"/>
                </a:solidFill>
                <a:latin typeface="Calibri"/>
              </a:rPr>
              <a:t> </a:t>
            </a:r>
            <a:r>
              <a:rPr sz="2000" i="0" dirty="0" err="1">
                <a:solidFill>
                  <a:schemeClr val="bg1"/>
                </a:solidFill>
                <a:latin typeface="Calibri"/>
              </a:rPr>
              <a:t>это</a:t>
            </a:r>
            <a:r>
              <a:rPr sz="2000" i="0" dirty="0">
                <a:solidFill>
                  <a:schemeClr val="bg1"/>
                </a:solidFill>
                <a:latin typeface="Calibri"/>
              </a:rPr>
              <a:t> </a:t>
            </a:r>
            <a:r>
              <a:rPr sz="2000" i="0" dirty="0" err="1">
                <a:solidFill>
                  <a:schemeClr val="bg1"/>
                </a:solidFill>
                <a:latin typeface="Calibri"/>
              </a:rPr>
              <a:t>читать</a:t>
            </a:r>
            <a:endParaRPr sz="2000" i="0" dirty="0">
              <a:solidFill>
                <a:schemeClr val="bg1"/>
              </a:solidFill>
              <a:latin typeface="Calibri"/>
            </a:endParaRPr>
          </a:p>
          <a:p>
            <a:pPr algn="l">
              <a:spcAft>
                <a:spcPts val="1000"/>
              </a:spcAft>
            </a:pPr>
            <a:r>
              <a:rPr sz="2000" i="0" dirty="0" err="1">
                <a:solidFill>
                  <a:schemeClr val="bg1"/>
                </a:solidFill>
                <a:latin typeface="Calibri"/>
              </a:rPr>
              <a:t>Первые</a:t>
            </a:r>
            <a:r>
              <a:rPr sz="2000" i="0" dirty="0">
                <a:solidFill>
                  <a:schemeClr val="bg1"/>
                </a:solidFill>
                <a:latin typeface="Calibri"/>
              </a:rPr>
              <a:t> 4 </a:t>
            </a:r>
            <a:r>
              <a:rPr sz="2000" i="0" dirty="0" err="1">
                <a:solidFill>
                  <a:schemeClr val="bg1"/>
                </a:solidFill>
                <a:latin typeface="Calibri"/>
              </a:rPr>
              <a:t>ветки</a:t>
            </a:r>
            <a:r>
              <a:rPr sz="2000" i="0" dirty="0">
                <a:solidFill>
                  <a:schemeClr val="bg1"/>
                </a:solidFill>
                <a:latin typeface="Calibri"/>
              </a:rPr>
              <a:t>: </a:t>
            </a:r>
            <a:r>
              <a:rPr sz="2000" i="0" dirty="0" err="1">
                <a:solidFill>
                  <a:schemeClr val="bg1"/>
                </a:solidFill>
                <a:latin typeface="Calibri"/>
              </a:rPr>
              <a:t>команда</a:t>
            </a:r>
            <a:r>
              <a:rPr sz="2000" i="0" dirty="0">
                <a:solidFill>
                  <a:schemeClr val="bg1"/>
                </a:solidFill>
                <a:latin typeface="Calibri"/>
              </a:rPr>
              <a:t> </a:t>
            </a:r>
            <a:r>
              <a:rPr sz="2000" i="0" dirty="0" err="1">
                <a:solidFill>
                  <a:schemeClr val="bg1"/>
                </a:solidFill>
                <a:latin typeface="Calibri"/>
              </a:rPr>
              <a:t>знакомая</a:t>
            </a:r>
            <a:r>
              <a:rPr sz="2000" i="0" dirty="0">
                <a:solidFill>
                  <a:schemeClr val="bg1"/>
                </a:solidFill>
                <a:latin typeface="Calibri"/>
              </a:rPr>
              <a:t> и </a:t>
            </a:r>
            <a:r>
              <a:rPr sz="2000" i="0" dirty="0" err="1">
                <a:solidFill>
                  <a:schemeClr val="bg1"/>
                </a:solidFill>
                <a:latin typeface="Calibri"/>
              </a:rPr>
              <a:t>есть</a:t>
            </a:r>
            <a:r>
              <a:rPr sz="2000" i="0" dirty="0">
                <a:solidFill>
                  <a:schemeClr val="bg1"/>
                </a:solidFill>
                <a:latin typeface="Calibri"/>
              </a:rPr>
              <a:t> </a:t>
            </a:r>
            <a:r>
              <a:rPr sz="2000" i="0" dirty="0" err="1">
                <a:solidFill>
                  <a:schemeClr val="bg1"/>
                </a:solidFill>
                <a:latin typeface="Calibri"/>
              </a:rPr>
              <a:t>куда</a:t>
            </a:r>
            <a:r>
              <a:rPr sz="2000" i="0" dirty="0">
                <a:solidFill>
                  <a:schemeClr val="bg1"/>
                </a:solidFill>
                <a:latin typeface="Calibri"/>
              </a:rPr>
              <a:t> </a:t>
            </a:r>
            <a:r>
              <a:rPr sz="2000" i="0" dirty="0" err="1">
                <a:solidFill>
                  <a:schemeClr val="bg1"/>
                </a:solidFill>
                <a:latin typeface="Calibri"/>
              </a:rPr>
              <a:t>идти</a:t>
            </a:r>
            <a:r>
              <a:rPr sz="2000" i="0" dirty="0">
                <a:solidFill>
                  <a:schemeClr val="bg1"/>
                </a:solidFill>
                <a:latin typeface="Calibri"/>
              </a:rPr>
              <a:t>.</a:t>
            </a:r>
          </a:p>
          <a:p>
            <a:pPr algn="l">
              <a:spcAft>
                <a:spcPts val="1000"/>
              </a:spcAft>
            </a:pPr>
            <a:r>
              <a:rPr sz="2000" i="0" dirty="0" err="1">
                <a:solidFill>
                  <a:schemeClr val="bg1"/>
                </a:solidFill>
                <a:latin typeface="Calibri"/>
              </a:rPr>
              <a:t>Пятая</a:t>
            </a:r>
            <a:r>
              <a:rPr sz="2000" i="0" dirty="0">
                <a:solidFill>
                  <a:schemeClr val="bg1"/>
                </a:solidFill>
                <a:latin typeface="Calibri"/>
              </a:rPr>
              <a:t>: </a:t>
            </a:r>
            <a:r>
              <a:rPr sz="2000" i="0" dirty="0" err="1">
                <a:solidFill>
                  <a:schemeClr val="bg1"/>
                </a:solidFill>
                <a:latin typeface="Calibri"/>
              </a:rPr>
              <a:t>команда</a:t>
            </a:r>
            <a:r>
              <a:rPr sz="2000" i="0" dirty="0">
                <a:solidFill>
                  <a:schemeClr val="bg1"/>
                </a:solidFill>
                <a:latin typeface="Calibri"/>
              </a:rPr>
              <a:t> </a:t>
            </a:r>
            <a:r>
              <a:rPr sz="2000" i="0" dirty="0" err="1">
                <a:solidFill>
                  <a:schemeClr val="bg1"/>
                </a:solidFill>
                <a:latin typeface="Calibri"/>
              </a:rPr>
              <a:t>знакомая</a:t>
            </a:r>
            <a:r>
              <a:rPr sz="2000" i="0" dirty="0">
                <a:solidFill>
                  <a:schemeClr val="bg1"/>
                </a:solidFill>
                <a:latin typeface="Calibri"/>
              </a:rPr>
              <a:t>, </a:t>
            </a:r>
            <a:r>
              <a:rPr sz="2000" i="0" dirty="0" err="1">
                <a:solidFill>
                  <a:schemeClr val="bg1"/>
                </a:solidFill>
                <a:latin typeface="Calibri"/>
              </a:rPr>
              <a:t>но</a:t>
            </a:r>
            <a:r>
              <a:rPr sz="2000" i="0" dirty="0">
                <a:solidFill>
                  <a:schemeClr val="bg1"/>
                </a:solidFill>
                <a:latin typeface="Calibri"/>
              </a:rPr>
              <a:t> </a:t>
            </a:r>
            <a:r>
              <a:rPr sz="2000" i="0" dirty="0" err="1">
                <a:solidFill>
                  <a:schemeClr val="bg1"/>
                </a:solidFill>
                <a:latin typeface="Calibri"/>
              </a:rPr>
              <a:t>некуда</a:t>
            </a:r>
            <a:r>
              <a:rPr sz="2000" i="0" dirty="0">
                <a:solidFill>
                  <a:schemeClr val="bg1"/>
                </a:solidFill>
                <a:latin typeface="Calibri"/>
              </a:rPr>
              <a:t> — </a:t>
            </a:r>
            <a:r>
              <a:rPr sz="2000" i="0" dirty="0" err="1">
                <a:solidFill>
                  <a:schemeClr val="bg1"/>
                </a:solidFill>
                <a:latin typeface="Calibri"/>
              </a:rPr>
              <a:t>стена</a:t>
            </a:r>
            <a:r>
              <a:rPr sz="2000" i="0" dirty="0">
                <a:solidFill>
                  <a:schemeClr val="bg1"/>
                </a:solidFill>
                <a:latin typeface="Calibri"/>
              </a:rPr>
              <a:t>.</a:t>
            </a:r>
          </a:p>
          <a:p>
            <a:pPr algn="l">
              <a:spcAft>
                <a:spcPts val="1000"/>
              </a:spcAft>
            </a:pPr>
            <a:r>
              <a:rPr sz="2000" i="0" dirty="0">
                <a:solidFill>
                  <a:schemeClr val="bg1"/>
                </a:solidFill>
                <a:latin typeface="Calibri"/>
              </a:rPr>
              <a:t>else: </a:t>
            </a:r>
            <a:r>
              <a:rPr sz="2000" i="0" dirty="0" err="1">
                <a:solidFill>
                  <a:schemeClr val="bg1"/>
                </a:solidFill>
                <a:latin typeface="Calibri"/>
              </a:rPr>
              <a:t>всё</a:t>
            </a:r>
            <a:r>
              <a:rPr sz="2000" i="0" dirty="0">
                <a:solidFill>
                  <a:schemeClr val="bg1"/>
                </a:solidFill>
                <a:latin typeface="Calibri"/>
              </a:rPr>
              <a:t> </a:t>
            </a:r>
            <a:r>
              <a:rPr sz="2000" i="0" dirty="0" err="1">
                <a:solidFill>
                  <a:schemeClr val="bg1"/>
                </a:solidFill>
                <a:latin typeface="Calibri"/>
              </a:rPr>
              <a:t>остальное</a:t>
            </a:r>
            <a:r>
              <a:rPr sz="2000" i="0" dirty="0">
                <a:solidFill>
                  <a:schemeClr val="bg1"/>
                </a:solidFill>
                <a:latin typeface="Calibri"/>
              </a:rPr>
              <a:t> — </a:t>
            </a:r>
            <a:r>
              <a:rPr sz="2000" i="0" dirty="0" err="1">
                <a:solidFill>
                  <a:schemeClr val="bg1"/>
                </a:solidFill>
                <a:latin typeface="Calibri"/>
              </a:rPr>
              <a:t>незнакомая</a:t>
            </a:r>
            <a:r>
              <a:rPr sz="2000" i="0" dirty="0">
                <a:solidFill>
                  <a:schemeClr val="bg1"/>
                </a:solidFill>
                <a:latin typeface="Calibri"/>
              </a:rPr>
              <a:t> </a:t>
            </a:r>
            <a:r>
              <a:rPr sz="2000" i="0" dirty="0" err="1">
                <a:solidFill>
                  <a:schemeClr val="bg1"/>
                </a:solidFill>
                <a:latin typeface="Calibri"/>
              </a:rPr>
              <a:t>команда</a:t>
            </a:r>
            <a:r>
              <a:rPr sz="2000" i="0" dirty="0">
                <a:solidFill>
                  <a:schemeClr val="bg1"/>
                </a:solidFill>
                <a:latin typeface="Calibri"/>
              </a:rPr>
              <a:t>.</a:t>
            </a:r>
          </a:p>
          <a:p>
            <a:pPr algn="l">
              <a:spcAft>
                <a:spcPts val="1000"/>
              </a:spcAft>
            </a:pPr>
            <a:r>
              <a:rPr sz="2000" i="0" dirty="0" err="1">
                <a:solidFill>
                  <a:schemeClr val="bg1"/>
                </a:solidFill>
                <a:latin typeface="Calibri"/>
              </a:rPr>
              <a:t>Порядок</a:t>
            </a:r>
            <a:r>
              <a:rPr sz="2000" i="0" dirty="0">
                <a:solidFill>
                  <a:schemeClr val="bg1"/>
                </a:solidFill>
                <a:latin typeface="Calibri"/>
              </a:rPr>
              <a:t> </a:t>
            </a:r>
            <a:r>
              <a:rPr sz="2000" i="0" dirty="0" err="1">
                <a:solidFill>
                  <a:schemeClr val="bg1"/>
                </a:solidFill>
                <a:latin typeface="Calibri"/>
              </a:rPr>
              <a:t>веток</a:t>
            </a:r>
            <a:r>
              <a:rPr sz="2000" i="0" dirty="0">
                <a:solidFill>
                  <a:schemeClr val="bg1"/>
                </a:solidFill>
                <a:latin typeface="Calibri"/>
              </a:rPr>
              <a:t> </a:t>
            </a:r>
            <a:r>
              <a:rPr sz="2000" i="0" dirty="0" err="1">
                <a:solidFill>
                  <a:schemeClr val="bg1"/>
                </a:solidFill>
                <a:latin typeface="Calibri"/>
              </a:rPr>
              <a:t>важен</a:t>
            </a:r>
            <a:r>
              <a:rPr sz="2000" i="0" dirty="0">
                <a:solidFill>
                  <a:schemeClr val="bg1"/>
                </a:solidFill>
                <a:latin typeface="Calibri"/>
              </a:rPr>
              <a:t>: </a:t>
            </a:r>
            <a:r>
              <a:rPr sz="2000" i="0" dirty="0" err="1">
                <a:solidFill>
                  <a:schemeClr val="bg1"/>
                </a:solidFill>
                <a:latin typeface="Calibri"/>
              </a:rPr>
              <a:t>проверки</a:t>
            </a:r>
            <a:r>
              <a:rPr sz="2000" i="0" dirty="0">
                <a:solidFill>
                  <a:schemeClr val="bg1"/>
                </a:solidFill>
                <a:latin typeface="Calibri"/>
              </a:rPr>
              <a:t> </a:t>
            </a:r>
            <a:r>
              <a:rPr sz="2000" i="0" dirty="0" err="1">
                <a:solidFill>
                  <a:schemeClr val="bg1"/>
                </a:solidFill>
                <a:latin typeface="Calibri"/>
              </a:rPr>
              <a:t>идут</a:t>
            </a:r>
            <a:r>
              <a:rPr sz="2000" i="0" dirty="0">
                <a:solidFill>
                  <a:schemeClr val="bg1"/>
                </a:solidFill>
                <a:latin typeface="Calibri"/>
              </a:rPr>
              <a:t> </a:t>
            </a:r>
            <a:r>
              <a:rPr sz="2000" i="0" dirty="0" err="1">
                <a:solidFill>
                  <a:schemeClr val="bg1"/>
                </a:solidFill>
                <a:latin typeface="Calibri"/>
              </a:rPr>
              <a:t>сверху</a:t>
            </a:r>
            <a:r>
              <a:rPr sz="2000" i="0" dirty="0">
                <a:solidFill>
                  <a:schemeClr val="bg1"/>
                </a:solidFill>
                <a:latin typeface="Calibri"/>
              </a:rPr>
              <a:t> </a:t>
            </a:r>
            <a:r>
              <a:rPr sz="2000" i="0" dirty="0" err="1">
                <a:solidFill>
                  <a:schemeClr val="bg1"/>
                </a:solidFill>
                <a:latin typeface="Calibri"/>
              </a:rPr>
              <a:t>вниз</a:t>
            </a:r>
            <a:r>
              <a:rPr sz="2000" i="0" dirty="0">
                <a:solidFill>
                  <a:schemeClr val="bg1"/>
                </a:solidFill>
                <a:latin typeface="Calibri"/>
              </a:rPr>
              <a:t>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13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1" i="0">
                <a:solidFill>
                  <a:srgbClr val="FFFFFF"/>
                </a:solidFill>
                <a:latin typeface="Cambria"/>
              </a:rPr>
              <a:t>Дрон в Python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97280"/>
            <a:ext cx="108813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 i="1">
                <a:solidFill>
                  <a:srgbClr val="C3BEDA"/>
                </a:solidFill>
                <a:latin typeface="Calibri"/>
              </a:rPr>
              <a:t>Добавляем высоту h и заряд zaryad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37359"/>
            <a:ext cx="6035040" cy="4939601"/>
          </a:xfrm>
          <a:prstGeom prst="roundRect">
            <a:avLst>
              <a:gd name="adj" fmla="val 3000"/>
            </a:avLst>
          </a:prstGeom>
          <a:solidFill>
            <a:srgbClr val="0E0B1F"/>
          </a:solidFill>
          <a:ln w="15875">
            <a:solidFill>
              <a:srgbClr val="4A4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68680" y="1901952"/>
            <a:ext cx="5577840" cy="44755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2000" b="0" i="0" dirty="0">
                <a:solidFill>
                  <a:schemeClr val="bg1"/>
                </a:solidFill>
                <a:latin typeface="Consolas"/>
              </a:rPr>
              <a:t>x = 0</a:t>
            </a:r>
          </a:p>
          <a:p>
            <a:pPr algn="l">
              <a:spcAft>
                <a:spcPts val="100"/>
              </a:spcAft>
            </a:pPr>
            <a:r>
              <a:rPr sz="2000" b="0" i="0" dirty="0">
                <a:solidFill>
                  <a:schemeClr val="bg1"/>
                </a:solidFill>
                <a:latin typeface="Consolas"/>
              </a:rPr>
              <a:t>y = 0</a:t>
            </a:r>
          </a:p>
          <a:p>
            <a:pPr algn="l">
              <a:spcAft>
                <a:spcPts val="100"/>
              </a:spcAft>
            </a:pPr>
            <a:r>
              <a:rPr sz="2000" b="0" i="0" dirty="0">
                <a:solidFill>
                  <a:schemeClr val="bg1"/>
                </a:solidFill>
                <a:latin typeface="Consolas"/>
              </a:rPr>
              <a:t>h = 0</a:t>
            </a:r>
          </a:p>
          <a:p>
            <a:pPr algn="l">
              <a:spcAft>
                <a:spcPts val="100"/>
              </a:spcAft>
            </a:pPr>
            <a:r>
              <a:rPr sz="2000" b="0" i="0" dirty="0" err="1">
                <a:solidFill>
                  <a:schemeClr val="bg1"/>
                </a:solidFill>
                <a:latin typeface="Consolas"/>
              </a:rPr>
              <a:t>zaryad</a:t>
            </a:r>
            <a:r>
              <a:rPr sz="2000" b="0" i="0" dirty="0">
                <a:solidFill>
                  <a:schemeClr val="bg1"/>
                </a:solidFill>
                <a:latin typeface="Consolas"/>
              </a:rPr>
              <a:t> = 100</a:t>
            </a:r>
          </a:p>
          <a:p>
            <a:pPr algn="l">
              <a:spcAft>
                <a:spcPts val="100"/>
              </a:spcAft>
            </a:pPr>
            <a:r>
              <a:rPr sz="2000" b="0" i="0" dirty="0" err="1">
                <a:solidFill>
                  <a:schemeClr val="bg1"/>
                </a:solidFill>
                <a:latin typeface="Consolas"/>
              </a:rPr>
              <a:t>marshrut</a:t>
            </a:r>
            <a:r>
              <a:rPr sz="2000" b="0" i="0" dirty="0">
                <a:solidFill>
                  <a:schemeClr val="bg1"/>
                </a:solidFill>
                <a:latin typeface="Consolas"/>
              </a:rPr>
              <a:t> = "++EEENN--"</a:t>
            </a:r>
          </a:p>
          <a:p>
            <a:pPr algn="l">
              <a:spcAft>
                <a:spcPts val="100"/>
              </a:spcAft>
            </a:pPr>
            <a:r>
              <a:rPr sz="2000" b="0" i="0" dirty="0">
                <a:solidFill>
                  <a:schemeClr val="bg1"/>
                </a:solidFill>
                <a:latin typeface="Consolas"/>
              </a:rPr>
              <a:t> </a:t>
            </a:r>
          </a:p>
          <a:p>
            <a:pPr algn="l">
              <a:spcAft>
                <a:spcPts val="100"/>
              </a:spcAft>
            </a:pPr>
            <a:r>
              <a:rPr sz="2000" b="0" i="0" dirty="0">
                <a:solidFill>
                  <a:schemeClr val="bg1"/>
                </a:solidFill>
                <a:latin typeface="Consolas"/>
              </a:rPr>
              <a:t>for c in </a:t>
            </a:r>
            <a:r>
              <a:rPr sz="2000" b="0" i="0" dirty="0" err="1">
                <a:solidFill>
                  <a:schemeClr val="bg1"/>
                </a:solidFill>
                <a:latin typeface="Consolas"/>
              </a:rPr>
              <a:t>marshrut</a:t>
            </a:r>
            <a:r>
              <a:rPr sz="2000" b="0" i="0" dirty="0">
                <a:solidFill>
                  <a:schemeClr val="bg1"/>
                </a:solidFill>
                <a:latin typeface="Consolas"/>
              </a:rPr>
              <a:t>:</a:t>
            </a:r>
          </a:p>
          <a:p>
            <a:pPr algn="l">
              <a:spcAft>
                <a:spcPts val="100"/>
              </a:spcAft>
            </a:pPr>
            <a:r>
              <a:rPr sz="2000" b="0" i="0" dirty="0">
                <a:solidFill>
                  <a:schemeClr val="bg1"/>
                </a:solidFill>
                <a:latin typeface="Consolas"/>
              </a:rPr>
              <a:t>    if c == "E":</a:t>
            </a:r>
          </a:p>
          <a:p>
            <a:pPr algn="l">
              <a:spcAft>
                <a:spcPts val="100"/>
              </a:spcAft>
            </a:pPr>
            <a:r>
              <a:rPr sz="2000" b="0" i="0" dirty="0">
                <a:solidFill>
                  <a:schemeClr val="bg1"/>
                </a:solidFill>
                <a:latin typeface="Consolas"/>
              </a:rPr>
              <a:t>        x = x + 1</a:t>
            </a:r>
          </a:p>
          <a:p>
            <a:pPr algn="l">
              <a:spcAft>
                <a:spcPts val="100"/>
              </a:spcAft>
            </a:pPr>
            <a:r>
              <a:rPr sz="2000" b="0" i="0" dirty="0">
                <a:solidFill>
                  <a:schemeClr val="bg1"/>
                </a:solidFill>
                <a:latin typeface="Consolas"/>
              </a:rPr>
              <a:t>        </a:t>
            </a:r>
            <a:r>
              <a:rPr sz="2000" b="0" i="0" dirty="0" err="1">
                <a:solidFill>
                  <a:schemeClr val="bg1"/>
                </a:solidFill>
                <a:latin typeface="Consolas"/>
              </a:rPr>
              <a:t>zaryad</a:t>
            </a:r>
            <a:r>
              <a:rPr sz="2000" b="0" i="0" dirty="0">
                <a:solidFill>
                  <a:schemeClr val="bg1"/>
                </a:solidFill>
                <a:latin typeface="Consolas"/>
              </a:rPr>
              <a:t> = </a:t>
            </a:r>
            <a:r>
              <a:rPr sz="2000" b="0" i="0" dirty="0" err="1">
                <a:solidFill>
                  <a:schemeClr val="bg1"/>
                </a:solidFill>
                <a:latin typeface="Consolas"/>
              </a:rPr>
              <a:t>zaryad</a:t>
            </a:r>
            <a:r>
              <a:rPr sz="2000" b="0" i="0" dirty="0">
                <a:solidFill>
                  <a:schemeClr val="bg1"/>
                </a:solidFill>
                <a:latin typeface="Consolas"/>
              </a:rPr>
              <a:t> - 5</a:t>
            </a:r>
          </a:p>
          <a:p>
            <a:pPr algn="l">
              <a:spcAft>
                <a:spcPts val="100"/>
              </a:spcAft>
            </a:pPr>
            <a:r>
              <a:rPr sz="2000" b="0" i="0" dirty="0">
                <a:solidFill>
                  <a:schemeClr val="bg1"/>
                </a:solidFill>
                <a:latin typeface="Consolas"/>
              </a:rPr>
              <a:t>    </a:t>
            </a:r>
            <a:r>
              <a:rPr sz="2000" b="0" i="0" dirty="0" err="1">
                <a:solidFill>
                  <a:schemeClr val="bg1"/>
                </a:solidFill>
                <a:latin typeface="Consolas"/>
              </a:rPr>
              <a:t>elif</a:t>
            </a:r>
            <a:r>
              <a:rPr sz="2000" b="0" i="0" dirty="0">
                <a:solidFill>
                  <a:schemeClr val="bg1"/>
                </a:solidFill>
                <a:latin typeface="Consolas"/>
              </a:rPr>
              <a:t> c == "+":</a:t>
            </a:r>
          </a:p>
          <a:p>
            <a:pPr algn="l">
              <a:spcAft>
                <a:spcPts val="100"/>
              </a:spcAft>
            </a:pPr>
            <a:r>
              <a:rPr sz="2000" b="0" i="0" dirty="0">
                <a:solidFill>
                  <a:schemeClr val="bg1"/>
                </a:solidFill>
                <a:latin typeface="Consolas"/>
              </a:rPr>
              <a:t>        h = h + 1</a:t>
            </a:r>
          </a:p>
          <a:p>
            <a:pPr algn="l">
              <a:spcAft>
                <a:spcPts val="100"/>
              </a:spcAft>
            </a:pPr>
            <a:r>
              <a:rPr sz="2000" b="0" i="0" dirty="0">
                <a:solidFill>
                  <a:schemeClr val="bg1"/>
                </a:solidFill>
                <a:latin typeface="Consolas"/>
              </a:rPr>
              <a:t>        </a:t>
            </a:r>
            <a:r>
              <a:rPr sz="2000" b="0" i="0" dirty="0" err="1">
                <a:solidFill>
                  <a:schemeClr val="bg1"/>
                </a:solidFill>
                <a:latin typeface="Consolas"/>
              </a:rPr>
              <a:t>zaryad</a:t>
            </a:r>
            <a:r>
              <a:rPr sz="2000" b="0" i="0" dirty="0">
                <a:solidFill>
                  <a:schemeClr val="bg1"/>
                </a:solidFill>
                <a:latin typeface="Consolas"/>
              </a:rPr>
              <a:t> = </a:t>
            </a:r>
            <a:r>
              <a:rPr sz="2000" b="0" i="0" dirty="0" err="1">
                <a:solidFill>
                  <a:schemeClr val="bg1"/>
                </a:solidFill>
                <a:latin typeface="Consolas"/>
              </a:rPr>
              <a:t>zaryad</a:t>
            </a:r>
            <a:r>
              <a:rPr sz="2000" b="0" i="0" dirty="0">
                <a:solidFill>
                  <a:schemeClr val="bg1"/>
                </a:solidFill>
                <a:latin typeface="Consolas"/>
              </a:rPr>
              <a:t> - 10</a:t>
            </a:r>
          </a:p>
          <a:p>
            <a:pPr algn="l">
              <a:spcAft>
                <a:spcPts val="100"/>
              </a:spcAft>
            </a:pPr>
            <a:r>
              <a:rPr sz="2000" b="0" i="0" dirty="0">
                <a:solidFill>
                  <a:schemeClr val="bg1"/>
                </a:solidFill>
                <a:latin typeface="Consolas"/>
              </a:rPr>
              <a:t>    # ... N, S, W, - </a:t>
            </a:r>
            <a:r>
              <a:rPr sz="2000" b="0" i="0" dirty="0" err="1">
                <a:solidFill>
                  <a:schemeClr val="bg1"/>
                </a:solidFill>
                <a:latin typeface="Consolas"/>
              </a:rPr>
              <a:t>по</a:t>
            </a:r>
            <a:r>
              <a:rPr sz="2000" b="0" i="0" dirty="0">
                <a:solidFill>
                  <a:schemeClr val="bg1"/>
                </a:solidFill>
                <a:latin typeface="Consolas"/>
              </a:rPr>
              <a:t> </a:t>
            </a:r>
            <a:r>
              <a:rPr sz="2000" b="0" i="0" dirty="0" err="1">
                <a:solidFill>
                  <a:schemeClr val="bg1"/>
                </a:solidFill>
                <a:latin typeface="Consolas"/>
              </a:rPr>
              <a:t>образцу</a:t>
            </a:r>
            <a:endParaRPr sz="2000" b="0" i="0" dirty="0">
              <a:solidFill>
                <a:schemeClr val="bg1"/>
              </a:solidFill>
              <a:latin typeface="Consolas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6949440" y="1737360"/>
            <a:ext cx="4572000" cy="1828800"/>
          </a:xfrm>
          <a:prstGeom prst="roundRect">
            <a:avLst>
              <a:gd name="adj" fmla="val 6000"/>
            </a:avLst>
          </a:prstGeom>
          <a:solidFill>
            <a:srgbClr val="221C42"/>
          </a:solidFill>
          <a:ln w="25400">
            <a:solidFill>
              <a:srgbClr val="3DD6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178040" y="1874519"/>
            <a:ext cx="4114800" cy="13849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 i="0">
                <a:solidFill>
                  <a:schemeClr val="bg1"/>
                </a:solidFill>
                <a:latin typeface="Calibri"/>
              </a:rPr>
              <a:t>Вывод программы</a:t>
            </a:r>
          </a:p>
          <a:p>
            <a:pPr algn="l">
              <a:spcAft>
                <a:spcPts val="400"/>
              </a:spcAft>
            </a:pPr>
            <a:r>
              <a:rPr sz="2000" b="0" i="0">
                <a:solidFill>
                  <a:schemeClr val="bg1"/>
                </a:solidFill>
                <a:latin typeface="Consolas"/>
              </a:rPr>
              <a:t>Дрон в точке: 3 2</a:t>
            </a:r>
          </a:p>
          <a:p>
            <a:pPr algn="l">
              <a:spcAft>
                <a:spcPts val="400"/>
              </a:spcAft>
            </a:pPr>
            <a:r>
              <a:rPr sz="2000" b="0" i="0">
                <a:solidFill>
                  <a:schemeClr val="bg1"/>
                </a:solidFill>
                <a:latin typeface="Consolas"/>
              </a:rPr>
              <a:t>Высота: 0</a:t>
            </a:r>
          </a:p>
          <a:p>
            <a:pPr algn="l">
              <a:spcAft>
                <a:spcPts val="400"/>
              </a:spcAft>
            </a:pPr>
            <a:r>
              <a:rPr sz="2000" b="0" i="0">
                <a:solidFill>
                  <a:schemeClr val="bg1"/>
                </a:solidFill>
                <a:latin typeface="Consolas"/>
              </a:rPr>
              <a:t>Заряд: 51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949440" y="3749039"/>
            <a:ext cx="4572000" cy="2057400"/>
          </a:xfrm>
          <a:prstGeom prst="roundRect">
            <a:avLst>
              <a:gd name="adj" fmla="val 6000"/>
            </a:avLst>
          </a:prstGeom>
          <a:solidFill>
            <a:srgbClr val="221C42"/>
          </a:solidFill>
          <a:ln w="25400">
            <a:solidFill>
              <a:srgbClr val="F2789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178040" y="3886200"/>
            <a:ext cx="4114800" cy="16158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chemeClr val="bg1"/>
                </a:solidFill>
                <a:latin typeface="Calibri"/>
              </a:rPr>
              <a:t>Сверьте с моделью</a:t>
            </a:r>
          </a:p>
          <a:p>
            <a:pPr algn="l">
              <a:spcAft>
                <a:spcPts val="600"/>
              </a:spcAft>
            </a:pPr>
            <a:r>
              <a:rPr sz="2000" b="0" i="0">
                <a:solidFill>
                  <a:schemeClr val="bg1"/>
                </a:solidFill>
                <a:latin typeface="Calibri"/>
              </a:rPr>
              <a:t>Вчера по формуле: расход 49 %. Программа: 100 − 51 = 49. Модель и программа согласны — это и есть тест.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13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1" i="0">
                <a:solidFill>
                  <a:srgbClr val="FFFFFF"/>
                </a:solidFill>
                <a:latin typeface="Cambria"/>
              </a:rPr>
              <a:t>Практика урока 14: компьютер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97280"/>
            <a:ext cx="108813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 i="1">
                <a:solidFill>
                  <a:srgbClr val="C3BEDA"/>
                </a:solidFill>
                <a:latin typeface="Calibri"/>
              </a:rPr>
              <a:t>Python IDLE. Каждое задание — в своём файле или под комментарием # Задание 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83080"/>
            <a:ext cx="5303520" cy="713232"/>
          </a:xfrm>
          <a:prstGeom prst="roundRect">
            <a:avLst>
              <a:gd name="adj" fmla="val 6000"/>
            </a:avLst>
          </a:prstGeom>
          <a:solidFill>
            <a:srgbClr val="221C42"/>
          </a:solidFill>
          <a:ln w="22225">
            <a:solidFill>
              <a:srgbClr val="4FD1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777240" y="1947672"/>
            <a:ext cx="384048" cy="384048"/>
          </a:xfrm>
          <a:prstGeom prst="ellipse">
            <a:avLst/>
          </a:prstGeom>
          <a:solidFill>
            <a:srgbClr val="4FD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/>
            <a:r>
              <a:rPr sz="1500" b="1">
                <a:solidFill>
                  <a:srgbClr val="17132E"/>
                </a:solidFill>
                <a:latin typeface="Calibr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783080"/>
            <a:ext cx="4480559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FFFFFF"/>
                </a:solidFill>
                <a:latin typeface="Calibri"/>
              </a:rPr>
              <a:t>Ручное управление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651760"/>
            <a:ext cx="5303520" cy="713232"/>
          </a:xfrm>
          <a:prstGeom prst="roundRect">
            <a:avLst>
              <a:gd name="adj" fmla="val 6000"/>
            </a:avLst>
          </a:prstGeom>
          <a:solidFill>
            <a:srgbClr val="221C42"/>
          </a:solidFill>
          <a:ln w="22225">
            <a:solidFill>
              <a:srgbClr val="4FD1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777240" y="2816352"/>
            <a:ext cx="384048" cy="384048"/>
          </a:xfrm>
          <a:prstGeom prst="ellipse">
            <a:avLst/>
          </a:prstGeom>
          <a:solidFill>
            <a:srgbClr val="4FD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/>
            <a:r>
              <a:rPr sz="1500" b="1">
                <a:solidFill>
                  <a:srgbClr val="17132E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2651760"/>
            <a:ext cx="4480559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FFFFFF"/>
                </a:solidFill>
                <a:latin typeface="Calibri"/>
              </a:rPr>
              <a:t>Программа для робота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520439"/>
            <a:ext cx="5303520" cy="713232"/>
          </a:xfrm>
          <a:prstGeom prst="roundRect">
            <a:avLst>
              <a:gd name="adj" fmla="val 6000"/>
            </a:avLst>
          </a:prstGeom>
          <a:solidFill>
            <a:srgbClr val="221C42"/>
          </a:solidFill>
          <a:ln w="22225">
            <a:solidFill>
              <a:srgbClr val="4FD1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777240" y="3685031"/>
            <a:ext cx="384048" cy="384048"/>
          </a:xfrm>
          <a:prstGeom prst="ellipse">
            <a:avLst/>
          </a:prstGeom>
          <a:solidFill>
            <a:srgbClr val="4FD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/>
            <a:r>
              <a:rPr sz="1500" b="1">
                <a:solidFill>
                  <a:srgbClr val="17132E"/>
                </a:solidFill>
                <a:latin typeface="Calibr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3520439"/>
            <a:ext cx="4480559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FFFFFF"/>
                </a:solidFill>
                <a:latin typeface="Calibri"/>
              </a:rPr>
              <a:t>Трассировка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4389120"/>
            <a:ext cx="5303520" cy="713232"/>
          </a:xfrm>
          <a:prstGeom prst="roundRect">
            <a:avLst>
              <a:gd name="adj" fmla="val 6000"/>
            </a:avLst>
          </a:prstGeom>
          <a:solidFill>
            <a:srgbClr val="221C42"/>
          </a:solidFill>
          <a:ln w="22225">
            <a:solidFill>
              <a:srgbClr val="4FD1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777240" y="4553712"/>
            <a:ext cx="384048" cy="384048"/>
          </a:xfrm>
          <a:prstGeom prst="ellipse">
            <a:avLst/>
          </a:prstGeom>
          <a:solidFill>
            <a:srgbClr val="4FD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/>
            <a:r>
              <a:rPr sz="1500" b="1">
                <a:solidFill>
                  <a:srgbClr val="17132E"/>
                </a:solidFill>
                <a:latin typeface="Calibri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25880" y="4389120"/>
            <a:ext cx="4480559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FFFFFF"/>
                </a:solidFill>
                <a:latin typeface="Calibri"/>
              </a:rPr>
              <a:t>Вернулся ли домой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2200" y="1783080"/>
            <a:ext cx="5303520" cy="713232"/>
          </a:xfrm>
          <a:prstGeom prst="roundRect">
            <a:avLst>
              <a:gd name="adj" fmla="val 6000"/>
            </a:avLst>
          </a:prstGeom>
          <a:solidFill>
            <a:srgbClr val="221C42"/>
          </a:solidFill>
          <a:ln w="22225">
            <a:solidFill>
              <a:srgbClr val="4FD1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6309360" y="1947672"/>
            <a:ext cx="384048" cy="384048"/>
          </a:xfrm>
          <a:prstGeom prst="ellipse">
            <a:avLst/>
          </a:prstGeom>
          <a:solidFill>
            <a:srgbClr val="4FD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/>
            <a:r>
              <a:rPr sz="1500" b="1">
                <a:solidFill>
                  <a:srgbClr val="17132E"/>
                </a:solidFill>
                <a:latin typeface="Calibri"/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0" y="1783080"/>
            <a:ext cx="4480559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FFFFFF"/>
                </a:solidFill>
                <a:latin typeface="Calibri"/>
              </a:rPr>
              <a:t>Отказы исполнителя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72200" y="2651760"/>
            <a:ext cx="5303520" cy="713232"/>
          </a:xfrm>
          <a:prstGeom prst="roundRect">
            <a:avLst>
              <a:gd name="adj" fmla="val 6000"/>
            </a:avLst>
          </a:prstGeom>
          <a:solidFill>
            <a:srgbClr val="221C42"/>
          </a:solidFill>
          <a:ln w="22225">
            <a:solidFill>
              <a:srgbClr val="E8B8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6309360" y="2816352"/>
            <a:ext cx="384048" cy="384048"/>
          </a:xfrm>
          <a:prstGeom prst="ellipse">
            <a:avLst/>
          </a:prstGeom>
          <a:solidFill>
            <a:srgbClr val="E8B8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/>
            <a:r>
              <a:rPr sz="1500" b="1">
                <a:solidFill>
                  <a:srgbClr val="17132E"/>
                </a:solidFill>
                <a:latin typeface="Calibri"/>
              </a:rPr>
              <a:t>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0" y="2651760"/>
            <a:ext cx="4480559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FFFFFF"/>
                </a:solidFill>
                <a:latin typeface="Calibri"/>
              </a:rPr>
              <a:t>Полёт дрона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72200" y="3520439"/>
            <a:ext cx="5303520" cy="713232"/>
          </a:xfrm>
          <a:prstGeom prst="roundRect">
            <a:avLst>
              <a:gd name="adj" fmla="val 6000"/>
            </a:avLst>
          </a:prstGeom>
          <a:solidFill>
            <a:srgbClr val="221C42"/>
          </a:solidFill>
          <a:ln w="22225">
            <a:solidFill>
              <a:srgbClr val="E8B8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6309360" y="3685031"/>
            <a:ext cx="384048" cy="384048"/>
          </a:xfrm>
          <a:prstGeom prst="ellipse">
            <a:avLst/>
          </a:prstGeom>
          <a:solidFill>
            <a:srgbClr val="E8B8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/>
            <a:r>
              <a:rPr sz="1500" b="1">
                <a:solidFill>
                  <a:srgbClr val="17132E"/>
                </a:solidFill>
                <a:latin typeface="Calibri"/>
              </a:rPr>
              <a:t>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0" y="3520439"/>
            <a:ext cx="4480559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FFFFFF"/>
                </a:solidFill>
                <a:latin typeface="Calibri"/>
              </a:rPr>
              <a:t>Автопилот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72200" y="4389120"/>
            <a:ext cx="5303520" cy="713232"/>
          </a:xfrm>
          <a:prstGeom prst="roundRect">
            <a:avLst>
              <a:gd name="adj" fmla="val 6000"/>
            </a:avLst>
          </a:prstGeom>
          <a:solidFill>
            <a:srgbClr val="221C42"/>
          </a:solidFill>
          <a:ln w="22225">
            <a:solidFill>
              <a:srgbClr val="F2789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6309360" y="4553712"/>
            <a:ext cx="384048" cy="384048"/>
          </a:xfrm>
          <a:prstGeom prst="ellipse">
            <a:avLst/>
          </a:prstGeom>
          <a:solidFill>
            <a:srgbClr val="F278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/>
            <a:r>
              <a:rPr sz="1500" b="1">
                <a:solidFill>
                  <a:srgbClr val="17132E"/>
                </a:solidFill>
                <a:latin typeface="Calibri"/>
              </a:rPr>
              <a:t>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0" y="4389120"/>
            <a:ext cx="4480559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FFFFFF"/>
                </a:solidFill>
                <a:latin typeface="Calibri"/>
              </a:rPr>
              <a:t>Безопасный полёт ★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5349240"/>
            <a:ext cx="53035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4FD1E0"/>
                </a:solidFill>
                <a:latin typeface="Calibri"/>
              </a:rPr>
              <a:t>1—5 — робот: выполняют все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72200" y="5349240"/>
            <a:ext cx="53035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E8B84B"/>
                </a:solidFill>
                <a:latin typeface="Calibri"/>
              </a:rPr>
              <a:t>6—8 — дрон: по мере готовности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5897880"/>
            <a:ext cx="108813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 i="1">
                <a:solidFill>
                  <a:srgbClr val="4FD1E0"/>
                </a:solidFill>
                <a:latin typeface="Calibri"/>
              </a:rPr>
              <a:t>Правило: прочитай сообщение об ошибке и номер строки сам — потом поднимай руку.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13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40080" y="411480"/>
            <a:ext cx="2011680" cy="384048"/>
          </a:xfrm>
          <a:prstGeom prst="roundRect">
            <a:avLst>
              <a:gd name="adj" fmla="val 20000"/>
            </a:avLst>
          </a:prstGeom>
          <a:solidFill>
            <a:srgbClr val="F278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/>
            <a:r>
              <a:rPr sz="1300" b="1">
                <a:solidFill>
                  <a:srgbClr val="17132E"/>
                </a:solidFill>
                <a:latin typeface="Calibri"/>
              </a:rPr>
              <a:t>ЧАСТЫЕ ОШИБКИ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05840"/>
            <a:ext cx="108813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1" i="0">
                <a:solidFill>
                  <a:srgbClr val="FFFFFF"/>
                </a:solidFill>
                <a:latin typeface="Cambria"/>
              </a:rPr>
              <a:t>Робот стоит, а должен ехать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874519"/>
            <a:ext cx="10881360" cy="676656"/>
          </a:xfrm>
          <a:prstGeom prst="roundRect">
            <a:avLst>
              <a:gd name="adj" fmla="val 6000"/>
            </a:avLst>
          </a:prstGeom>
          <a:solidFill>
            <a:srgbClr val="221C42"/>
          </a:solidFill>
          <a:ln w="19050">
            <a:solidFill>
              <a:srgbClr val="4FD1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68680" y="1874519"/>
            <a:ext cx="3291840" cy="6766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4FD1E0"/>
                </a:solidFill>
                <a:latin typeface="Consolas"/>
              </a:rPr>
              <a:t>"r" вместо "R"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06240" y="1874519"/>
            <a:ext cx="7132320" cy="6766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FFFFFF"/>
                </a:solidFill>
                <a:latin typeface="Calibri"/>
              </a:rPr>
              <a:t>Python различает большие и малые буквы. Команда r — незнакомая.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660903"/>
            <a:ext cx="10881360" cy="676656"/>
          </a:xfrm>
          <a:prstGeom prst="roundRect">
            <a:avLst>
              <a:gd name="adj" fmla="val 6000"/>
            </a:avLst>
          </a:prstGeom>
          <a:solidFill>
            <a:srgbClr val="221C42"/>
          </a:solidFill>
          <a:ln w="19050">
            <a:solidFill>
              <a:srgbClr val="E8B8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2660903"/>
            <a:ext cx="3291840" cy="6766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E8B84B"/>
                </a:solidFill>
                <a:latin typeface="Consolas"/>
              </a:rPr>
              <a:t>Русская «Е» в маршруте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06240" y="2660903"/>
            <a:ext cx="7132320" cy="6766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FFFFFF"/>
                </a:solidFill>
                <a:latin typeface="Calibri"/>
              </a:rPr>
              <a:t>Буквы выглядят одинаково, но это разные символы. Пишите маршрут в английской раскладке.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447287"/>
            <a:ext cx="10881360" cy="676656"/>
          </a:xfrm>
          <a:prstGeom prst="roundRect">
            <a:avLst>
              <a:gd name="adj" fmla="val 6000"/>
            </a:avLst>
          </a:prstGeom>
          <a:solidFill>
            <a:srgbClr val="221C42"/>
          </a:solidFill>
          <a:ln w="19050">
            <a:solidFill>
              <a:srgbClr val="F2789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68680" y="3447287"/>
            <a:ext cx="3291840" cy="6766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F2789F"/>
                </a:solidFill>
                <a:latin typeface="Consolas"/>
              </a:rPr>
              <a:t>Тире вместо минуса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06240" y="3447287"/>
            <a:ext cx="7132320" cy="6766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FFFFFF"/>
                </a:solidFill>
                <a:latin typeface="Calibri"/>
              </a:rPr>
              <a:t>«−» из Word — не «-» с клавиатуры. Дрон не опустится.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4233672"/>
            <a:ext cx="10881360" cy="676656"/>
          </a:xfrm>
          <a:prstGeom prst="roundRect">
            <a:avLst>
              <a:gd name="adj" fmla="val 6000"/>
            </a:avLst>
          </a:prstGeom>
          <a:solidFill>
            <a:srgbClr val="221C42"/>
          </a:solidFill>
          <a:ln w="19050">
            <a:solidFill>
              <a:srgbClr val="3DD6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68680" y="4233672"/>
            <a:ext cx="3291840" cy="6766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3DD6A0"/>
                </a:solidFill>
                <a:latin typeface="Consolas"/>
              </a:rPr>
              <a:t>= вместо ==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06240" y="4233672"/>
            <a:ext cx="7132320" cy="6766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FFFFFF"/>
                </a:solidFill>
                <a:latin typeface="Calibri"/>
              </a:rPr>
              <a:t>if c = "R": — синтаксическая ошибка. Сравнение — два знака.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5020056"/>
            <a:ext cx="10881360" cy="676656"/>
          </a:xfrm>
          <a:prstGeom prst="roundRect">
            <a:avLst>
              <a:gd name="adj" fmla="val 6000"/>
            </a:avLst>
          </a:prstGeom>
          <a:solidFill>
            <a:srgbClr val="221C42"/>
          </a:solidFill>
          <a:ln w="19050">
            <a:solidFill>
              <a:srgbClr val="8B7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68680" y="5020056"/>
            <a:ext cx="3291840" cy="6766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8B7CF6"/>
                </a:solidFill>
                <a:latin typeface="Consolas"/>
              </a:rPr>
              <a:t>Нет отступа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06240" y="5020056"/>
            <a:ext cx="7132320" cy="6766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FFFFFF"/>
                </a:solidFill>
                <a:latin typeface="Calibri"/>
              </a:rPr>
              <a:t>Строки внутри for и if сдвигаются на 4 пробела.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13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1" i="0">
                <a:solidFill>
                  <a:srgbClr val="FFFFFF"/>
                </a:solidFill>
                <a:latin typeface="Cambria"/>
              </a:rPr>
              <a:t>Домашнее задание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463040"/>
            <a:ext cx="10881360" cy="1051560"/>
          </a:xfrm>
          <a:prstGeom prst="roundRect">
            <a:avLst>
              <a:gd name="adj" fmla="val 6000"/>
            </a:avLst>
          </a:prstGeom>
          <a:solidFill>
            <a:srgbClr val="221C42"/>
          </a:solidFill>
          <a:ln w="25400">
            <a:solidFill>
              <a:srgbClr val="4FD1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2560320" cy="10515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4FD1E0"/>
                </a:solidFill>
                <a:latin typeface="Calibri"/>
              </a:rPr>
              <a:t>Всем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0" y="1463040"/>
            <a:ext cx="7863840" cy="10515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FFFFFF"/>
                </a:solidFill>
                <a:latin typeface="Calibri"/>
              </a:rPr>
              <a:t>Выписать шесть стадий решения задачи и для каждой привести пример из задачи «покупка тетрадей со скидкой».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697480"/>
            <a:ext cx="10881360" cy="1051560"/>
          </a:xfrm>
          <a:prstGeom prst="roundRect">
            <a:avLst>
              <a:gd name="adj" fmla="val 6000"/>
            </a:avLst>
          </a:prstGeom>
          <a:solidFill>
            <a:srgbClr val="221C42"/>
          </a:solidFill>
          <a:ln w="25400">
            <a:solidFill>
              <a:srgbClr val="E8B8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2697480"/>
            <a:ext cx="2560320" cy="10515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E8B84B"/>
                </a:solidFill>
                <a:latin typeface="Calibri"/>
              </a:rPr>
              <a:t>Всем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0" y="2697480"/>
            <a:ext cx="7863840" cy="10515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FFFFFF"/>
                </a:solidFill>
                <a:latin typeface="Calibri"/>
              </a:rPr>
              <a:t>Составить систему команд для робота-уборщика (5—6 команд) и придумать по одному отказу «не понимаю» и «не могу».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931920"/>
            <a:ext cx="10881360" cy="1051560"/>
          </a:xfrm>
          <a:prstGeom prst="roundRect">
            <a:avLst>
              <a:gd name="adj" fmla="val 6000"/>
            </a:avLst>
          </a:prstGeom>
          <a:solidFill>
            <a:srgbClr val="221C42"/>
          </a:solidFill>
          <a:ln w="25400">
            <a:solidFill>
              <a:srgbClr val="3DD6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3931920"/>
            <a:ext cx="2560320" cy="10515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3DD6A0"/>
                </a:solidFill>
                <a:latin typeface="Calibri"/>
              </a:rPr>
              <a:t>Если есть компьютер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0" y="3931920"/>
            <a:ext cx="7863840" cy="10515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FFFFFF"/>
                </a:solidFill>
                <a:latin typeface="Calibri"/>
              </a:rPr>
              <a:t>Дополнить программу робота командой «Z» — вернуться в клетку (0; 0) одним шагом.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394960"/>
            <a:ext cx="108813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 i="1">
                <a:solidFill>
                  <a:srgbClr val="C3BEDA"/>
                </a:solidFill>
                <a:latin typeface="Calibri"/>
              </a:rPr>
              <a:t>§ ____, стр. ____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13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9692640" y="3291840"/>
            <a:ext cx="4023360" cy="4023360"/>
          </a:xfrm>
          <a:prstGeom prst="ellipse">
            <a:avLst/>
          </a:prstGeom>
          <a:solidFill>
            <a:srgbClr val="231C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91440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 i="0">
                <a:solidFill>
                  <a:srgbClr val="FFFFFF"/>
                </a:solidFill>
                <a:latin typeface="Cambria"/>
              </a:rPr>
              <a:t>Итог занятия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91640"/>
            <a:ext cx="8778240" cy="3657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 i="0">
                <a:solidFill>
                  <a:srgbClr val="FFFFFF"/>
                </a:solidFill>
                <a:latin typeface="Calibri"/>
              </a:rPr>
              <a:t>• Задачу решают в шесть стадий; код — только четвёртая</a:t>
            </a:r>
          </a:p>
          <a:p>
            <a:pPr algn="l">
              <a:spcAft>
                <a:spcPts val="1000"/>
              </a:spcAft>
            </a:pPr>
            <a:r>
              <a:rPr sz="2000" b="0" i="0">
                <a:solidFill>
                  <a:srgbClr val="FFFFFF"/>
                </a:solidFill>
                <a:latin typeface="Calibri"/>
              </a:rPr>
              <a:t>• Модель переводит описание в формулы и сама что-то упрощает</a:t>
            </a:r>
          </a:p>
          <a:p>
            <a:pPr algn="l">
              <a:spcAft>
                <a:spcPts val="1000"/>
              </a:spcAft>
            </a:pPr>
            <a:r>
              <a:rPr sz="2000" b="0" i="0">
                <a:solidFill>
                  <a:srgbClr val="FFFFFF"/>
                </a:solidFill>
                <a:latin typeface="Calibri"/>
              </a:rPr>
              <a:t>• Тест — данные с заранее известным ответом</a:t>
            </a:r>
          </a:p>
          <a:p>
            <a:pPr algn="l">
              <a:spcAft>
                <a:spcPts val="1000"/>
              </a:spcAft>
            </a:pPr>
            <a:r>
              <a:rPr sz="2000" b="0" i="0">
                <a:solidFill>
                  <a:srgbClr val="FFFFFF"/>
                </a:solidFill>
                <a:latin typeface="Calibri"/>
              </a:rPr>
              <a:t>• Исполнитель имеет среду, систему команд и выполняет их формально</a:t>
            </a:r>
          </a:p>
          <a:p>
            <a:pPr algn="l">
              <a:spcAft>
                <a:spcPts val="1000"/>
              </a:spcAft>
            </a:pPr>
            <a:r>
              <a:rPr sz="2000" b="0" i="0">
                <a:solidFill>
                  <a:srgbClr val="FFFFFF"/>
                </a:solidFill>
                <a:latin typeface="Calibri"/>
              </a:rPr>
              <a:t>• Отказы бывают двух видов: «не понимаю» и «не могу»</a:t>
            </a:r>
          </a:p>
          <a:p>
            <a:pPr algn="l">
              <a:spcAft>
                <a:spcPts val="1000"/>
              </a:spcAft>
            </a:pPr>
            <a:r>
              <a:rPr sz="2000" b="0" i="0">
                <a:solidFill>
                  <a:srgbClr val="FFFFFF"/>
                </a:solidFill>
                <a:latin typeface="Calibri"/>
              </a:rPr>
              <a:t>• Робот в Python: x, y — положение, строка — программа, цикл — исполнение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669280"/>
            <a:ext cx="91440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 i="1">
                <a:solidFill>
                  <a:srgbClr val="E8B84B"/>
                </a:solidFill>
                <a:latin typeface="Calibri"/>
              </a:rPr>
              <a:t>Исполнитель сделает ровно то, что вы написали. Не то, что вы имели в виду.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2667</Words>
  <Application>Microsoft Office PowerPoint</Application>
  <PresentationFormat>Широкоэкранный</PresentationFormat>
  <Paragraphs>347</Paragraphs>
  <Slides>23</Slides>
  <Notes>19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23</vt:i4>
      </vt:variant>
    </vt:vector>
  </HeadingPairs>
  <TitlesOfParts>
    <vt:vector size="28" baseType="lpstr">
      <vt:lpstr>Arial</vt:lpstr>
      <vt:lpstr>Calibri</vt:lpstr>
      <vt:lpstr>Cambria</vt:lpstr>
      <vt:lpstr>Consolas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Мухаммадчон Мусоев</cp:lastModifiedBy>
  <cp:revision>3</cp:revision>
  <dcterms:created xsi:type="dcterms:W3CDTF">2013-01-27T09:14:16Z</dcterms:created>
  <dcterms:modified xsi:type="dcterms:W3CDTF">2026-10-23T15:16:33Z</dcterms:modified>
  <cp:category/>
</cp:coreProperties>
</file>