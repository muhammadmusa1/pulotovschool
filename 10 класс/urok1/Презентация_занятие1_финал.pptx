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84" r:id="rId4"/>
    <p:sldId id="260" r:id="rId5"/>
    <p:sldId id="261" r:id="rId6"/>
    <p:sldId id="263" r:id="rId7"/>
    <p:sldId id="264" r:id="rId8"/>
    <p:sldId id="265" r:id="rId9"/>
    <p:sldId id="285" r:id="rId10"/>
    <p:sldId id="28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66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Приветствие, знакомство. Далее — инструктаж по технике безопасности с регистрацией в журнале (7 минут).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класс: где ещё видели зависшую программу. Связь с их опытом важнее определения — определение будет через два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F312-D2A1-BF83-00FD-B3C822FA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CED0C-A550-C609-0D54-718A8254D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C6779-C0D4-18E6-3068-2FCA845B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бытовые примеры. Спросить у класса свои примеры алгоритмов.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DCE4B-0B55-1F81-575F-17C1A01279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23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бытовые примеры. Спросить у класса свои примеры алгоритмов.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Опрос класса по каждой строке до показа правого столбца. Дать высказаться, не спешить.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Обязательно проговорить вслух: «представьте, я даю не 20, а 30 — что делать?» Без этого класс не увидит разницы: для них оба примера звучат как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Оценка: 2 балла — верно указано нарушенное свойство; 1 балл — только пример без объяснения. Свойства ещё не разбирали формально, поэтому принимается объяснение своими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свойство проговаривать через правый столбец: сначала пример из жизни, потом термин. Без примера свойства забудутся к следующему уроку.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D4A1-F985-AC55-A0D8-7EA460DF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B81E4-B5F6-4B10-3F0E-78D54CB84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D1946-AD90-7172-2670-16F8A9B6E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свойство проговаривать через правый столбец: сначала пример из жизни, потом термин. Без примера свойства забудутся к следующему уроку.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F3BB-50FE-C3E0-C559-E24C2E41E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16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носители. Запуск среды: 6 минут, проверить на каждом рабочем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Требование: набирать самостоятельно, не копировать. Задача 1-3 в листе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Верно: print("Мой класс:", 10) либо print("Мой класс: 10"). Оба варианта принимаются. 1 балл за верный синтаксис. Частая ошибка: print(Мой класс: 10) без кавычек.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2 в листе: дети сами портят свой код и записывают, что сообщила среда.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1) не закрыта кавычка; 2) Print с большой буквы; 3) лишний пробел перед print — отступ в начале строки. По 1 баллу за каждую найденную. Третья строка самая трудная: пробел заметен не всем.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4-7 в листе. Контролировать осмысленность имён.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5 / 5 / a. Первые две строки выводят одно и то же, хотя типы разные: у a это текст, у b число. Третья выводит букву a, потому что она в кавычках. Оценка: 2 балла за все три строки, 1 балл за две из трёх.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9-12 в листе. Обычное деление всегда даёт дробь: 10 / 5 это 2.0, а не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3 и 2. Пятёрка укладывается в 17 три раза, остаётся 2. Оценка: 1 балл, только если оба ответа верны.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8 в листе. Подчеркнуть: запуск без ошибок не означает верный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Периметр: 26, Площадь: 30. Проверка: 2 * (10 + 3) = 26, 10 * 3 = 30. Оценка: 1 балл за оба числа. Считать в уме, программу не запускать.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Учитель говорит первые и последние 5 минут. Остальное время — консультации по местам.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Максимум 5 баллов. Обходить класс, проверять по мере готовности. Отмечать, кто застрял, — им помочь адресно.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 Проверить, что все записали задание в дневник.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свойств: дискретность, определённость, конечность, результативность, массовость. По 1 баллу каждому, кто назвал верно и не повторился. Продолжать, пока не назовут все пять.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Отметки за работу на обоих часах. Собрать анкеты входной диагностики.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 первая программа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 — теория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452628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45262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 — практика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 работает уже сейчас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«пригодится потом» — работает вокруг вас каждый день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32688" y="24871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Нажал W — идёшь вперёд, нажал пробел — прыгаешь. Каждое действие персонажа записано как алгоритм: если нажато то, делай это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Зависший телефон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64808" y="24871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попала в шаг, из которого нет выхода. Батарейка садится за час. Нарушено свойство конечности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32688" y="4050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помощник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32688" y="45445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«включи свет на кухне» и не понимает «включи что-нибудь». Разница — в точности указания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4808" y="4050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Автопилот в машине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64808" y="45445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Решает: тормозить или объезжать. Если указание допускает два толкования — авария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четырёх случаях работает или ломается одно и то же — алгоритм.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0644C-43F4-2C3B-64F3-B0E84249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DC7AB8-CA89-1C9F-7FB3-0E76BBBB479D}"/>
              </a:ext>
            </a:extLst>
          </p:cNvPr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алгоритм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E0216D-88D8-A7E4-8A9C-7A57EFBE2DC8}"/>
              </a:ext>
            </a:extLst>
          </p:cNvPr>
          <p:cNvSpPr/>
          <p:nvPr/>
        </p:nvSpPr>
        <p:spPr>
          <a:xfrm>
            <a:off x="640080" y="1417320"/>
            <a:ext cx="6766560" cy="2331720"/>
          </a:xfrm>
          <a:prstGeom prst="roundRect">
            <a:avLst>
              <a:gd name="adj" fmla="val 4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1B9C58-65AA-A169-470E-5F8FF02E4A7C}"/>
              </a:ext>
            </a:extLst>
          </p:cNvPr>
          <p:cNvSpPr txBox="1"/>
          <p:nvPr/>
        </p:nvSpPr>
        <p:spPr>
          <a:xfrm>
            <a:off x="914400" y="17830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точное и понятное предписание исполнителю выполнить конечную последовательность действий, приводящую к решению задачи.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CB4087-D258-9DAD-AF8C-658235E1F070}"/>
              </a:ext>
            </a:extLst>
          </p:cNvPr>
          <p:cNvSpPr txBox="1"/>
          <p:nvPr/>
        </p:nvSpPr>
        <p:spPr>
          <a:xfrm>
            <a:off x="7690104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EE8B0C-138A-129B-61EA-0966190EC648}"/>
              </a:ext>
            </a:extLst>
          </p:cNvPr>
          <p:cNvSpPr txBox="1"/>
          <p:nvPr/>
        </p:nvSpPr>
        <p:spPr>
          <a:xfrm>
            <a:off x="7772400" y="2103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28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</a:t>
            </a:r>
            <a:endParaRPr lang="en-US" sz="28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C329CF-4B36-9873-A5B6-28E3555E2B00}"/>
              </a:ext>
            </a:extLst>
          </p:cNvPr>
          <p:cNvSpPr txBox="1"/>
          <p:nvPr/>
        </p:nvSpPr>
        <p:spPr>
          <a:xfrm>
            <a:off x="640080" y="394662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указание может быть алгоритмом для одного исполнителя и не быть им для другого.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55A316D-5BFE-3B02-1170-C7D78ECABC3B}"/>
              </a:ext>
            </a:extLst>
          </p:cNvPr>
          <p:cNvSpPr/>
          <p:nvPr/>
        </p:nvSpPr>
        <p:spPr>
          <a:xfrm>
            <a:off x="640080" y="4678142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1B590F-5A7B-CD06-D708-655438596003}"/>
              </a:ext>
            </a:extLst>
          </p:cNvPr>
          <p:cNvSpPr txBox="1"/>
          <p:nvPr/>
        </p:nvSpPr>
        <p:spPr>
          <a:xfrm>
            <a:off x="752856" y="470916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до школы</a:t>
            </a: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1FAC09C-8B43-2291-7C3C-ECB09377E092}"/>
              </a:ext>
            </a:extLst>
          </p:cNvPr>
          <p:cNvSpPr/>
          <p:nvPr/>
        </p:nvSpPr>
        <p:spPr>
          <a:xfrm>
            <a:off x="3411340" y="4678142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AC7C8C6-C891-8A35-99DB-BAA31AB780D8}"/>
              </a:ext>
            </a:extLst>
          </p:cNvPr>
          <p:cNvSpPr txBox="1"/>
          <p:nvPr/>
        </p:nvSpPr>
        <p:spPr>
          <a:xfrm>
            <a:off x="3607308" y="4759004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плова</a:t>
            </a:r>
            <a:endParaRPr lang="en-US" sz="15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6DC1166-DEAC-1C01-EC27-0A9BC1E7E594}"/>
              </a:ext>
            </a:extLst>
          </p:cNvPr>
          <p:cNvSpPr/>
          <p:nvPr/>
        </p:nvSpPr>
        <p:spPr>
          <a:xfrm>
            <a:off x="6210660" y="4678142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04B3DE-A308-A4F9-951C-E64F0D1B0DD4}"/>
              </a:ext>
            </a:extLst>
          </p:cNvPr>
          <p:cNvSpPr txBox="1"/>
          <p:nvPr/>
        </p:nvSpPr>
        <p:spPr>
          <a:xfrm>
            <a:off x="6300216" y="4694816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к мебели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D2725D-7A97-C130-9990-73BE46A94346}"/>
              </a:ext>
            </a:extLst>
          </p:cNvPr>
          <p:cNvSpPr/>
          <p:nvPr/>
        </p:nvSpPr>
        <p:spPr>
          <a:xfrm>
            <a:off x="8914772" y="469427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80B8ABD-5C70-C464-F9C9-2C164456FF1C}"/>
              </a:ext>
            </a:extLst>
          </p:cNvPr>
          <p:cNvSpPr txBox="1"/>
          <p:nvPr/>
        </p:nvSpPr>
        <p:spPr>
          <a:xfrm>
            <a:off x="9061704" y="473013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игры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244470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600" dirty="0">
                <a:solidFill>
                  <a:schemeClr val="bg1"/>
                </a:solidFill>
                <a:latin typeface="Century" panose="02040604050505020304" pitchFamily="18" charset="0"/>
              </a:rPr>
              <a:t>Почему «алгоритм» так называется?</a:t>
            </a:r>
            <a:endParaRPr lang="en-US" sz="3600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34639" y="1274552"/>
            <a:ext cx="6424954" cy="4308895"/>
          </a:xfrm>
          <a:prstGeom prst="roundRect">
            <a:avLst>
              <a:gd name="adj" fmla="val 4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5123" y="1521267"/>
            <a:ext cx="6003986" cy="3815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📜 IX век, город Багдад</a:t>
            </a:r>
          </a:p>
          <a:p>
            <a:endParaRPr lang="ru-RU" sz="20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Учёный по имени Мухаммад ибн Муса аль-Хорезми</a:t>
            </a:r>
          </a:p>
          <a:p>
            <a:endParaRPr lang="ru-RU" sz="20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Написал книгу «Об индийском счёте» — </a:t>
            </a: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 том, как решать задачи с числами</a:t>
            </a:r>
          </a:p>
          <a:p>
            <a:endParaRPr lang="ru-RU" sz="20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В книге были чёткие пошаговые правила:</a:t>
            </a: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как складывать, вычитать, умножать и делить</a:t>
            </a:r>
          </a:p>
          <a:p>
            <a:endParaRPr lang="ru-RU" sz="20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Латинский перевод его имени → </a:t>
            </a:r>
            <a:r>
              <a:rPr lang="ru-RU" sz="20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Algoritmi</a:t>
            </a:r>
            <a:endParaRPr lang="ru-RU" sz="20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ru-RU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Отсюда → АЛГОРИТМ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6A894BB-3784-D522-0062-07A15DFE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044" y="1921101"/>
            <a:ext cx="5345897" cy="29183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или нет?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каждую инструкцию — можно ли её выполнить однозначно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Возьми немного риса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— «немного»?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706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 20 на 4, потом на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77063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только для числа 20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80390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прямо, пока не устанешь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8039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остановиться?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837176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837176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Умножь введённое число на 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83717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 и работает для любого числа</a:t>
            </a:r>
            <a:endParaRPr lang="en-US" sz="2400" b="1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три выполнить нельзя. Почему — разберём сейчас.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«раздели 20 на 4» — не алгоритм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трудное место сегодняшнего занятия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«Раздели 20 на 4»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 вам число 20 — работает.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 30 — инструкция сломалась: в ней написано именно 20.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«Умножь введённое число на 2»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 20 — работает.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 30 — тоже работает.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 любое число — работает.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массовость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9560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должен работать для всех похожих задач, а не для одного конкретного случая. Иначе это не алгоритм, а разовое указание.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любого алгоритма: подставьте другие числа. Сломался — значит нарушена массовость.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 · 2 минуты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Придумайте свой пример НЕ алгоритма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8892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 пример в тетрадь</a:t>
            </a:r>
            <a:endParaRPr lang="en-US" sz="2400" b="1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72160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напишите, почему это не алгоритм</a:t>
            </a:r>
            <a:endParaRPr lang="en-US" sz="2400" b="1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914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2 минуты 3—4 человека зачитают вслух.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свойств алгоритма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хотя бы одно — выполнить нельзя. Справа — что будет в жизни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56816"/>
            <a:ext cx="438912" cy="43891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Дискретность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7830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 на отдельные шаги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1783080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Скажи компьютеру «сделай яичницу» — не поймёт. Нужно: достань яйцо, разбей, нагрей сковороду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438912" cy="43891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68833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Определённость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68833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понятен однозначно</a:t>
            </a:r>
            <a:endParaRPr lang="en-US" sz="20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8833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Скажи голосовому помощнику «включи что-нибудь» — не поймёт. «Включи свет на кухне» — поймёт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767328"/>
            <a:ext cx="438912" cy="43891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5935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Конечность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59359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Заканчивается за конечное число шагов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00800" y="3593592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без выхода — телефон зависает и садится батарейка. Это и есть нарушенная конечность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98848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672584"/>
            <a:ext cx="438912" cy="438912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49884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Результативность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657600" y="449884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определённый результат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00800" y="4498848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«Подумай над задачей» — результата нет. «Выведи ответ на экран» — есть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404104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577840"/>
            <a:ext cx="438912" cy="43891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577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40410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Массовость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540410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для класса похожих задач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400800" y="5404104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считает любые числа, а не только 2 + 2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FC88E-73A3-8E9F-D029-A5626C03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5C7466-E956-7C9A-5EEF-5D66C1D1AB25}"/>
              </a:ext>
            </a:extLst>
          </p:cNvPr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Самые популярные алгоритмы 2026 года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4A1381-FC0E-D277-A1A6-E61DC83546DE}"/>
              </a:ext>
            </a:extLst>
          </p:cNvPr>
          <p:cNvSpPr/>
          <p:nvPr/>
        </p:nvSpPr>
        <p:spPr>
          <a:xfrm>
            <a:off x="412376" y="1783080"/>
            <a:ext cx="11322424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000DAE-4A71-93C4-516B-5EDB62FD994F}"/>
              </a:ext>
            </a:extLst>
          </p:cNvPr>
          <p:cNvSpPr/>
          <p:nvPr/>
        </p:nvSpPr>
        <p:spPr>
          <a:xfrm>
            <a:off x="868680" y="1956816"/>
            <a:ext cx="438912" cy="43891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05E740-70A3-8B99-04ED-3650D7D825FA}"/>
              </a:ext>
            </a:extLst>
          </p:cNvPr>
          <p:cNvSpPr txBox="1"/>
          <p:nvPr/>
        </p:nvSpPr>
        <p:spPr>
          <a:xfrm>
            <a:off x="822960" y="19705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24CD14-EE5A-4252-25AA-8CE70201E789}"/>
              </a:ext>
            </a:extLst>
          </p:cNvPr>
          <p:cNvSpPr txBox="1"/>
          <p:nvPr/>
        </p:nvSpPr>
        <p:spPr>
          <a:xfrm>
            <a:off x="1463040" y="178308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Для таблиц и бизнеса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DE7643-3795-AEB7-12D1-FB03BE4AE002}"/>
              </a:ext>
            </a:extLst>
          </p:cNvPr>
          <p:cNvSpPr txBox="1"/>
          <p:nvPr/>
        </p:nvSpPr>
        <p:spPr>
          <a:xfrm>
            <a:off x="3657600" y="17830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LightGBM</a:t>
            </a:r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CatBoost</a:t>
            </a:r>
            <a:endParaRPr lang="ru-RU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707F10-931C-667B-1627-3DFEC08A62C2}"/>
              </a:ext>
            </a:extLst>
          </p:cNvPr>
          <p:cNvSpPr txBox="1"/>
          <p:nvPr/>
        </p:nvSpPr>
        <p:spPr>
          <a:xfrm>
            <a:off x="6431280" y="213055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anose="020F0302020204030204" pitchFamily="34" charset="0"/>
              </a:rPr>
              <a:t>Предсказывают: кто купит товар, кто уйдёт из банка, цена акций [citation:3]</a:t>
            </a:r>
          </a:p>
          <a:p>
            <a:br>
              <a:rPr lang="ru-RU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8A35B4A-0AEE-1EC8-780B-4A51F94C859E}"/>
              </a:ext>
            </a:extLst>
          </p:cNvPr>
          <p:cNvSpPr/>
          <p:nvPr/>
        </p:nvSpPr>
        <p:spPr>
          <a:xfrm>
            <a:off x="412376" y="2688336"/>
            <a:ext cx="11109064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9CA0E4-995D-7223-F187-0BB67C8EA624}"/>
              </a:ext>
            </a:extLst>
          </p:cNvPr>
          <p:cNvSpPr/>
          <p:nvPr/>
        </p:nvSpPr>
        <p:spPr>
          <a:xfrm>
            <a:off x="868680" y="2862072"/>
            <a:ext cx="438912" cy="43891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DABF71E-20E2-7C86-8831-5E8932B4757A}"/>
              </a:ext>
            </a:extLst>
          </p:cNvPr>
          <p:cNvSpPr txBox="1"/>
          <p:nvPr/>
        </p:nvSpPr>
        <p:spPr>
          <a:xfrm>
            <a:off x="868680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996806-0C75-D072-DC64-7E98AC861DEC}"/>
              </a:ext>
            </a:extLst>
          </p:cNvPr>
          <p:cNvSpPr txBox="1"/>
          <p:nvPr/>
        </p:nvSpPr>
        <p:spPr>
          <a:xfrm>
            <a:off x="1463040" y="268833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Для рекомендаций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29E69C-EA8C-6ED9-FA7A-72860A64BDB4}"/>
              </a:ext>
            </a:extLst>
          </p:cNvPr>
          <p:cNvSpPr txBox="1"/>
          <p:nvPr/>
        </p:nvSpPr>
        <p:spPr>
          <a:xfrm>
            <a:off x="3657600" y="268833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K-</a:t>
            </a:r>
            <a:r>
              <a:rPr lang="ru-RU" sz="20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Means</a:t>
            </a:r>
            <a:r>
              <a:rPr lang="ru-RU" sz="2000" dirty="0">
                <a:solidFill>
                  <a:schemeClr val="bg1"/>
                </a:solidFill>
              </a:rPr>
              <a:t> + </a:t>
            </a:r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KNN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30104F3-5C7D-7DC4-8360-21BFB409F038}"/>
              </a:ext>
            </a:extLst>
          </p:cNvPr>
          <p:cNvSpPr txBox="1"/>
          <p:nvPr/>
        </p:nvSpPr>
        <p:spPr>
          <a:xfrm>
            <a:off x="6400800" y="268833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dirty="0"/>
              <a:t> </a:t>
            </a:r>
            <a:r>
              <a:rPr lang="ru-RU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anose="020F0302020204030204" pitchFamily="34" charset="0"/>
              </a:rPr>
              <a:t>«Вам может понравиться» в YouTube и TikTok [citation:1][citation:5]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CBAEBD2-4C2C-96EF-58A2-BEA1524F026E}"/>
              </a:ext>
            </a:extLst>
          </p:cNvPr>
          <p:cNvSpPr/>
          <p:nvPr/>
        </p:nvSpPr>
        <p:spPr>
          <a:xfrm>
            <a:off x="412376" y="3593592"/>
            <a:ext cx="11109064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DC05BCE-CD86-916A-B97E-3832291167DA}"/>
              </a:ext>
            </a:extLst>
          </p:cNvPr>
          <p:cNvSpPr/>
          <p:nvPr/>
        </p:nvSpPr>
        <p:spPr>
          <a:xfrm>
            <a:off x="868680" y="3767328"/>
            <a:ext cx="438912" cy="43891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703128-32C3-504F-E6D2-1B23332D50BC}"/>
              </a:ext>
            </a:extLst>
          </p:cNvPr>
          <p:cNvSpPr txBox="1"/>
          <p:nvPr/>
        </p:nvSpPr>
        <p:spPr>
          <a:xfrm>
            <a:off x="868680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2E94FF-3385-583E-D306-31608E2B30EE}"/>
              </a:ext>
            </a:extLst>
          </p:cNvPr>
          <p:cNvSpPr txBox="1"/>
          <p:nvPr/>
        </p:nvSpPr>
        <p:spPr>
          <a:xfrm>
            <a:off x="1463040" y="35935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Для прогнозов времени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66AE62F-CAA5-9E1C-ADCD-A9F704ED7DC7}"/>
              </a:ext>
            </a:extLst>
          </p:cNvPr>
          <p:cNvSpPr txBox="1"/>
          <p:nvPr/>
        </p:nvSpPr>
        <p:spPr>
          <a:xfrm>
            <a:off x="3657600" y="365302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LSTM / RNN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17DBEFB-C047-0929-01D6-043E7FB092B9}"/>
              </a:ext>
            </a:extLst>
          </p:cNvPr>
          <p:cNvSpPr txBox="1"/>
          <p:nvPr/>
        </p:nvSpPr>
        <p:spPr>
          <a:xfrm>
            <a:off x="6400800" y="3593592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anose="020F0302020204030204" pitchFamily="34" charset="0"/>
              </a:rPr>
              <a:t>Погода, пробки, тренды в соцсетях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A4DDFD9-CE3B-AB69-51CD-26C1A9D9AD73}"/>
              </a:ext>
            </a:extLst>
          </p:cNvPr>
          <p:cNvSpPr/>
          <p:nvPr/>
        </p:nvSpPr>
        <p:spPr>
          <a:xfrm>
            <a:off x="412376" y="4498848"/>
            <a:ext cx="11109064" cy="786384"/>
          </a:xfrm>
          <a:prstGeom prst="roundRect">
            <a:avLst>
              <a:gd name="adj" fmla="val 814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5BB6A66-5EAF-2066-AD4C-E4D306B10E6D}"/>
              </a:ext>
            </a:extLst>
          </p:cNvPr>
          <p:cNvSpPr/>
          <p:nvPr/>
        </p:nvSpPr>
        <p:spPr>
          <a:xfrm>
            <a:off x="868680" y="4672584"/>
            <a:ext cx="438912" cy="438912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DA8ACE1-1B74-4A7B-7C99-478EB8A204F8}"/>
              </a:ext>
            </a:extLst>
          </p:cNvPr>
          <p:cNvSpPr txBox="1"/>
          <p:nvPr/>
        </p:nvSpPr>
        <p:spPr>
          <a:xfrm>
            <a:off x="868680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705EC61-BC5E-9506-76DD-5CEEBD241697}"/>
              </a:ext>
            </a:extLst>
          </p:cNvPr>
          <p:cNvSpPr txBox="1"/>
          <p:nvPr/>
        </p:nvSpPr>
        <p:spPr>
          <a:xfrm>
            <a:off x="1463040" y="449884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Для поиска и текстов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3608CAE-2875-E154-C387-D7A1A3607063}"/>
              </a:ext>
            </a:extLst>
          </p:cNvPr>
          <p:cNvSpPr txBox="1"/>
          <p:nvPr/>
        </p:nvSpPr>
        <p:spPr>
          <a:xfrm>
            <a:off x="3657600" y="449884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1"/>
            <a:r>
              <a:rPr lang="ru-RU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Transformer</a:t>
            </a:r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(LLM)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30DD19B-7A2D-D52A-A5D9-5A5272962E6A}"/>
              </a:ext>
            </a:extLst>
          </p:cNvPr>
          <p:cNvSpPr txBox="1"/>
          <p:nvPr/>
        </p:nvSpPr>
        <p:spPr>
          <a:xfrm>
            <a:off x="6400800" y="4498848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anose="020F0302020204030204" pitchFamily="34" charset="0"/>
              </a:rPr>
              <a:t>ChatGPT, поиск Яндекса, умные помощники</a:t>
            </a:r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9955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B4BE79-7FD8-508B-9864-A0E9DC82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" y="1"/>
            <a:ext cx="12187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65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749040"/>
            <a:ext cx="4937760" cy="493776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пишем сами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алгоритм — но записанный так, чтобы его выполнил компьютер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на экран: print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67512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110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print("Салом, дуне!")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10)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print("Информатика", "-", "первый урок")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635240" y="1783080"/>
            <a:ext cx="3886200" cy="1600200"/>
          </a:xfrm>
          <a:prstGeom prst="roundRect">
            <a:avLst>
              <a:gd name="adj" fmla="val 457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1901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всегда в кавычках.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— без кавычек.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появится в области вывода: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7398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Салом, дуне!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Информатика - первый урок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одного print можно писать несколько значений через запятую — они выведутся через пробел.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НА ЛИСТОЧКЕ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команду, которая выведет на экран: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916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Мой класс: 10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3584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 синтаксис: кавычки, запятую, скобки.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10881360" cy="2176272"/>
          </a:xfrm>
          <a:prstGeom prst="roundRect">
            <a:avLst>
              <a:gd name="adj" fmla="val 2941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— это не провал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сообщении всегда есть номер строки. Смотри сначала туда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кавычка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unterminated string literal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58952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кавычки: сколько открыл — столько закрой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скобка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'(' was never closed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5895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скобки в указанной строке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Написано Print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61188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'Print' is not defined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589520" y="3886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print маленькими буквами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37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пробел в начале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61188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 indent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589520" y="4937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 пробелы перед print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не значит «ты не справился». Это подсказка: в ней написано, где и что не так. Правило урока — сначала прочитай сам, потом поднимай руку.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ОШИБКУ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 баллу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первым найдёт ошибку в каждой строке?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76656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91693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print("Привет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Print("Hello")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print("bye")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0965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третьей строке ошибку видно не сразу — смотрите на начало строки.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645152"/>
            <a:ext cx="10881360" cy="1664208"/>
          </a:xfrm>
          <a:prstGeom prst="roundRect">
            <a:avLst>
              <a:gd name="adj" fmla="val 3846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для значения, которое хранится в памяти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18470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5577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print("Имя:", imya)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klass)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0" y="178308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путаница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print("imya")  →  imya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print(imya)    →  Фаррух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154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кавычках — сам текст. Без кавычек — значение переменной.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39776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4096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переменных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4988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Можно: imya, klass, cena_tetradi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Нельзя: 1klass, моё имя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появится на экране: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943600" cy="822960"/>
          </a:xfrm>
          <a:prstGeom prst="roundRect">
            <a:avLst>
              <a:gd name="adj" fmla="val 5556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0599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Имя: Фаррух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943600" cy="1188720"/>
          </a:xfrm>
          <a:prstGeom prst="roundRect">
            <a:avLst>
              <a:gd name="adj" fmla="val 615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212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— это коробка с именем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77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print(imya) — открываю коробку и показываю, что внутри.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print("imya") — показываю бумажку с надписью, коробку не трогаю.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выведет этот код?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7024744" cy="20756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916936"/>
            <a:ext cx="6400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"5"</a:t>
            </a:r>
            <a:endParaRPr lang="en-US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</a:t>
            </a:r>
            <a:endParaRPr lang="en-US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</a:t>
            </a:r>
            <a:endParaRPr lang="en-US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print("a")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864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в тетрадь три строки — то, что появится на экране.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Арифметика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деления вместо одного — это важно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8288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76148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61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6148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6941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6941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694176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1828800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18288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18288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2761488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276148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047488" y="2761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// 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76148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3694176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70832" y="36941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6941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694176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182880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// и %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ученика по 5 в группе: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788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// 5 = 4 группы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24 % 5 = 4 осталось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разбирают число на цифры: 47 // 10 = 4, 47 % 10 = 7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54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как в математике: сначала * и /, потом + и -. Скобки меняют порядок.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СКОРОСТЬ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будет?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766560" cy="822960"/>
          </a:xfrm>
          <a:prstGeom prst="roundRect">
            <a:avLst>
              <a:gd name="adj" fmla="val 5556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91693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// 5 = ?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17 % 5 = ?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тот, кто первым поднял руку. Балл — если верны оба.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0881360" cy="1920240"/>
          </a:xfrm>
          <a:prstGeom prst="roundRect">
            <a:avLst>
              <a:gd name="adj" fmla="val 3333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целиком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алгоритм с первого часа — теперь в виде кода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2359152"/>
          </a:xfrm>
          <a:prstGeom prst="roundRect">
            <a:avLst>
              <a:gd name="adj" fmla="val 193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ploshad = dlina * shirina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perimetr)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ploshad)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пример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длине 6 и ширине 4: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= 20, площадь = 24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43800" y="37033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2245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посчитай на бумаге, потом запусти. Совпало — программа верна.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может запуститься без ошибок и всё равно считать неверно. Проверка обязательна.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изменится, если длина 10, а ширина 3?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в тетрадь только числа, которые появятся на экране.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работу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задач и шпаргалка — на столе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38144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66744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4—7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8—12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 и деление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34272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13—16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справился быстро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работы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0109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программу запускай и сверяй результат.  ·  Ошибка? Прочитай сообщение и найди номер строки.  ·  Не помнишь синтаксис — смотри шпаргалку.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КОНТРОЛЬ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баллов · 15 минут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1—7 из листа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8892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балла за каждую верную программу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72160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сдаёт первым — проверяю сразу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654296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помнишь синтаксис — смотри шпаргалку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241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13—16 для тех, кто закончил раньше. Они не оцениваются баллами, но идут в отметку за урок.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874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алгоритма «перейти улицу по светофору». Оба выхода из ромба подписать словами «да» и «нет»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2004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в тетради программу расчёта периметра и указать, что она выведет при длине 10 и ширине 3</a:t>
            </a:r>
            <a:endParaRPr lang="en-US" sz="2000" b="1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5262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выводит сведения о себе четырьмя строками с использованием переменных</a:t>
            </a:r>
            <a:endParaRPr lang="en-US" sz="2000" b="1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для домашнего задания не обязателен: первые два задания выполняются в тетради.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НА ВЫХОДЕ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Назовите одно свойство алгоритма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по цепочке. Нельзя повторять то, что назвал предыдущий.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05840"/>
            <a:ext cx="5120640" cy="512064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точное предписание, у него пять свойств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свойство — выполнить нельзя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написали первую работающую программу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сообщает номер строки — читать её, а не пугаться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контрольном примере обязательна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49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начнёт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10702</TotalTime>
  <Words>2195</Words>
  <Application>Microsoft Office PowerPoint</Application>
  <PresentationFormat>Широкоэкранный</PresentationFormat>
  <Paragraphs>325</Paragraphs>
  <Slides>26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Cambria</vt:lpstr>
      <vt:lpstr>Century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6</cp:revision>
  <dcterms:created xsi:type="dcterms:W3CDTF">2026-09-04T16:00:26Z</dcterms:created>
  <dcterms:modified xsi:type="dcterms:W3CDTF">2026-09-12T02:50:59Z</dcterms:modified>
</cp:coreProperties>
</file>