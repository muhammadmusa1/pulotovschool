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84" r:id="rId4"/>
    <p:sldId id="260" r:id="rId5"/>
    <p:sldId id="261" r:id="rId6"/>
    <p:sldId id="263" r:id="rId7"/>
    <p:sldId id="264" r:id="rId8"/>
    <p:sldId id="265" r:id="rId9"/>
    <p:sldId id="285" r:id="rId10"/>
    <p:sldId id="28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366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Приветствие, знакомство. Далее — инструктаж по технике безопасности с регистрацией в журнале (7 минут).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Спросить класс: где ещё видели зависшую программу. Связь с их опытом важнее определения — определение будет через два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F312-D2A1-BF83-00FD-B3C822FAA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CED0C-A550-C609-0D54-718A8254D1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C6779-C0D4-18E6-3068-2FCA845B4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Разобрать бытовые примеры. Спросить у класса свои примеры алгоритмов.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DCE4B-0B55-1F81-575F-17C1A01279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3233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Разобрать бытовые примеры. Спросить у класса свои примеры алгоритмов.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Опрос класса по каждой строке до показа правого столбца. Дать высказаться, не спешить.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Обязательно проговорить вслух: «представьте, я даю не 20, а 30 — что делать?» Без этого класс не увидит разницы: для них оба примера звучат как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Оценка: 2 балла — верно указано нарушенное свойство; 1 балл — только пример без объяснения. Свойства ещё не разбирали формально, поэтому принимается объяснение своими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Каждое свойство проговаривать через правый столбец: сначала пример из жизни, потом термин. Без примера свойства забудутся к следующему уроку.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FD4A1-F985-AC55-A0D8-7EA460DF8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B81E4-B5F6-4B10-3F0E-78D54CB84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D1946-AD90-7172-2670-16F8A9B6E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Каждое свойство проговаривать через правый столбец: сначала пример из жизни, потом термин. Без примера свойства забудутся к следующему уроку.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0F3BB-50FE-C3E0-C559-E24C2E41ED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168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Раздать носители. Запуск среды: 6 минут, проверить на каждом рабочем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Требование: набирать самостоятельно, не копировать. Задача 1-3 в листе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Верно: print("Мой класс:", 10) либо print("Мой класс: 10"). Оба варианта принимаются. 1 балл за верный синтаксис. Частая ошибка: print(Мой класс: 10) без кавычек.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2 в листе: дети сами портят свой код и записывают, что сообщила среда.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1) не закрыта кавычка; 2) Print с большой буквы; 3) лишний пробел перед print — отступ в начале строки. По 1 баллу за каждую найденную. Третья строка самая трудная: пробел заметен не всем.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Задачи 4-7 в листе. Контролировать осмысленность имён.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5 / 5 / a. Первые две строки выводят одно и то же, хотя типы разные: у a это текст, у b число. Третья выводит букву a, потому что она в кавычках. Оценка: 2 балла за все три строки, 1 балл за две из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Задачи 9-12 в листе. Обычное деление всегда даёт дробь: 10 / 5 это 2.0, а не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3 и 2. Пятёрка укладывается в 17 три раза, остаётся 2. Оценка: 1 балл, только если оба ответа верны.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8 в листе. Подчеркнуть: запуск без ошибок не означает верный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Периметр: 26, Площадь: 30. Проверка: 2 * (10 + 3) = 26, 10 * 3 = 30. Оценка: 1 балл за оба числа. Считать в уме, программу не запускать.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Учитель говорит первые и последние 5 минут. Остальное время — консультации по местам.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Максимум 5 баллов. Обходить класс, проверять по мере готовности. Отмечать, кто застрял, — им помочь адресно.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Учебник: параграф и страницы вписать. Проверить, что все записали задание в дневник.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свойств: дискретность, определённость, конечность, результативность, массовость. По 1 баллу каждому, кто назвал верно и не повторился. Продолжать, пока не назовут все пять.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Отметки за работу на обоих часах. Собрать анкеты входной диагностики.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023360" cy="4023360"/>
          </a:xfrm>
          <a:prstGeom prst="ellipse">
            <a:avLst/>
          </a:prstGeom>
          <a:solidFill>
            <a:srgbClr val="4FD1E0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ЗАНЯТИЕ 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 и первая программа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3703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Информатика · 10 класс · 90 минут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52628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5262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 — теория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94760" y="452628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45262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 — практика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это работает уже сейчас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«пригодится потом» — работает вокруг вас каждый день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2688" y="19933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48716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Нажал W — идёшь вперёд, нажал пробел — прыгаешь. Каждое действие персонажа записано как алгоритм: если нажато то, делай это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4808" y="19933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Зависший телефон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64808" y="248716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попала в шаг, из которого нет выхода. Батарейка садится за час. Нарушено свойство конечности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32688" y="4050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Голосовой помощник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54456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Понимает «включи свет на кухне» и не понимает «включи что-нибудь». Разница — в точности указания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3886200"/>
            <a:ext cx="5257800" cy="1874520"/>
          </a:xfrm>
          <a:prstGeom prst="roundRect">
            <a:avLst>
              <a:gd name="adj" fmla="val 2927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64808" y="4050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Автопилот в машине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454456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Решает: тормозить или объезжать. Если указание допускает два толкования — авария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 всех четырёх случаях работает или ломается одно и то же — алгоритм.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3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D0644C-43F4-2C3B-64F3-B0E84249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DC7AB8-CA89-1C9F-7FB3-0E76BBBB479D}"/>
              </a:ext>
            </a:extLst>
          </p:cNvPr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такое алгоритм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E0216D-88D8-A7E4-8A9C-7A57EFBE2DC8}"/>
              </a:ext>
            </a:extLst>
          </p:cNvPr>
          <p:cNvSpPr/>
          <p:nvPr/>
        </p:nvSpPr>
        <p:spPr>
          <a:xfrm>
            <a:off x="640080" y="1600200"/>
            <a:ext cx="6766560" cy="1828800"/>
          </a:xfrm>
          <a:prstGeom prst="roundRect">
            <a:avLst>
              <a:gd name="adj" fmla="val 4000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11B9C58-65AA-A169-470E-5F8FF02E4A7C}"/>
              </a:ext>
            </a:extLst>
          </p:cNvPr>
          <p:cNvSpPr txBox="1"/>
          <p:nvPr/>
        </p:nvSpPr>
        <p:spPr>
          <a:xfrm>
            <a:off x="914400" y="178308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— точное и понятное предписание исполнителю выполнить конечную последовательность действий, приводящую к решению задачи.</a:t>
            </a:r>
            <a:endParaRPr lang="en-US" sz="1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CB4087-D258-9DAD-AF8C-658235E1F070}"/>
              </a:ext>
            </a:extLst>
          </p:cNvPr>
          <p:cNvSpPr txBox="1"/>
          <p:nvPr/>
        </p:nvSpPr>
        <p:spPr>
          <a:xfrm>
            <a:off x="777240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Исполнитель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4EE8B0C-138A-129B-61EA-0966190EC648}"/>
              </a:ext>
            </a:extLst>
          </p:cNvPr>
          <p:cNvSpPr txBox="1"/>
          <p:nvPr/>
        </p:nvSpPr>
        <p:spPr>
          <a:xfrm>
            <a:off x="7772400" y="210312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устройство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C329CF-4B36-9873-A5B6-28E3555E2B00}"/>
              </a:ext>
            </a:extLst>
          </p:cNvPr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и то же указание может быть алгоритмом для одного исполнителя и не быть им для другого.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55A316D-5BFE-3B02-1170-C7D78ECABC3B}"/>
              </a:ext>
            </a:extLst>
          </p:cNvPr>
          <p:cNvSpPr/>
          <p:nvPr/>
        </p:nvSpPr>
        <p:spPr>
          <a:xfrm>
            <a:off x="640080" y="443484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71B590F-5A7B-CD06-D708-655438596003}"/>
              </a:ext>
            </a:extLst>
          </p:cNvPr>
          <p:cNvSpPr txBox="1"/>
          <p:nvPr/>
        </p:nvSpPr>
        <p:spPr>
          <a:xfrm>
            <a:off x="777240" y="4434840"/>
            <a:ext cx="2240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до школы</a:t>
            </a:r>
            <a:endParaRPr lang="en-US" sz="15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1FAC09C-8B43-2291-7C3C-ECB09377E092}"/>
              </a:ext>
            </a:extLst>
          </p:cNvPr>
          <p:cNvSpPr/>
          <p:nvPr/>
        </p:nvSpPr>
        <p:spPr>
          <a:xfrm>
            <a:off x="3401568" y="443484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AC7C8C6-C891-8A35-99DB-BAA31AB780D8}"/>
              </a:ext>
            </a:extLst>
          </p:cNvPr>
          <p:cNvSpPr txBox="1"/>
          <p:nvPr/>
        </p:nvSpPr>
        <p:spPr>
          <a:xfrm>
            <a:off x="3538728" y="4434840"/>
            <a:ext cx="2240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 плова</a:t>
            </a:r>
            <a:endParaRPr lang="en-US" sz="15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6DC1166-DEAC-1C01-EC27-0A9BC1E7E594}"/>
              </a:ext>
            </a:extLst>
          </p:cNvPr>
          <p:cNvSpPr/>
          <p:nvPr/>
        </p:nvSpPr>
        <p:spPr>
          <a:xfrm>
            <a:off x="6163056" y="443484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D04B3DE-A308-A4F9-951C-E64F0D1B0DD4}"/>
              </a:ext>
            </a:extLst>
          </p:cNvPr>
          <p:cNvSpPr txBox="1"/>
          <p:nvPr/>
        </p:nvSpPr>
        <p:spPr>
          <a:xfrm>
            <a:off x="6300216" y="4434840"/>
            <a:ext cx="2240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Инструкция к мебели</a:t>
            </a:r>
            <a:endParaRPr lang="en-US" sz="15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9D2725D-7A97-C130-9990-73BE46A94346}"/>
              </a:ext>
            </a:extLst>
          </p:cNvPr>
          <p:cNvSpPr/>
          <p:nvPr/>
        </p:nvSpPr>
        <p:spPr>
          <a:xfrm>
            <a:off x="8924544" y="443484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80B8ABD-5C70-C464-F9C9-2C164456FF1C}"/>
              </a:ext>
            </a:extLst>
          </p:cNvPr>
          <p:cNvSpPr txBox="1"/>
          <p:nvPr/>
        </p:nvSpPr>
        <p:spPr>
          <a:xfrm>
            <a:off x="9061704" y="4434840"/>
            <a:ext cx="2240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игры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244470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3600" dirty="0">
                <a:solidFill>
                  <a:schemeClr val="bg1"/>
                </a:solidFill>
                <a:latin typeface="Century" panose="02040604050505020304" pitchFamily="18" charset="0"/>
              </a:rPr>
              <a:t>Почему «алгоритм» так называется?</a:t>
            </a:r>
            <a:endParaRPr lang="en-US" sz="3600" dirty="0">
              <a:solidFill>
                <a:schemeClr val="bg1"/>
              </a:solidFill>
              <a:latin typeface="Century" panose="020406040505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34639" y="1274552"/>
            <a:ext cx="6424954" cy="4308895"/>
          </a:xfrm>
          <a:prstGeom prst="roundRect">
            <a:avLst>
              <a:gd name="adj" fmla="val 4000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5123" y="1521267"/>
            <a:ext cx="6003986" cy="3815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📜 IX век, город Багдад</a:t>
            </a:r>
          </a:p>
          <a:p>
            <a:endParaRPr lang="ru-RU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Учёный по имени Мухаммад ибн Муса аль-Хорезми</a:t>
            </a:r>
          </a:p>
          <a:p>
            <a:endParaRPr lang="ru-RU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Написал книгу «Об индийском счёте» — 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</a:t>
            </a:r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о том, как решать задачи с числами</a:t>
            </a:r>
          </a:p>
          <a:p>
            <a:endParaRPr lang="ru-RU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В книге были чёткие пошаговые правила:</a:t>
            </a:r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 </a:t>
            </a:r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как складывать, вычитать, умножать и делить</a:t>
            </a:r>
          </a:p>
          <a:p>
            <a:endParaRPr lang="ru-RU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Латинский перевод его имени → </a:t>
            </a:r>
            <a:r>
              <a:rPr lang="ru-RU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Algoritmi</a:t>
            </a:r>
            <a:endParaRPr lang="ru-RU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libri" pitchFamily="34" charset="-120"/>
            </a:endParaRPr>
          </a:p>
          <a:p>
            <a:r>
              <a:rPr lang="ru-RU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Отсюда → АЛГОРИТМ</a:t>
            </a:r>
            <a:endParaRPr 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6A894BB-3784-D522-0062-07A15DFEB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044" y="1921101"/>
            <a:ext cx="5345897" cy="29183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 или нет?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Проверьте каждую инструкцию — можно ли её выполнить однозначно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96112"/>
          </a:xfrm>
          <a:prstGeom prst="roundRect">
            <a:avLst>
              <a:gd name="adj" fmla="val 7143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Возьми немного риса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1737360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— «немного»?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7143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770632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Раздели 20 на 4, потом на 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77063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только для числа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803904"/>
            <a:ext cx="10881360" cy="896112"/>
          </a:xfrm>
          <a:prstGeom prst="roundRect">
            <a:avLst>
              <a:gd name="adj" fmla="val 7143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803904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Иди прямо, пока не устанешь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803904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остановиться?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837176"/>
            <a:ext cx="10881360" cy="896112"/>
          </a:xfrm>
          <a:prstGeom prst="roundRect">
            <a:avLst>
              <a:gd name="adj" fmla="val 7143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837176"/>
            <a:ext cx="5120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Умножь введённое число на 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4837176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Понятно и работает для любого числа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три выполнить нельзя. Почему — разберём сейчас.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«раздели 20 на 4» — не алгоритм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трудное место сегодняшнего занятия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«Раздели 20 на 4»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688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 вам число 20 — работает.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 30 — инструкция сломалась: в ней написано именно 20.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«Умножь введённое число на 2»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46888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 20 — работает.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 30 — тоже работает.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 любое число — работает.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и есть массовость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95604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должен работать для всех похожих задач, а не для одного конкретного случая. Иначе это не алгоритм, а разовое указание.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любого алгоритма: подставьте другие числа. Сломался — значит нарушена массовость.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· ПИСЬМЕННО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балла · 2 минуты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Придумайте свой пример НЕ алгоритма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788920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Запишите пример в тетрадь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721608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721608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Рядом напишите, почему это не алгоритм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7914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2 минуты 3—4 человека зачитают вслух.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свойств алгоритма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Нарушено хотя бы одно — выполнить нельзя. Справа — что будет в жизни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56816"/>
            <a:ext cx="438912" cy="438912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83080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Дискретность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Разбит на отдельные шаги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783080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Скажи компьютеру «сделай яичницу» — не поймёт. Нужно: достань яйцо, разбей, нагрей сковороду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862072"/>
            <a:ext cx="438912" cy="438912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862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688336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Определённость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688336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шаг понятен однозначно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688336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Скажи голосовому помощнику «включи что-нибудь» — не поймёт. «Включи свет на кухне» — поймёт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593592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767328"/>
            <a:ext cx="438912" cy="438912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3767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3593592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Конечность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593592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Заканчивается за конечное число шагов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593592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без выхода — телефон зависает и садится батарейка. Это и есть нарушенная конечность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98848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672584"/>
            <a:ext cx="438912" cy="438912"/>
          </a:xfrm>
          <a:prstGeom prst="ellipse">
            <a:avLst/>
          </a:prstGeom>
          <a:solidFill>
            <a:srgbClr val="F2789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4672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498848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Результативность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449884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определённый результат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4498848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«Подумай над задачей» — результата нет. «Выведи ответ на экран» — есть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5404104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5577840"/>
            <a:ext cx="438912" cy="438912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77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404104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Массовость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540410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для класса похожих задач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5404104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Калькулятор считает любые числа, а не только 2 + 2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3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9FC88E-73A3-8E9F-D029-A5626C03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25C7466-E956-7C9A-5EEF-5D66C1D1AB25}"/>
              </a:ext>
            </a:extLst>
          </p:cNvPr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36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Самые популярные алгоритмы 2026 года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34A1381-FC0E-D277-A1A6-E61DC83546DE}"/>
              </a:ext>
            </a:extLst>
          </p:cNvPr>
          <p:cNvSpPr/>
          <p:nvPr/>
        </p:nvSpPr>
        <p:spPr>
          <a:xfrm>
            <a:off x="640080" y="1783080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B000DAE-4A71-93C4-516B-5EDB62FD994F}"/>
              </a:ext>
            </a:extLst>
          </p:cNvPr>
          <p:cNvSpPr/>
          <p:nvPr/>
        </p:nvSpPr>
        <p:spPr>
          <a:xfrm>
            <a:off x="868680" y="1956816"/>
            <a:ext cx="438912" cy="438912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805E740-70A3-8B99-04ED-3650D7D825FA}"/>
              </a:ext>
            </a:extLst>
          </p:cNvPr>
          <p:cNvSpPr txBox="1"/>
          <p:nvPr/>
        </p:nvSpPr>
        <p:spPr>
          <a:xfrm>
            <a:off x="868680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D24CD14-EE5A-4252-25AA-8CE70201E789}"/>
              </a:ext>
            </a:extLst>
          </p:cNvPr>
          <p:cNvSpPr txBox="1"/>
          <p:nvPr/>
        </p:nvSpPr>
        <p:spPr>
          <a:xfrm>
            <a:off x="1463040" y="1783080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Для таблиц и бизнеса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7DE7643-3795-AEB7-12D1-FB03BE4AE002}"/>
              </a:ext>
            </a:extLst>
          </p:cNvPr>
          <p:cNvSpPr txBox="1"/>
          <p:nvPr/>
        </p:nvSpPr>
        <p:spPr>
          <a:xfrm>
            <a:off x="3657600" y="1783080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6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XGBoost</a:t>
            </a:r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ru-RU" sz="16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LightGBM</a:t>
            </a:r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ru-RU" sz="16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CatBoost</a:t>
            </a:r>
            <a:endParaRPr lang="ru-RU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F707F10-931C-667B-1627-3DFEC08A62C2}"/>
              </a:ext>
            </a:extLst>
          </p:cNvPr>
          <p:cNvSpPr txBox="1"/>
          <p:nvPr/>
        </p:nvSpPr>
        <p:spPr>
          <a:xfrm>
            <a:off x="6431280" y="2130552"/>
            <a:ext cx="4892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 Light" panose="020F0302020204030204" pitchFamily="34" charset="0"/>
              </a:rPr>
              <a:t>Предсказывают: кто купит товар, кто уйдёт из банка, цена акций [citation:3]</a:t>
            </a:r>
          </a:p>
          <a:p>
            <a:b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 Light" panose="020F0302020204030204" pitchFamily="34" charset="0"/>
              </a:rPr>
            </a:br>
            <a:endParaRPr lang="en-US" sz="16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Calibri Light" panose="020F0302020204030204" pitchFamily="34" charset="0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8A35B4A-0AEE-1EC8-780B-4A51F94C859E}"/>
              </a:ext>
            </a:extLst>
          </p:cNvPr>
          <p:cNvSpPr/>
          <p:nvPr/>
        </p:nvSpPr>
        <p:spPr>
          <a:xfrm>
            <a:off x="640080" y="2688336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C9CA0E4-995D-7223-F187-0BB67C8EA624}"/>
              </a:ext>
            </a:extLst>
          </p:cNvPr>
          <p:cNvSpPr/>
          <p:nvPr/>
        </p:nvSpPr>
        <p:spPr>
          <a:xfrm>
            <a:off x="868680" y="2862072"/>
            <a:ext cx="438912" cy="438912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DABF71E-20E2-7C86-8831-5E8932B4757A}"/>
              </a:ext>
            </a:extLst>
          </p:cNvPr>
          <p:cNvSpPr txBox="1"/>
          <p:nvPr/>
        </p:nvSpPr>
        <p:spPr>
          <a:xfrm>
            <a:off x="868680" y="2862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996806-0C75-D072-DC64-7E98AC861DEC}"/>
              </a:ext>
            </a:extLst>
          </p:cNvPr>
          <p:cNvSpPr txBox="1"/>
          <p:nvPr/>
        </p:nvSpPr>
        <p:spPr>
          <a:xfrm>
            <a:off x="1463040" y="2688336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Для рекомендаций</a:t>
            </a:r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529E69C-EA8C-6ED9-FA7A-72860A64BDB4}"/>
              </a:ext>
            </a:extLst>
          </p:cNvPr>
          <p:cNvSpPr txBox="1"/>
          <p:nvPr/>
        </p:nvSpPr>
        <p:spPr>
          <a:xfrm>
            <a:off x="3657600" y="2688336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K-</a:t>
            </a:r>
            <a:r>
              <a:rPr lang="ru-RU" sz="16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Means</a:t>
            </a:r>
            <a:r>
              <a:rPr lang="ru-RU" dirty="0"/>
              <a:t> + </a:t>
            </a:r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KNN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30104F3-5C7D-7DC4-8360-21BFB409F038}"/>
              </a:ext>
            </a:extLst>
          </p:cNvPr>
          <p:cNvSpPr txBox="1"/>
          <p:nvPr/>
        </p:nvSpPr>
        <p:spPr>
          <a:xfrm>
            <a:off x="6400800" y="2688336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dirty="0"/>
              <a:t> </a:t>
            </a:r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 Light" panose="020F0302020204030204" pitchFamily="34" charset="0"/>
              </a:rPr>
              <a:t>«Вам может понравиться» в YouTube и TikTok [citation:1][citation:5]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CBAEBD2-4C2C-96EF-58A2-BEA1524F026E}"/>
              </a:ext>
            </a:extLst>
          </p:cNvPr>
          <p:cNvSpPr/>
          <p:nvPr/>
        </p:nvSpPr>
        <p:spPr>
          <a:xfrm>
            <a:off x="640080" y="3593592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DC05BCE-CD86-916A-B97E-3832291167DA}"/>
              </a:ext>
            </a:extLst>
          </p:cNvPr>
          <p:cNvSpPr/>
          <p:nvPr/>
        </p:nvSpPr>
        <p:spPr>
          <a:xfrm>
            <a:off x="868680" y="3767328"/>
            <a:ext cx="438912" cy="438912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7703128-32C3-504F-E6D2-1B23332D50BC}"/>
              </a:ext>
            </a:extLst>
          </p:cNvPr>
          <p:cNvSpPr txBox="1"/>
          <p:nvPr/>
        </p:nvSpPr>
        <p:spPr>
          <a:xfrm>
            <a:off x="868680" y="3767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F2E94FF-3385-583E-D306-31608E2B30EE}"/>
              </a:ext>
            </a:extLst>
          </p:cNvPr>
          <p:cNvSpPr txBox="1"/>
          <p:nvPr/>
        </p:nvSpPr>
        <p:spPr>
          <a:xfrm>
            <a:off x="1463040" y="3593592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Для прогнозов времени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66AE62F-CAA5-9E1C-ADCD-A9F704ED7DC7}"/>
              </a:ext>
            </a:extLst>
          </p:cNvPr>
          <p:cNvSpPr txBox="1"/>
          <p:nvPr/>
        </p:nvSpPr>
        <p:spPr>
          <a:xfrm>
            <a:off x="3657600" y="365302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LSTM / RNN</a:t>
            </a: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17DBEFB-C047-0929-01D6-043E7FB092B9}"/>
              </a:ext>
            </a:extLst>
          </p:cNvPr>
          <p:cNvSpPr txBox="1"/>
          <p:nvPr/>
        </p:nvSpPr>
        <p:spPr>
          <a:xfrm>
            <a:off x="6400800" y="3593592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 Light" panose="020F0302020204030204" pitchFamily="34" charset="0"/>
              </a:rPr>
              <a:t>Погода, пробки, тренды в соцсетях</a:t>
            </a: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7A4DDFD9-CE3B-AB69-51CD-26C1A9D9AD73}"/>
              </a:ext>
            </a:extLst>
          </p:cNvPr>
          <p:cNvSpPr/>
          <p:nvPr/>
        </p:nvSpPr>
        <p:spPr>
          <a:xfrm>
            <a:off x="640080" y="4498848"/>
            <a:ext cx="10881360" cy="786384"/>
          </a:xfrm>
          <a:prstGeom prst="roundRect">
            <a:avLst>
              <a:gd name="adj" fmla="val 8140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95BB6A66-5EAF-2066-AD4C-E4D306B10E6D}"/>
              </a:ext>
            </a:extLst>
          </p:cNvPr>
          <p:cNvSpPr/>
          <p:nvPr/>
        </p:nvSpPr>
        <p:spPr>
          <a:xfrm>
            <a:off x="868680" y="4672584"/>
            <a:ext cx="438912" cy="438912"/>
          </a:xfrm>
          <a:prstGeom prst="ellipse">
            <a:avLst/>
          </a:prstGeom>
          <a:solidFill>
            <a:srgbClr val="F2789F"/>
          </a:solidFill>
          <a:ln/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A8ACE1-1B74-4A7B-7C99-478EB8A204F8}"/>
              </a:ext>
            </a:extLst>
          </p:cNvPr>
          <p:cNvSpPr txBox="1"/>
          <p:nvPr/>
        </p:nvSpPr>
        <p:spPr>
          <a:xfrm>
            <a:off x="868680" y="4672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705EC61-BC5E-9506-76DD-5CEEBD241697}"/>
              </a:ext>
            </a:extLst>
          </p:cNvPr>
          <p:cNvSpPr txBox="1"/>
          <p:nvPr/>
        </p:nvSpPr>
        <p:spPr>
          <a:xfrm>
            <a:off x="1463040" y="4498848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Для поиска и текстов</a:t>
            </a: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3608CAE-2875-E154-C387-D7A1A3607063}"/>
              </a:ext>
            </a:extLst>
          </p:cNvPr>
          <p:cNvSpPr txBox="1"/>
          <p:nvPr/>
        </p:nvSpPr>
        <p:spPr>
          <a:xfrm>
            <a:off x="3657600" y="449884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1"/>
            <a:r>
              <a:rPr lang="ru-RU" sz="14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Transformer</a:t>
            </a:r>
            <a:r>
              <a:rPr lang="ru-RU" sz="14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(LLM)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30DD19B-7A2D-D52A-A5D9-5A5272962E6A}"/>
              </a:ext>
            </a:extLst>
          </p:cNvPr>
          <p:cNvSpPr txBox="1"/>
          <p:nvPr/>
        </p:nvSpPr>
        <p:spPr>
          <a:xfrm>
            <a:off x="6400800" y="4498848"/>
            <a:ext cx="4892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 Light" panose="020F0302020204030204" pitchFamily="34" charset="0"/>
              </a:rPr>
              <a:t>ChatGPT, поиск Яндекса, умные помощники</a:t>
            </a:r>
          </a:p>
          <a:p>
            <a:pPr marL="0" indent="0"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99550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B4BE79-7FD8-508B-9864-A0E9DC82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" y="1"/>
            <a:ext cx="121877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365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749040"/>
            <a:ext cx="4937760" cy="4937760"/>
          </a:xfrm>
          <a:prstGeom prst="ellipse">
            <a:avLst/>
          </a:prstGeom>
          <a:solidFill>
            <a:srgbClr val="3DD6A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097280"/>
            <a:ext cx="4754880" cy="4754880"/>
          </a:xfrm>
          <a:prstGeom prst="ellipse">
            <a:avLst/>
          </a:prstGeom>
          <a:solidFill>
            <a:srgbClr val="4FD1E0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ЧАС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Теперь пишем сами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3611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алгоритм — но записанный так, чтобы его выполнил компьютер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 на экран: print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6675120" cy="1078992"/>
          </a:xfrm>
          <a:prstGeom prst="roundRect">
            <a:avLst>
              <a:gd name="adj" fmla="val 423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91109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print("Салом, дуне!")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print("Класс:", 10)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print("Информатика", "-", "первый урок")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635240" y="1783080"/>
            <a:ext cx="3886200" cy="1600200"/>
          </a:xfrm>
          <a:prstGeom prst="roundRect">
            <a:avLst>
              <a:gd name="adj" fmla="val 4571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901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Запомни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22860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всегда в кавычках.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— без кавычек.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появится в области вывода: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6675120" cy="1078992"/>
          </a:xfrm>
          <a:prstGeom prst="roundRect">
            <a:avLst>
              <a:gd name="adj" fmla="val 423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73989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Салом, дуне!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Класс: 10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Информатика - первый урок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одного print можно писать несколько значений через запятую — они выведутся через пробел.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 · НА ЛИСТОЧКЕ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Напишите команду, которая выведет на экран: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566928"/>
          </a:xfrm>
          <a:prstGeom prst="roundRect">
            <a:avLst>
              <a:gd name="adj" fmla="val 8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916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Мой класс: 10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58444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Проверяю синтаксис: кавычки, запятую, скобки.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133088"/>
            <a:ext cx="10881360" cy="2176272"/>
          </a:xfrm>
          <a:prstGeom prst="roundRect">
            <a:avLst>
              <a:gd name="adj" fmla="val 2941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24281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Ошибка — это не провал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сообщении всегда есть номер строки. Смотри сначала туда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закрыта кавычка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830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unterminated string literal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7830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 кавычки: сколько открыл — столько закрой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8346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закрыта скобка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8346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'(' was never closed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834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Проверь скобки в указанной строке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886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Написано Print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8862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'Print' is not defined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886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Пиши print маленькими буквами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937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Лишний пробел в начале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9377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unexpected indent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4937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 пробелы перед print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не значит «ты не справился». Это подсказка: в ней написано, где и что не так. Правило урока — сначала прочитай сам, потом поднимай руку.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F278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НАЙДИ ОШИБКУ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1 баллу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первым найдёт ошибку в каждой строке?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1078992"/>
          </a:xfrm>
          <a:prstGeom prst="roundRect">
            <a:avLst>
              <a:gd name="adj" fmla="val 423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916936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print("Привет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Print("Hello")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print("bye")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9651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третьей строке ошибку видно не сразу — смотрите на начало строки.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645152"/>
            <a:ext cx="10881360" cy="1664208"/>
          </a:xfrm>
          <a:prstGeom prst="roundRect">
            <a:avLst>
              <a:gd name="adj" fmla="val 3846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Переменные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для значения, которое хранится в памяти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943600" cy="1847088"/>
          </a:xfrm>
          <a:prstGeom prst="roundRect">
            <a:avLst>
              <a:gd name="adj" fmla="val 247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11096"/>
            <a:ext cx="557784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imya = "Фаррух"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klass = 10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4.5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print("Имя:", imya)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print("Класс:", klass)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783080"/>
            <a:ext cx="4572000" cy="2011680"/>
          </a:xfrm>
          <a:prstGeom prst="roundRect">
            <a:avLst>
              <a:gd name="adj" fmla="val 3636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9019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путаница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331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print("imya")  →  imya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print(imya)    →  Фаррух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3154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кавычках — сам текст. Без кавычек — значение переменной.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949440" y="397764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0" y="4096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Имена переменных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449884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Можно: imya, klass, cena_tetradi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Нельзя: 1klass, моё имя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5661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появится на экране: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943600" cy="822960"/>
          </a:xfrm>
          <a:prstGeom prst="roundRect">
            <a:avLst>
              <a:gd name="adj" fmla="val 5556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4059936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Имя: Фаррух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Класс: 10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5943600" cy="1188720"/>
          </a:xfrm>
          <a:prstGeom prst="roundRect">
            <a:avLst>
              <a:gd name="adj" fmla="val 6154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212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— это коробка с именем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5778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print(imya) — открываю коробку и показываю, что внутри.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print("imya") — показываю бумажку с надписью, коробку не трогаю.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ПИСЬМЕННО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балла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выведет этот код?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1847088"/>
          </a:xfrm>
          <a:prstGeom prst="roundRect">
            <a:avLst>
              <a:gd name="adj" fmla="val 247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916936"/>
            <a:ext cx="64008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"5"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5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print("a")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646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Напишите в тетрадь три строки — то, что появится на экране.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Арифметика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деления вместо одного — это важно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29184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594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828800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+ 2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828800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9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61488"/>
            <a:ext cx="329184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761488"/>
            <a:ext cx="594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2761488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7 - 2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761488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694176"/>
            <a:ext cx="329184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694176"/>
            <a:ext cx="594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694176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* 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3694176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06240" y="1828800"/>
            <a:ext cx="329184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70832" y="1828800"/>
            <a:ext cx="594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1828800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828800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3.5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06240" y="2761488"/>
            <a:ext cx="329184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70832" y="2761488"/>
            <a:ext cx="594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047488" y="2761488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// 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761488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206240" y="3694176"/>
            <a:ext cx="329184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70832" y="3694176"/>
            <a:ext cx="594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3DD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5047488" y="3694176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7 % 2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694176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503920" y="1828800"/>
            <a:ext cx="3017520" cy="2788920"/>
          </a:xfrm>
          <a:prstGeom prst="roundRect">
            <a:avLst>
              <a:gd name="adj" fmla="val 2623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1965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// и %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778240" y="23774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ученика по 5 в группе: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778240" y="27889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// 5 = 4 группы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24 % 5 = 4 осталось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778240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же разбирают число на цифры: 47 // 10 = 4, 47 % 10 = 7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47548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как в математике: сначала * и /, потом + и -. Скобки меняют порядок.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СКОРОСТЬ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будет?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822960"/>
          </a:xfrm>
          <a:prstGeom prst="roundRect">
            <a:avLst>
              <a:gd name="adj" fmla="val 5556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91693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// 5 = ?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17 % 5 = 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тот, кто первым поднял руку. Балл — если верны оба.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10881360" cy="1920240"/>
          </a:xfrm>
          <a:prstGeom prst="roundRect">
            <a:avLst>
              <a:gd name="adj" fmla="val 3333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498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Программа целиком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алгоритм с первого часа — теперь в виде кода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583680" cy="2359152"/>
          </a:xfrm>
          <a:prstGeom prst="roundRect">
            <a:avLst>
              <a:gd name="adj" fmla="val 193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11096"/>
            <a:ext cx="6217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dlina = 6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shirina = 4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perimetr = 2 * (dlina + shirina)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ploshad = dlina * shirina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print("Периметр:", perimetr)</a:t>
            </a:r>
            <a:endParaRPr lang="en-US" sz="16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print("Площадь:", ploshad)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543800" y="1783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18120" y="19019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Контрольный пример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18120" y="2331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длине 6 и ширине 4: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периметр = 20, площадь = 24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43800" y="37033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422452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посчитай на бумаге, потом запусти. Совпало — программа верна.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может запуститься без ошибок и всё равно считать неверно. Проверка обязательна.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ПИСЬМЕННО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изменится, если длина 10, а ширина 3?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Напишите в тетрадь только числа, которые появятся на экране.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работу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 задач и шпаргалка — на столе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24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1—3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на экран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38144" y="1828800"/>
            <a:ext cx="2560320" cy="2286000"/>
          </a:xfrm>
          <a:prstGeom prst="roundRect">
            <a:avLst>
              <a:gd name="adj" fmla="val 24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66744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4—7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666744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36208" y="1828800"/>
            <a:ext cx="2560320" cy="2286000"/>
          </a:xfrm>
          <a:prstGeom prst="roundRect">
            <a:avLst>
              <a:gd name="adj" fmla="val 24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64808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8—12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Расчёты и деление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34272" y="1828800"/>
            <a:ext cx="2560320" cy="2286000"/>
          </a:xfrm>
          <a:prstGeom prst="roundRect">
            <a:avLst>
              <a:gd name="adj" fmla="val 2400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62872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13—16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262872" y="26974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справился быстро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590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работы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0109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Каждую программу запускай и сверяй результат.  ·  Ошибка? Прочитай сообщение и найди номер строки.  ·  Не помнишь синтаксис — смотри шпаргалку.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3DD6A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КОНТРОЛЬ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5 баллов · 15 минут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1—7 из листа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788920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балла за каждую верную программу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721608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721608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сдаёт первым — проверяю сразу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654296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654296"/>
            <a:ext cx="10241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помнишь синтаксис — смотри шпаргалку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72414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13—16 для тех, кто закончил раньше. Они не оцениваются баллами, но идут в отметку за урок.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8745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Блок-схема алгоритма «перейти улицу по светофору». Оба выхода из ромба подписать словами «да» и «нет»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1089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2004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в тетради программу расчёта периметра и указать, что она выведет при длине 10 и ширине 3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4348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есть компьютер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52628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выводит сведения о себе четырьмя строками с использованием переменных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 для домашнего задания не обязателен: первые два задания выполняются в тетради.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НА ВЫХОДЕ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Назовите одно свойство алгоритма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по цепочке. Нельзя повторять то, что назвал предыдущий.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05840"/>
            <a:ext cx="5120640" cy="512064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 занятия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7315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— точное предписание, у него пять свойств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Нарушено свойство — выполнить нельзя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написали первую работающую программу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сообщает номер строки — читать её, а не пугаться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на контрольном примере обязательна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349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следующем занятии: программа начнёт принимать данные с клавиатуры.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2195</Words>
  <Application>Microsoft Office PowerPoint</Application>
  <PresentationFormat>Широкоэкранный</PresentationFormat>
  <Paragraphs>325</Paragraphs>
  <Slides>26</Slides>
  <Notes>25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2" baseType="lpstr">
      <vt:lpstr>Arial</vt:lpstr>
      <vt:lpstr>Calibri</vt:lpstr>
      <vt:lpstr>Cambria</vt:lpstr>
      <vt:lpstr>Century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Мухаммадчон Мусоев</cp:lastModifiedBy>
  <cp:revision>2</cp:revision>
  <dcterms:created xsi:type="dcterms:W3CDTF">2026-09-04T16:00:26Z</dcterms:created>
  <dcterms:modified xsi:type="dcterms:W3CDTF">2026-09-04T16:24:21Z</dcterms:modified>
</cp:coreProperties>
</file>