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8824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Общее время: 6 уровней по 9 минут = 54 минуты работы плюс разбор. Рассчитано на спаренное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Отметка по уровню, а не по числу задач. Решил одну на 9 — получил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минут. Обойти класс, проверить у всех запуск среды.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Частая ошибка в задаче 2: print("imya") — выведет слово, а не значение.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минут. Требовать осмысленные имена переменных.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20 и 24; 60;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минут. Ключевой уровень: здесь впервые нужны // и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1 ч 40 мин; 4 и 7; 6 групп и 1 остался.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минут. В задаче 11 половина класса напишет sek // 60 — это ошибка.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16; 1 ч 2 мин 5 с; 56.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минут. Подсказку к задаче 13 давать только через 5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13: трюк со сложением. Разобрать по шагам на доске.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минут. Решения не подсказывать. Кто решил — объясняет классу у доски.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16 — классический приём: сумма плюс модуль разности пополам. Разобрать обязательно, даже если никто не решил.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Можно распечатать и раздать.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слове dlina вторая буква — строчная латинская L, не единица.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669280" cy="5669280"/>
          </a:xfrm>
          <a:prstGeom prst="ellipse">
            <a:avLst/>
          </a:prstGeom>
          <a:solidFill>
            <a:srgbClr val="8B7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023360" cy="4023360"/>
          </a:xfrm>
          <a:prstGeom prst="ellipse">
            <a:avLst/>
          </a:prstGeom>
          <a:solidFill>
            <a:srgbClr val="E8B84B">
              <a:alpha val="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РАБОТА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на Python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задач · 6 уровней · по 9 минут на уровень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50392" y="35204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каждого уровня — слайд с решениями. Сверяете сами.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40690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Реши задачу уровня N — получи N баллов. Отметка по самой сложной решённой.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46177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Шпаргалка — два слайда в конце. Смотреть можно всегда.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считаются баллы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Десятибалльная система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73736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DD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5—6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303520" y="17373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на экран, переменные, простые расчёты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816352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816352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7—8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816352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816352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Целочисленное деление и остаток, разбор числа на цифры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895344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895344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8B7C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895344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Повышенный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3895344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действий подряд, нужна своя догадка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974336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E8B8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974336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497433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Олимпиадный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4974336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Приём, которого не было на уроке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10769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603504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каждый уровень — 9 минут. Затем слайд с решениями: сверяете и ставите себе отметку честно.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3DD6A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Базовый уровень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минут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512064" cy="512064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Визитка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Выведи три строки: фамилию и имя, класс, школу.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3858768"/>
            <a:ext cx="310896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977640"/>
            <a:ext cx="28163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Мусоев Фаррух</a:t>
            </a:r>
            <a:endParaRPr lang="en-US" sz="2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класс</a:t>
            </a:r>
            <a:endParaRPr lang="en-US" sz="2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Школа № 12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62856" y="1417320"/>
            <a:ext cx="512064" cy="512064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6285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581144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Объяви три переменные и выведи каждую с подписью.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581144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81144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imya = "Фаррух"</a:t>
            </a:r>
            <a:endParaRPr lang="en-US" sz="2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klass = 10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51572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52760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Имя: Фаррух</a:t>
            </a:r>
            <a:endParaRPr lang="en-US" sz="2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Класс: 10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48472" y="1417320"/>
            <a:ext cx="512064" cy="512064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48472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8988552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строка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8366760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Выведи текст и число в одной строке.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3667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66760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531352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Мой класс: 10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3DD6A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Решения — сверьте со своим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Визитка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95528" y="1965960"/>
            <a:ext cx="310896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084832"/>
            <a:ext cx="28163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print("Мусоев Фаррух")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print("10 класс")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print("Школа № 12")</a:t>
            </a:r>
            <a:endParaRPr lang="en-US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32735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" y="3566160"/>
            <a:ext cx="310896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685032"/>
            <a:ext cx="28163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Мусоев Фаррух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класс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Школа № 12</a:t>
            </a:r>
            <a:endParaRPr lang="en-US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485546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команды print.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3716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62856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581144" y="1965960"/>
            <a:ext cx="3108960" cy="1691640"/>
          </a:xfrm>
          <a:prstGeom prst="roundRect">
            <a:avLst>
              <a:gd name="adj" fmla="val 2703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2084832"/>
            <a:ext cx="2816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imya = "Фаррух"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klass = 10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print("Имя:", imya)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print("Класс:", klass)</a:t>
            </a:r>
            <a:endParaRPr lang="en-US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413308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425196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Имя: Фаррух</a:t>
            </a:r>
            <a:endParaRPr lang="en-US" sz="2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Класс: 10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51389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— без кавычек.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8472" y="13716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48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924544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строка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366760" y="1965960"/>
            <a:ext cx="310896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2084832"/>
            <a:ext cx="28163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klass = 10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print("Мой класс:", klass)</a:t>
            </a:r>
            <a:endParaRPr lang="en-US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32735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3566160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31352" y="3685032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Мой класс: 10</a:t>
            </a:r>
            <a:endParaRPr lang="en-US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4288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запятую — пробел ставится сам.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3DD6A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Базовый уровень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минут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512064" cy="512064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Прямоугольник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Вычисли периметр и площадь.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dlina = 6</a:t>
            </a:r>
            <a:endParaRPr lang="en-US" sz="2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shirina = 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" y="51572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2760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Периметр: 20</a:t>
            </a:r>
            <a:endParaRPr lang="en-US" sz="2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Площадь: 24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62856" y="1417320"/>
            <a:ext cx="512064" cy="512064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6285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5202936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Покупка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Тетрадь стоит 5 сомони. Куплено 12 штук.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cena = 5</a:t>
            </a:r>
            <a:endParaRPr lang="en-US" sz="2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kol = 12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81144" y="5157216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45736" y="5276088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Стоимость: 60 сомони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8472" y="1417320"/>
            <a:ext cx="512064" cy="512064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48472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Посчитай возраст по году рождения.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6760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31352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god = 2010</a:t>
            </a:r>
            <a:endParaRPr lang="en-US" sz="2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seychas = 2025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366760" y="5157216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31352" y="5276088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Возраст: 15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3DD6A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Решения — сверьте со своим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Прямоугольник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5528" y="1847088"/>
            <a:ext cx="3108960" cy="2660904"/>
          </a:xfrm>
          <a:prstGeom prst="roundRect">
            <a:avLst>
              <a:gd name="adj" fmla="val 1799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084832"/>
            <a:ext cx="281635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dlina = 6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shirina = 4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2 * (dlina + shirina)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dlina * shirina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print("Периметр:", P)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print("Площадь:", S)</a:t>
            </a:r>
            <a:endParaRPr lang="en-US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6908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" y="4983480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5102352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Периметр: 20</a:t>
            </a:r>
            <a:endParaRPr lang="en-US" sz="2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Площадь: 24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5806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2 * (a + b).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3716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62856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Покупка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81144" y="1965960"/>
            <a:ext cx="3108960" cy="1975104"/>
          </a:xfrm>
          <a:prstGeom prst="roundRect">
            <a:avLst>
              <a:gd name="adj" fmla="val 231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2084832"/>
            <a:ext cx="2944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cena = 5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kol = 12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itog = cena * kol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print("Стоимость:", itog)</a:t>
            </a:r>
            <a:endParaRPr lang="en-US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41239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44165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45354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Стоимость: 60 сомони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51389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— в переменную.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8472" y="13716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48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924544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366760" y="1965960"/>
            <a:ext cx="3108960" cy="1975104"/>
          </a:xfrm>
          <a:prstGeom prst="roundRect">
            <a:avLst>
              <a:gd name="adj" fmla="val 231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2084832"/>
            <a:ext cx="28163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god = 2010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seychas = 2025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vozrast = seychas - god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print("Возраст:", vozrast)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1239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44165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31352" y="45354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Возраст: 15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51389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Обычное вычитание.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Основной уровень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минут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Минуты в часы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Переведи минуты в часы и оставшиеся минуты.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minuty = 100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795528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" y="4873752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992624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Часы: 1</a:t>
            </a:r>
            <a:endParaRPr lang="en-US" sz="2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Минуты: 40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62856" y="1417320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6285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5202936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числа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Выведи десятки и единицы двузначного числа.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47</a:t>
            </a:r>
            <a:endParaRPr lang="en-US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81144" y="4873752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45736" y="4992624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Десятки: 4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Единицы: 7</a:t>
            </a: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8472" y="1417320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48472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Группы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учеников делят на группы по 4. Сколько полных групп и сколько осталось?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6760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31352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vsego = 25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v_gruppe = 4</a:t>
            </a:r>
            <a:endParaRPr lang="en-US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366760" y="51572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31352" y="52760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Групп: 6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Осталось: 1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Решения — сверьте со своим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Минуты в часы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5528" y="1965960"/>
            <a:ext cx="3108960" cy="2258568"/>
          </a:xfrm>
          <a:prstGeom prst="roundRect">
            <a:avLst>
              <a:gd name="adj" fmla="val 2024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084832"/>
            <a:ext cx="28163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minuty = 100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 = minuty // 60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minuty % 60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print("Часы:", ch)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print("Минуты:", m)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" y="47000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8188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Часы: 1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Минуты: 40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5705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— целая часть, % — остаток.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371600"/>
            <a:ext cx="457200" cy="457200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62856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числа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81144" y="1965960"/>
            <a:ext cx="3108960" cy="1408176"/>
          </a:xfrm>
          <a:prstGeom prst="roundRect">
            <a:avLst>
              <a:gd name="adj" fmla="val 32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2084832"/>
            <a:ext cx="28163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47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print("Десятки:", n // 10)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print("Единицы:", n % 10)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849624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968496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Десятки: 4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Единицы: 7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85546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приём, что и в задаче 7.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8472" y="1371600"/>
            <a:ext cx="457200" cy="457200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48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924544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Группы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366760" y="1965960"/>
            <a:ext cx="3108960" cy="2542032"/>
          </a:xfrm>
          <a:prstGeom prst="roundRect">
            <a:avLst>
              <a:gd name="adj" fmla="val 1799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2084832"/>
            <a:ext cx="281635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vsego = 25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v_gruppe = 4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vsego // v_gruppe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= vsego % v_gruppe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print("Групп:", g)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print("Осталось:", o)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6908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4983480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31352" y="5102352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Групп: 6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Осталось: 1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5806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видно, зачем два деления.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Основной уровень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минут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цифр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Найди сумму цифр трёхзначного числа.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385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" y="48737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9926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Сумма цифр: 16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62856" y="1417320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6285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5202936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Секунды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Переведи секунды в часы, минуты и секунды.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 = 3725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81144" y="48737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45736" y="49926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ч 2 мин 5 с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8472" y="1417320"/>
            <a:ext cx="512064" cy="512064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48472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Произведение цифр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Найди произведение цифр трёхзначного числа.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6760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31352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472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366760" y="48737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31352" y="49926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Произведение: 56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Решения — сверьте со своим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цифр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5528" y="1965960"/>
            <a:ext cx="3108960" cy="2258568"/>
          </a:xfrm>
          <a:prstGeom prst="roundRect">
            <a:avLst>
              <a:gd name="adj" fmla="val 2024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084832"/>
            <a:ext cx="28163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385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n // 100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n // 10 % 10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n % 10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print("Сумма:", a + b + c)</a:t>
            </a:r>
            <a:endParaRPr lang="en-US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" y="4700016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818888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Сумма цифр: 16</a:t>
            </a:r>
            <a:endParaRPr lang="en-US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5422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+ 8 + 5 = 16.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371600"/>
            <a:ext cx="457200" cy="457200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62856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Секунды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81144" y="1965960"/>
            <a:ext cx="3108960" cy="2258568"/>
          </a:xfrm>
          <a:prstGeom prst="roundRect">
            <a:avLst>
              <a:gd name="adj" fmla="val 2024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2084832"/>
            <a:ext cx="28163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 = 3725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 = sek // 3600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sek % 3600 // 60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sek % 60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print(ch, "ч", m, "мин", s)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4700016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4818888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ч 2 мин 5 с</a:t>
            </a:r>
            <a:endParaRPr lang="en-US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5422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Минуты — из остатка, не sek // 60.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8472" y="1371600"/>
            <a:ext cx="457200" cy="457200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48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924544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Произведение цифр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366760" y="1965960"/>
            <a:ext cx="3108960" cy="2258568"/>
          </a:xfrm>
          <a:prstGeom prst="roundRect">
            <a:avLst>
              <a:gd name="adj" fmla="val 2024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2084832"/>
            <a:ext cx="28163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472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n // 100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n // 10 % 10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n % 10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print("Итог:", a * b * c)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4700016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31352" y="4818888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Произведение: 56</a:t>
            </a:r>
            <a:endParaRPr lang="en-US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5422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* 7 * 2 = 56.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8B7C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Повышенный уровень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минут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512064" cy="512064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Обмен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Поменяй значения местами без третьей переменной и без записи a, b = b, a.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7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3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795528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" y="5157216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276088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3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7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62856" y="1417320"/>
            <a:ext cx="512064" cy="512064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6285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5202936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наоборот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Выведи трёхзначное число цифрами в обратном порядке.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385</a:t>
            </a:r>
            <a:endParaRPr lang="en-US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81144" y="48737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45736" y="49926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Наоборот: 583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8472" y="1417320"/>
            <a:ext cx="512064" cy="512064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48472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четырёх цифр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Найди сумму цифр четырёхзначного числа.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6760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31352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2837</a:t>
            </a:r>
            <a:endParaRPr lang="en-US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366760" y="48737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31352" y="49926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Сумма: 20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8B7C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Решения — сверьте со своим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Обмен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5528" y="1965960"/>
            <a:ext cx="3108960" cy="2542032"/>
          </a:xfrm>
          <a:prstGeom prst="roundRect">
            <a:avLst>
              <a:gd name="adj" fmla="val 1799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084832"/>
            <a:ext cx="281635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7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3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a + b   # 10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 - b   # 7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a - b   # 3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print("a =", a)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print("b =", b)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6908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" y="4983480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5102352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3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7</a:t>
            </a:r>
            <a:endParaRPr lang="en-US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5806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хранит оба значения.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371600"/>
            <a:ext cx="457200" cy="457200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62856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наоборот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81144" y="1965960"/>
            <a:ext cx="3108960" cy="2258568"/>
          </a:xfrm>
          <a:prstGeom prst="roundRect">
            <a:avLst>
              <a:gd name="adj" fmla="val 2024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2084832"/>
            <a:ext cx="28163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385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n // 100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n // 10 % 10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n % 10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print(c*100 + b*10 + a)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4700016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4818888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Наоборот: 583</a:t>
            </a:r>
            <a:endParaRPr lang="en-US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5422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Разобрать и собрать заново.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8472" y="1371600"/>
            <a:ext cx="457200" cy="457200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48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924544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четырёх цифр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366760" y="1965960"/>
            <a:ext cx="3108960" cy="2258568"/>
          </a:xfrm>
          <a:prstGeom prst="roundRect">
            <a:avLst>
              <a:gd name="adj" fmla="val 2024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2084832"/>
            <a:ext cx="28163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2837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n // 1000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n // 100 % 10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n // 10 % 10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n % 10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print("Сумма:", a+b+c+d)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4700016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31352" y="4818888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Сумма: 20</a:t>
            </a:r>
            <a:endParaRPr lang="en-US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5422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+ 8 + 3 + 7 = 20.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E8B8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Олимпиадный уровень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минут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512064" cy="51206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Максимум без сравнения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Найди наибольшее из двух чисел. Без условного оператора и без max.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3858768"/>
            <a:ext cx="31089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977640"/>
            <a:ext cx="2816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14</a:t>
            </a: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23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795528" y="4864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" y="5157216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276088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Наибольшее: 23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62856" y="1417320"/>
            <a:ext cx="512064" cy="51206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62856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5202936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Перестановка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Поменяй местами первую и последнюю цифры четырёхзначного числа.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1234</a:t>
            </a:r>
            <a:endParaRPr lang="en-US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81144" y="48737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45736" y="49926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Результат: 4231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8472" y="1417320"/>
            <a:ext cx="512064" cy="51206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48472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141732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цифр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21031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Первая цифра трёхзначного числа уходит в конец.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836676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6760" y="385876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531352" y="397764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385</a:t>
            </a:r>
            <a:endParaRPr lang="en-US" dirty="0"/>
          </a:p>
        </p:txBody>
      </p:sp>
      <p:sp>
        <p:nvSpPr>
          <p:cNvPr id="37" name="Text 35"/>
          <p:cNvSpPr txBox="1"/>
          <p:nvPr/>
        </p:nvSpPr>
        <p:spPr>
          <a:xfrm>
            <a:off x="8366760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 вывести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366760" y="48737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31352" y="49926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Сдвиг: 853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2377440" cy="603504"/>
          </a:xfrm>
          <a:prstGeom prst="roundRect">
            <a:avLst>
              <a:gd name="adj" fmla="val 15152"/>
            </a:avLst>
          </a:prstGeom>
          <a:solidFill>
            <a:srgbClr val="E8B8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БАЛЛОВ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3063240" y="320040"/>
            <a:ext cx="5669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Решения — сверьте со своим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915400" y="320040"/>
            <a:ext cx="2788920" cy="603504"/>
          </a:xfrm>
          <a:prstGeom prst="roundRect">
            <a:avLst>
              <a:gd name="adj" fmla="val 15152"/>
            </a:avLst>
          </a:prstGeom>
          <a:solidFill>
            <a:srgbClr val="221C4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32004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Максимум без сравнения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5528" y="1965960"/>
            <a:ext cx="3108960" cy="1975104"/>
          </a:xfrm>
          <a:prstGeom prst="roundRect">
            <a:avLst>
              <a:gd name="adj" fmla="val 231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084832"/>
            <a:ext cx="28163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14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23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(a+b+abs(a-b)) // 2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print("Наибольшее:", m)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1239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" y="4416552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535424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Наибольшее: 23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51389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abs() даёт модуль числа.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34256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371600"/>
            <a:ext cx="457200" cy="457200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62856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Перестановка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81144" y="1965960"/>
            <a:ext cx="3108960" cy="2258568"/>
          </a:xfrm>
          <a:prstGeom prst="roundRect">
            <a:avLst>
              <a:gd name="adj" fmla="val 2024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45736" y="2084832"/>
            <a:ext cx="28163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1234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n // 1000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n % 10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 = n // 10 % 100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print(z*1000 + sr*10 + p)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81144" y="4700016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45736" y="4818888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Результат: 4231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5422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Середина остаётся на месте.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19872" y="1188720"/>
            <a:ext cx="3611880" cy="5257800"/>
          </a:xfrm>
          <a:prstGeom prst="roundRect">
            <a:avLst>
              <a:gd name="adj" fmla="val 2025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8472" y="1371600"/>
            <a:ext cx="457200" cy="457200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4847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924544" y="1371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цифр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366760" y="1965960"/>
            <a:ext cx="3108960" cy="1691640"/>
          </a:xfrm>
          <a:prstGeom prst="roundRect">
            <a:avLst>
              <a:gd name="adj" fmla="val 2703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2084832"/>
            <a:ext cx="2816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385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n // 100      # 3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ost = n % 100     # 85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print("Сдвиг:", ost*10 + p)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66760" y="4133088"/>
            <a:ext cx="310896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31352" y="4251960"/>
            <a:ext cx="2816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Сдвиг: 853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485546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→ 853.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Шпаргалка · 1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Держи перед глазами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на экран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303520" cy="1124712"/>
          </a:xfrm>
          <a:prstGeom prst="roundRect">
            <a:avLst>
              <a:gd name="adj" fmla="val 4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130552"/>
            <a:ext cx="501091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print("Привет!")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print(10)</a:t>
            </a:r>
            <a:endParaRPr lang="en-US" sz="1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print("Класс:", 10)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918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— в кавычках. Числа — без кавычек.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794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4206240"/>
            <a:ext cx="5303520" cy="1691640"/>
          </a:xfrm>
          <a:prstGeom prst="roundRect">
            <a:avLst>
              <a:gd name="adj" fmla="val 2703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4325112"/>
            <a:ext cx="50109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imya = "Фаррух"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klass = 10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print(imya)     # Фаррух</a:t>
            </a:r>
            <a:endParaRPr lang="en-US" sz="1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print("imya")   # imya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600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Арифметика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309360" y="2011680"/>
            <a:ext cx="5212080" cy="530352"/>
          </a:xfrm>
          <a:prstGeom prst="roundRect">
            <a:avLst>
              <a:gd name="adj" fmla="val 10345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201168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406640" y="201168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+ 2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0" y="20116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9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09360" y="2615184"/>
            <a:ext cx="5212080" cy="530352"/>
          </a:xfrm>
          <a:prstGeom prst="roundRect">
            <a:avLst>
              <a:gd name="adj" fmla="val 10345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261518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61518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7 - 2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0" y="26151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5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3218688"/>
            <a:ext cx="5212080" cy="530352"/>
          </a:xfrm>
          <a:prstGeom prst="roundRect">
            <a:avLst>
              <a:gd name="adj" fmla="val 10345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321868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321868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* 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21868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14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309360" y="3822192"/>
            <a:ext cx="5212080" cy="530352"/>
          </a:xfrm>
          <a:prstGeom prst="roundRect">
            <a:avLst>
              <a:gd name="adj" fmla="val 10345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82219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406640" y="38221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382219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3.5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09360" y="4425696"/>
            <a:ext cx="5212080" cy="530352"/>
          </a:xfrm>
          <a:prstGeom prst="roundRect">
            <a:avLst>
              <a:gd name="adj" fmla="val 1034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442569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D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406640" y="442569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// 2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4425696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09360" y="5029200"/>
            <a:ext cx="5212080" cy="530352"/>
          </a:xfrm>
          <a:prstGeom prst="roundRect">
            <a:avLst>
              <a:gd name="adj" fmla="val 10345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502920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D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406640" y="50292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7 % 2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326880" y="502920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1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09360" y="5632704"/>
            <a:ext cx="5212080" cy="530352"/>
          </a:xfrm>
          <a:prstGeom prst="roundRect">
            <a:avLst>
              <a:gd name="adj" fmla="val 10345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46520" y="563270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7406640" y="563270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** 2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9326880" y="563270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49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Шпаргалка · 2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числа на цифры и частые ошибки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числа на цифры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303520" cy="1691640"/>
          </a:xfrm>
          <a:prstGeom prst="roundRect">
            <a:avLst>
              <a:gd name="adj" fmla="val 2703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130552"/>
            <a:ext cx="50109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385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sotni = n // 100       # 3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desyatki = n // 10 % 10  # 8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edinicy = n % 10       # 5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обратно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4251960"/>
            <a:ext cx="530352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4370832"/>
            <a:ext cx="5010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edinicy*100 + desyatki*10 + sotni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583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349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числа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0080" y="5760720"/>
            <a:ext cx="5303520" cy="557784"/>
          </a:xfrm>
          <a:prstGeom prst="roundRect">
            <a:avLst>
              <a:gd name="adj" fmla="val 819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587959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abs(-7)   # 7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600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Частые ошибки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9360" y="2011680"/>
            <a:ext cx="5212080" cy="640080"/>
          </a:xfrm>
          <a:prstGeom prst="roundRect">
            <a:avLst>
              <a:gd name="adj" fmla="val 8571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20482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unterminated string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3408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закрыта кавычка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2743200"/>
            <a:ext cx="5212080" cy="640080"/>
          </a:xfrm>
          <a:prstGeom prst="roundRect">
            <a:avLst>
              <a:gd name="adj" fmla="val 8571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277977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'(' was never closed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0723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закрыта скобка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309360" y="3474720"/>
            <a:ext cx="5212080" cy="640080"/>
          </a:xfrm>
          <a:prstGeom prst="roundRect">
            <a:avLst>
              <a:gd name="adj" fmla="val 8571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92240" y="351129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'Print' is not defined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8039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— маленькими буквами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309360" y="4206240"/>
            <a:ext cx="5212080" cy="640080"/>
          </a:xfrm>
          <a:prstGeom prst="roundRect">
            <a:avLst>
              <a:gd name="adj" fmla="val 8571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92240" y="424281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unexpected indent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45354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Убери пробел в начале строки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309360" y="4937760"/>
            <a:ext cx="5212080" cy="640080"/>
          </a:xfrm>
          <a:prstGeom prst="roundRect">
            <a:avLst>
              <a:gd name="adj" fmla="val 8571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497433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 only concatenate str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52669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и число — через запятую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309360" y="5669280"/>
            <a:ext cx="5212080" cy="640080"/>
          </a:xfrm>
          <a:prstGeom prst="roundRect">
            <a:avLst>
              <a:gd name="adj" fmla="val 8571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57058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'dlina' is not defined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59984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Опечатка в имени переменной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309360" y="64465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сообщении всегда есть номер строки. Смотри сначала туда.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1822</Words>
  <Application>Microsoft Office PowerPoint</Application>
  <PresentationFormat>Широкоэкранный</PresentationFormat>
  <Paragraphs>497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Мухаммадчон Мусоев</cp:lastModifiedBy>
  <cp:revision>2</cp:revision>
  <dcterms:created xsi:type="dcterms:W3CDTF">2026-09-11T15:55:44Z</dcterms:created>
  <dcterms:modified xsi:type="dcterms:W3CDTF">2026-09-11T16:06:31Z</dcterms:modified>
</cp:coreProperties>
</file>