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60" r:id="rId4"/>
    <p:sldId id="261" r:id="rId5"/>
    <p:sldId id="262" r:id="rId6"/>
    <p:sldId id="263" r:id="rId7"/>
    <p:sldId id="275" r:id="rId8"/>
    <p:sldId id="264" r:id="rId9"/>
    <p:sldId id="265" r:id="rId10"/>
    <p:sldId id="266" r:id="rId11"/>
    <p:sldId id="267" r:id="rId12"/>
    <p:sldId id="268" r:id="rId13"/>
    <p:sldId id="276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6826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Проверка присутствующих. Далее блиц-опрос по домашнему заданию.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Ответы: определённость; массовость. По 1 баллу за верный ответ. Спросить 5-6 разных учеников.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Алгоритмизация — то, что делается ДО компьютера: в голове и в тетради.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способа — ядро занятия. Дальше каждый разбирается отдельно на одной и той же задаче.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Ответ: бабушке — словесным, компьютеру — на языке программирования. Смысл вопроса: способ выбирается под адресата. 1 балл за оба ответа.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Дать время перерисовать обозначения в тетрадь. Без этого практическая часть не пойдёт.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Ответы: у ромба два выхода, подписаны «да» и «нет»; начало ровно одно. По 1 баллу.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Блок-схему нарисовать на доске, пока класс перерисовывает. Это образец для практической части.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Ключевое различие: псевдокод не запускается, код запускается. Разница между строками 2 и 4 минимальна — в этом и мысль.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Образец: начало / дано: a, b / среднее = (a + b) / 2 / вывести среднее / конец. 2 балла за верную структуру и вычисление, 1 балл — если только вычисление.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Слово «алгоритм» — от имени аль-Хорезми. Он записывал точные шаги решения задач: это и есть исток темы.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слайд занятия. Показать рядом с псевдокодом с предыдущего слайда.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Нарисовать эту схему на доске вместе с классом. Домашнее задание со светофором строится точно так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Раздать карточки. Обойти класс, контролировать парность выходов из ромба.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Дополнительно для быстрых: убрать кавычку, прочитать сообщение, назвать номер строки, исправить.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два задания выполняются в тетради, компьютер не нужен.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Выставить отметки. Собрать тетради выборочно для проверки блок-схем.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371600"/>
            <a:ext cx="5669280" cy="5669280"/>
          </a:xfrm>
          <a:prstGeom prst="ellipse">
            <a:avLst/>
          </a:prstGeom>
          <a:solidFill>
            <a:srgbClr val="8B7CF6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291840"/>
            <a:ext cx="4023360" cy="4023360"/>
          </a:xfrm>
          <a:prstGeom prst="ellipse">
            <a:avLst/>
          </a:prstGeom>
          <a:solidFill>
            <a:srgbClr val="4FD1E0">
              <a:alpha val="1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ЗАНЯТИЕ 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8595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Алгоритмизация.</a:t>
            </a:r>
            <a:endParaRPr lang="en-US" sz="4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Алгоритмические языки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850392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Информатика · 10 класс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50392" y="4343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Сегодня научимся записывать алгоритм так, чтобы его понял компьютер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Вспомним прошлое занятие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Блиц-опрос: отвечает тот, кого назову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804672"/>
          </a:xfrm>
          <a:prstGeom prst="roundRect">
            <a:avLst>
              <a:gd name="adj" fmla="val 7955"/>
            </a:avLst>
          </a:prstGeom>
          <a:solidFill>
            <a:srgbClr val="221C42"/>
          </a:solidFill>
          <a:ln w="15875">
            <a:solidFill>
              <a:srgbClr val="8B7C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783080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такое алгоритм?</a:t>
            </a:r>
            <a:endParaRPr lang="en-US" sz="2400" b="1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1783080"/>
            <a:ext cx="6858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Точное предписание исполнителю выполнить конечную последовательность действий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715768"/>
            <a:ext cx="10881360" cy="804672"/>
          </a:xfrm>
          <a:prstGeom prst="roundRect">
            <a:avLst>
              <a:gd name="adj" fmla="val 7955"/>
            </a:avLst>
          </a:prstGeom>
          <a:solidFill>
            <a:srgbClr val="221C42"/>
          </a:solidFill>
          <a:ln w="15875">
            <a:solidFill>
              <a:srgbClr val="4FD1E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0120" y="2715768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Назовите свойства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2715768"/>
            <a:ext cx="6858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Дискретность, определённость, конечность, результативность, массовость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648456"/>
            <a:ext cx="10881360" cy="804672"/>
          </a:xfrm>
          <a:prstGeom prst="roundRect">
            <a:avLst>
              <a:gd name="adj" fmla="val 7955"/>
            </a:avLst>
          </a:prstGeom>
          <a:solidFill>
            <a:srgbClr val="221C42"/>
          </a:solidFill>
          <a:ln w="15875">
            <a:solidFill>
              <a:srgbClr val="F2789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3648456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«Возьми немного риса»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3648456"/>
            <a:ext cx="6858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Какое свойство нарушено?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10881360" cy="804672"/>
          </a:xfrm>
          <a:prstGeom prst="roundRect">
            <a:avLst>
              <a:gd name="adj" fmla="val 7955"/>
            </a:avLst>
          </a:prstGeom>
          <a:solidFill>
            <a:srgbClr val="221C42"/>
          </a:solidFill>
          <a:ln w="15875">
            <a:solidFill>
              <a:srgbClr val="F2789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0120" y="4581144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«Раздели 20 на 4»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4581144"/>
            <a:ext cx="6858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здесь какое?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5513832"/>
            <a:ext cx="10881360" cy="804672"/>
          </a:xfrm>
          <a:prstGeom prst="roundRect">
            <a:avLst>
              <a:gd name="adj" fmla="val 7955"/>
            </a:avLst>
          </a:prstGeom>
          <a:solidFill>
            <a:srgbClr val="221C42"/>
          </a:solidFill>
          <a:ln w="15875">
            <a:solidFill>
              <a:srgbClr val="3DD6A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5513832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Свой пример алгоритма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5513832"/>
            <a:ext cx="6858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повседневной жизни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Алгоритмизация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221C42"/>
          </a:solidFill>
          <a:ln w="19050">
            <a:solidFill>
              <a:srgbClr val="8B7C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73736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Алгоритмизация — составление алгоритма до написания программы. Задачу раскладывают на последовательность точных шагов.</a:t>
            </a:r>
            <a:endParaRPr lang="en-US" sz="2400" b="1" dirty="0"/>
          </a:p>
        </p:txBody>
      </p:sp>
      <p:sp>
        <p:nvSpPr>
          <p:cNvPr id="5" name="Shape 3"/>
          <p:cNvSpPr/>
          <p:nvPr/>
        </p:nvSpPr>
        <p:spPr>
          <a:xfrm>
            <a:off x="640080" y="3063240"/>
            <a:ext cx="2377440" cy="1143000"/>
          </a:xfrm>
          <a:prstGeom prst="roundRect">
            <a:avLst>
              <a:gd name="adj" fmla="val 6400"/>
            </a:avLst>
          </a:prstGeom>
          <a:solidFill>
            <a:srgbClr val="221C42"/>
          </a:solidFill>
          <a:ln w="19050">
            <a:solidFill>
              <a:srgbClr val="8B7C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2004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731520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нужно получить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035808" y="3630168"/>
            <a:ext cx="384048" cy="0"/>
          </a:xfrm>
          <a:prstGeom prst="line">
            <a:avLst/>
          </a:prstGeom>
          <a:noFill/>
          <a:ln w="25400">
            <a:solidFill>
              <a:srgbClr val="A9A3C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438144" y="3063240"/>
            <a:ext cx="2377440" cy="1143000"/>
          </a:xfrm>
          <a:prstGeom prst="roundRect">
            <a:avLst>
              <a:gd name="adj" fmla="val 6400"/>
            </a:avLst>
          </a:prstGeom>
          <a:solidFill>
            <a:srgbClr val="221C42"/>
          </a:solidFill>
          <a:ln w="19050">
            <a:solidFill>
              <a:srgbClr val="4FD1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29584" y="32004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3529584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точные шаги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833872" y="3630168"/>
            <a:ext cx="384048" cy="0"/>
          </a:xfrm>
          <a:prstGeom prst="line">
            <a:avLst/>
          </a:prstGeom>
          <a:noFill/>
          <a:ln w="25400">
            <a:solidFill>
              <a:srgbClr val="A9A3C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36208" y="3063240"/>
            <a:ext cx="2377440" cy="1143000"/>
          </a:xfrm>
          <a:prstGeom prst="roundRect">
            <a:avLst>
              <a:gd name="adj" fmla="val 6400"/>
            </a:avLst>
          </a:prstGeom>
          <a:solidFill>
            <a:srgbClr val="221C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27648" y="32004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ПРОГРАММА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327648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на языке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631936" y="3630168"/>
            <a:ext cx="384048" cy="0"/>
          </a:xfrm>
          <a:prstGeom prst="line">
            <a:avLst/>
          </a:prstGeom>
          <a:noFill/>
          <a:ln w="25400">
            <a:solidFill>
              <a:srgbClr val="A9A3C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034272" y="3063240"/>
            <a:ext cx="2377440" cy="1143000"/>
          </a:xfrm>
          <a:prstGeom prst="roundRect">
            <a:avLst>
              <a:gd name="adj" fmla="val 6400"/>
            </a:avLst>
          </a:prstGeom>
          <a:solidFill>
            <a:srgbClr val="221C42"/>
          </a:solidFill>
          <a:ln w="19050">
            <a:solidFill>
              <a:srgbClr val="F2789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25712" y="32004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9125712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совпал ли результат</a:t>
            </a: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640080" y="4526279"/>
            <a:ext cx="10881360" cy="1417319"/>
          </a:xfrm>
          <a:prstGeom prst="roundRect">
            <a:avLst>
              <a:gd name="adj" fmla="val 5926"/>
            </a:avLst>
          </a:prstGeom>
          <a:solidFill>
            <a:srgbClr val="221C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0120" y="4617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 из жизни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960120" y="5010912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Заказать пиццу — это не «хочу пиццу». Это: позвонить, назвать адрес, выбрать, оплатить, дождаться. Продумали шаги — получили пиццу. Не продумали — остались голодными.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59436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пропускает второй шаг — переписывает программу по три раза.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Три способа записи алгоритма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применяется в своём случае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221C42"/>
          </a:solidFill>
          <a:ln w="15875">
            <a:solidFill>
              <a:srgbClr val="8B7CF6"/>
            </a:solidFill>
            <a:prstDash val="solid"/>
          </a:ln>
          <a:effectLst>
            <a:outerShdw blurRad="101600" dist="635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32688" y="20574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Словесный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32688" y="26517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Обычным языком, предложениями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36118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Объяснить человеку. Беда: допускает двоякое толкование</a:t>
            </a:r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361688" y="182880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221C42"/>
          </a:solidFill>
          <a:ln w="15875">
            <a:solidFill>
              <a:srgbClr val="4FD1E0"/>
            </a:solidFill>
            <a:prstDash val="solid"/>
          </a:ln>
          <a:effectLst>
            <a:outerShdw blurRad="101600" dist="635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54296" y="20574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Псевдокод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4654296" y="26517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Кратко, по образцу языка программирования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654296" y="36118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Обдумать решение до написания программы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083296" y="1828800"/>
            <a:ext cx="3429000" cy="3200400"/>
          </a:xfrm>
          <a:prstGeom prst="roundRect">
            <a:avLst>
              <a:gd name="adj" fmla="val 1714"/>
            </a:avLst>
          </a:prstGeom>
          <a:solidFill>
            <a:srgbClr val="221C42"/>
          </a:solidFill>
          <a:ln w="15875">
            <a:solidFill>
              <a:srgbClr val="3DD6A0"/>
            </a:solidFill>
            <a:prstDash val="solid"/>
          </a:ln>
          <a:effectLst>
            <a:outerShdw blurRad="101600" dist="635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75904" y="20574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Блок-схема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8375904" y="26517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Графически, условными обозначениями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375904" y="36118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Проверить логику: виден весь путь сразу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Записывать в тетрадь: название способа и когда он применяется.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4FD1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· УСТНО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189720" y="457200"/>
            <a:ext cx="2514600" cy="502920"/>
          </a:xfrm>
          <a:prstGeom prst="roundRect">
            <a:avLst>
              <a:gd name="adj" fmla="val 18182"/>
            </a:avLst>
          </a:prstGeom>
          <a:solidFill>
            <a:srgbClr val="221C42"/>
          </a:solidFill>
          <a:ln w="15875">
            <a:solidFill>
              <a:srgbClr val="4FD1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89720" y="45720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r>
              <a:rPr lang="en-US" sz="14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балл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2588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Каким способом объясните алгоритм бабушке?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889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вторым вопросом: каким способом объясните его компьютеру?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40080" y="3337560"/>
            <a:ext cx="10881360" cy="2971800"/>
          </a:xfrm>
          <a:prstGeom prst="roundRect">
            <a:avLst>
              <a:gd name="adj" fmla="val 2154"/>
            </a:avLst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3447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класса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Условные обозначения блок-схемы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Записать в тетрадь с образцами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914400"/>
          </a:xfrm>
          <a:prstGeom prst="roundRect">
            <a:avLst>
              <a:gd name="adj" fmla="val 7000"/>
            </a:avLst>
          </a:prstGeom>
          <a:solidFill>
            <a:srgbClr val="221C42"/>
          </a:solidFill>
          <a:ln w="15875">
            <a:solidFill>
              <a:srgbClr val="8B7C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783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Овал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3749040" y="1783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Начало и конец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0" y="178308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Ровно одно начало; концов может быть несколько</a:t>
            </a:r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881360" cy="914400"/>
          </a:xfrm>
          <a:prstGeom prst="roundRect">
            <a:avLst>
              <a:gd name="adj" fmla="val 7000"/>
            </a:avLst>
          </a:prstGeom>
          <a:solidFill>
            <a:srgbClr val="221C42"/>
          </a:solidFill>
          <a:ln w="15875">
            <a:solidFill>
              <a:srgbClr val="4FD1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2834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Параллелограмм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3749040" y="2834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Ввод и вывод данных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283464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Указывается, какая величина вводится или выводится</a:t>
            </a:r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40080" y="3886200"/>
            <a:ext cx="10881360" cy="914400"/>
          </a:xfrm>
          <a:prstGeom prst="roundRect">
            <a:avLst>
              <a:gd name="adj" fmla="val 7000"/>
            </a:avLst>
          </a:prstGeom>
          <a:solidFill>
            <a:srgbClr val="221C42"/>
          </a:solidFill>
          <a:ln w="15875">
            <a:solidFill>
              <a:srgbClr val="3DD6A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38862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Прямоугольник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3749040" y="38862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Действие, вычисление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388620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вход, один выход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" y="4937760"/>
            <a:ext cx="10881360" cy="914400"/>
          </a:xfrm>
          <a:prstGeom prst="roundRect">
            <a:avLst>
              <a:gd name="adj" fmla="val 7000"/>
            </a:avLst>
          </a:prstGeom>
          <a:solidFill>
            <a:srgbClr val="221C42"/>
          </a:solidFill>
          <a:ln w="15875">
            <a:solidFill>
              <a:srgbClr val="F2789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49377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Ромб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3749040" y="49377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условия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49377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вход, ДВА выхода; оба подписываются «да» и «нет»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640080" y="6080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F278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Самая частая ошибка: из ромба рисуют один выход. Их всегда два, и оба подписаны.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C85C537C-1753-98EF-B505-6A46D21DE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01203"/>
            <a:ext cx="12187761" cy="6653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048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278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БЛИЦ · УСТНО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189720" y="457200"/>
            <a:ext cx="2514600" cy="502920"/>
          </a:xfrm>
          <a:prstGeom prst="roundRect">
            <a:avLst>
              <a:gd name="adj" fmla="val 18182"/>
            </a:avLst>
          </a:prstGeom>
          <a:solidFill>
            <a:srgbClr val="221C42"/>
          </a:solidFill>
          <a:ln w="15875">
            <a:solidFill>
              <a:srgbClr val="F2789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89720" y="45720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78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балл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2588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Сколько выходов у ромба и как они подписаны?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889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F278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второй вопрос: сколько начал может быть у алгоритма?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337560"/>
            <a:ext cx="10881360" cy="2971800"/>
          </a:xfrm>
          <a:prstGeom prst="roundRect">
            <a:avLst>
              <a:gd name="adj" fmla="val 2154"/>
            </a:avLst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3447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класса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Одна задача — три записи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Периметр и площадь прямоугольника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303520" cy="1847088"/>
          </a:xfrm>
          <a:prstGeom prst="roundRect">
            <a:avLst>
              <a:gd name="adj" fmla="val 5333"/>
            </a:avLst>
          </a:prstGeom>
          <a:solidFill>
            <a:srgbClr val="221C42"/>
          </a:solidFill>
          <a:ln w="19050">
            <a:solidFill>
              <a:srgbClr val="8B7C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8470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Словесная запись</a:t>
            </a:r>
            <a:endParaRPr lang="en-US" sz="1700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14400" y="2368296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Взять длину и ширину; сложить и умножить на два — периметр; умножить длину на ширину — площадь; вывести оба результата.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8470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Псевдокод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6309360" y="2176272"/>
            <a:ext cx="5212080" cy="1911096"/>
          </a:xfrm>
          <a:prstGeom prst="roundRect">
            <a:avLst>
              <a:gd name="adj" fmla="val 247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0528" y="2368296"/>
            <a:ext cx="484632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20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начало</a:t>
            </a:r>
            <a:endParaRPr lang="en-US" sz="2000" b="1" dirty="0">
              <a:solidFill>
                <a:schemeClr val="bg1"/>
              </a:solidFill>
            </a:endParaRPr>
          </a:p>
          <a:p>
            <a:pPr marL="0" indent="0">
              <a:lnSpc>
                <a:spcPct val="112000"/>
              </a:lnSpc>
              <a:buNone/>
            </a:pPr>
            <a:r>
              <a:rPr lang="en-US" sz="20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дано: длина, ширина</a:t>
            </a:r>
            <a:endParaRPr lang="en-US" sz="2000" b="1" dirty="0">
              <a:solidFill>
                <a:schemeClr val="bg1"/>
              </a:solidFill>
            </a:endParaRPr>
          </a:p>
          <a:p>
            <a:pPr marL="0" indent="0">
              <a:lnSpc>
                <a:spcPct val="112000"/>
              </a:lnSpc>
              <a:buNone/>
            </a:pPr>
            <a:r>
              <a:rPr lang="en-US" sz="20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периметр = 2 * (длина + ширина)</a:t>
            </a:r>
            <a:endParaRPr lang="en-US" sz="2000" b="1" dirty="0">
              <a:solidFill>
                <a:schemeClr val="bg1"/>
              </a:solidFill>
            </a:endParaRPr>
          </a:p>
          <a:p>
            <a:pPr marL="0" indent="0">
              <a:lnSpc>
                <a:spcPct val="112000"/>
              </a:lnSpc>
              <a:buNone/>
            </a:pPr>
            <a:r>
              <a:rPr lang="en-US" sz="20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площадь  = длина * ширина</a:t>
            </a:r>
            <a:endParaRPr lang="en-US" sz="2000" b="1" dirty="0">
              <a:solidFill>
                <a:schemeClr val="bg1"/>
              </a:solidFill>
            </a:endParaRPr>
          </a:p>
          <a:p>
            <a:pPr marL="0" indent="0">
              <a:lnSpc>
                <a:spcPct val="112000"/>
              </a:lnSpc>
              <a:buNone/>
            </a:pPr>
            <a:r>
              <a:rPr lang="en-US" sz="20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вывести периметр, площадь</a:t>
            </a:r>
            <a:endParaRPr lang="en-US" sz="2000" b="1" dirty="0">
              <a:solidFill>
                <a:schemeClr val="bg1"/>
              </a:solidFill>
            </a:endParaRPr>
          </a:p>
          <a:p>
            <a:pPr marL="0" indent="0">
              <a:lnSpc>
                <a:spcPct val="112000"/>
              </a:lnSpc>
              <a:buNone/>
            </a:pPr>
            <a:r>
              <a:rPr lang="en-US" sz="20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конец</a:t>
            </a:r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420624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221C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3159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Блок-схема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960120" y="47091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овал «начало» → параллелограмм «ввод длины и ширины» → прямоугольник «вычислить периметр» → прямоугольник «вычислить площадь» → параллелограмм «вывод результатов» → овал «конец»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записи — один и тот же алгоритм. Меняется только форма.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Четыре записи одного алгоритма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Меняется форма — алгоритм остаётся тем же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548640"/>
          </a:xfrm>
          <a:prstGeom prst="roundRect">
            <a:avLst>
              <a:gd name="adj" fmla="val 10000"/>
            </a:avLst>
          </a:prstGeom>
          <a:solidFill>
            <a:srgbClr val="2C255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7830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Способ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1783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выглядит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961120" y="17830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применяется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2395728"/>
            <a:ext cx="10881360" cy="822960"/>
          </a:xfrm>
          <a:prstGeom prst="roundRect">
            <a:avLst>
              <a:gd name="adj" fmla="val 6667"/>
            </a:avLst>
          </a:prstGeom>
          <a:solidFill>
            <a:srgbClr val="221C42"/>
          </a:solidFill>
          <a:ln w="15875">
            <a:solidFill>
              <a:srgbClr val="8B7C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2395728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Словесный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3383280" y="239572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«Взять длину и ширину, сложить, умножить на два...»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961120" y="239572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Объяснить человеку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0080" y="3328416"/>
            <a:ext cx="10881360" cy="822960"/>
          </a:xfrm>
          <a:prstGeom prst="roundRect">
            <a:avLst>
              <a:gd name="adj" fmla="val 6667"/>
            </a:avLst>
          </a:prstGeom>
          <a:solidFill>
            <a:srgbClr val="221C42"/>
          </a:solidFill>
          <a:ln w="15875">
            <a:solidFill>
              <a:srgbClr val="4FD1E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3328416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Псевдокод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3383280" y="3328416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периметр = 2 * (длина + ширина)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0" y="3328416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Обдумать решение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40080" y="4261104"/>
            <a:ext cx="10881360" cy="822960"/>
          </a:xfrm>
          <a:prstGeom prst="roundRect">
            <a:avLst>
              <a:gd name="adj" fmla="val 6667"/>
            </a:avLst>
          </a:prstGeom>
          <a:solidFill>
            <a:srgbClr val="221C42"/>
          </a:solidFill>
          <a:ln w="15875">
            <a:solidFill>
              <a:srgbClr val="3DD6A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4261104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Блок-схема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3383280" y="4261104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овал → параллелограмм → прямоугольник → овал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0" y="4261104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Проверить логику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40080" y="5193792"/>
            <a:ext cx="10881360" cy="822960"/>
          </a:xfrm>
          <a:prstGeom prst="roundRect">
            <a:avLst>
              <a:gd name="adj" fmla="val 6667"/>
            </a:avLst>
          </a:prstGeom>
          <a:solidFill>
            <a:srgbClr val="221C42"/>
          </a:solidFill>
          <a:ln w="15875">
            <a:solidFill>
              <a:srgbClr val="F2789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0120" y="5193792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3383280" y="5193792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perimetr = 2 * (dlina + shirina)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8961120" y="5193792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Выполнить на компьютере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40080" y="6172200"/>
            <a:ext cx="10881360" cy="685800"/>
          </a:xfrm>
          <a:prstGeom prst="roundRect">
            <a:avLst>
              <a:gd name="adj" fmla="val 10909"/>
            </a:avLst>
          </a:prstGeom>
          <a:solidFill>
            <a:srgbClr val="221C42"/>
          </a:solidFill>
          <a:ln w="15875">
            <a:solidFill>
              <a:srgbClr val="F2789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0120" y="6172200"/>
            <a:ext cx="10241280" cy="60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Псевдокод — это черновик. Компьютер его не выполнит. Он нужен, чтобы не запутаться до того, как сядешь за компьютер.</a:t>
            </a:r>
            <a:endParaRPr lang="en-US" sz="2000" b="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8B7C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ЗАДАНИЕ · ПИСЬМЕННО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2588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Запишите псевдокодом: среднее двух чисел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889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Начало, дано, вычисление, вывод, конец. Пять строк.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337560"/>
            <a:ext cx="10881360" cy="2971800"/>
          </a:xfrm>
          <a:prstGeom prst="roundRect">
            <a:avLst>
              <a:gd name="adj" fmla="val 2154"/>
            </a:avLst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3447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класса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Алгоритмический язык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199" y="1120588"/>
            <a:ext cx="11519647" cy="1851212"/>
          </a:xfrm>
          <a:prstGeom prst="roundRect">
            <a:avLst>
              <a:gd name="adj" fmla="val 5714"/>
            </a:avLst>
          </a:prstGeom>
          <a:solidFill>
            <a:srgbClr val="221C42"/>
          </a:solidFill>
          <a:ln w="19050">
            <a:solidFill>
              <a:srgbClr val="8B7C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0020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Алгоритмический язык — язык для записи алгоритмов. У него строгие правила: каждая запись понимается единственным образом. Поэтому его понимает не только человек, но и машина.</a:t>
            </a:r>
            <a:endParaRPr lang="en-US" sz="2800" b="1" dirty="0"/>
          </a:p>
        </p:txBody>
      </p:sp>
      <p:sp>
        <p:nvSpPr>
          <p:cNvPr id="5" name="Shape 3"/>
          <p:cNvSpPr/>
          <p:nvPr/>
        </p:nvSpPr>
        <p:spPr>
          <a:xfrm>
            <a:off x="640080" y="3291840"/>
            <a:ext cx="5349240" cy="2194560"/>
          </a:xfrm>
          <a:prstGeom prst="roundRect">
            <a:avLst>
              <a:gd name="adj" fmla="val 3333"/>
            </a:avLst>
          </a:prstGeom>
          <a:solidFill>
            <a:srgbClr val="221C42"/>
          </a:solidFill>
          <a:ln w="19050">
            <a:solidFill>
              <a:srgbClr val="F2789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3429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Обычный язык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960120" y="38862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«Добавь немного соли»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«Иди, пока не устанешь»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понимает по-своему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172200" y="3291840"/>
            <a:ext cx="5349240" cy="2194560"/>
          </a:xfrm>
          <a:prstGeom prst="roundRect">
            <a:avLst>
              <a:gd name="adj" fmla="val 3333"/>
            </a:avLst>
          </a:prstGeom>
          <a:solidFill>
            <a:srgbClr val="221C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3429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Алгоритмический язык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492240" y="38862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perimetr = 2 * (dlina + shirina)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Понимается единственным образом — и человеком, и машиной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Языки программирования — это алгоритмические языки. В нашем курсе — Python.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2F33CE-013D-D9F7-91FD-253D047F22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" y="0"/>
            <a:ext cx="6095999" cy="685800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C7EC67C-CDDE-868A-AA70-F474AFDEC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55429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Четвёртая запись: на языке программирования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же задача, что и на прошлом слайде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6583680" cy="2359152"/>
          </a:xfrm>
          <a:prstGeom prst="roundRect">
            <a:avLst>
              <a:gd name="adj" fmla="val 1938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911096"/>
            <a:ext cx="6217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dlina = 6</a:t>
            </a:r>
            <a:endParaRPr lang="en-US" sz="1600" dirty="0">
              <a:solidFill>
                <a:schemeClr val="bg1"/>
              </a:solidFill>
            </a:endParaRPr>
          </a:p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shirina = 4</a:t>
            </a:r>
            <a:endParaRPr lang="en-US" sz="1600" dirty="0">
              <a:solidFill>
                <a:schemeClr val="bg1"/>
              </a:solidFill>
            </a:endParaRPr>
          </a:p>
          <a:p>
            <a:pPr marL="0" indent="0">
              <a:lnSpc>
                <a:spcPct val="112000"/>
              </a:lnSpc>
              <a:buNone/>
            </a:pPr>
            <a:endParaRPr lang="en-US" sz="1600" dirty="0">
              <a:solidFill>
                <a:schemeClr val="bg1"/>
              </a:solidFill>
            </a:endParaRPr>
          </a:p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perimetr = 2 * (dlina + shirina)</a:t>
            </a:r>
            <a:endParaRPr lang="en-US" sz="1600" dirty="0">
              <a:solidFill>
                <a:schemeClr val="bg1"/>
              </a:solidFill>
            </a:endParaRPr>
          </a:p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ploshad = dlina * shirina</a:t>
            </a:r>
            <a:endParaRPr lang="en-US" sz="1600" dirty="0">
              <a:solidFill>
                <a:schemeClr val="bg1"/>
              </a:solidFill>
            </a:endParaRPr>
          </a:p>
          <a:p>
            <a:pPr marL="0" indent="0">
              <a:lnSpc>
                <a:spcPct val="112000"/>
              </a:lnSpc>
              <a:buNone/>
            </a:pPr>
            <a:endParaRPr lang="en-US" sz="1600" dirty="0">
              <a:solidFill>
                <a:schemeClr val="bg1"/>
              </a:solidFill>
            </a:endParaRPr>
          </a:p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print("Периметр:", perimetr)</a:t>
            </a:r>
            <a:endParaRPr lang="en-US" sz="1600" dirty="0">
              <a:solidFill>
                <a:schemeClr val="bg1"/>
              </a:solidFill>
            </a:endParaRPr>
          </a:p>
          <a:p>
            <a:pPr marL="0" indent="0">
              <a:lnSpc>
                <a:spcPct val="112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print("Площадь:", ploshad)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7543800" y="178308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221C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18120" y="190195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выведет</a:t>
            </a:r>
            <a:endParaRPr lang="en-US" sz="1700" dirty="0">
              <a:solidFill>
                <a:schemeClr val="bg1"/>
              </a:solidFill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7818120" y="23317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Периметр: 20</a:t>
            </a:r>
            <a:endParaRPr lang="en-US" sz="16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Площадь: 24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7543800" y="3520440"/>
            <a:ext cx="3977640" cy="1828800"/>
          </a:xfrm>
          <a:prstGeom prst="roundRect">
            <a:avLst>
              <a:gd name="adj" fmla="val 4000"/>
            </a:avLst>
          </a:prstGeom>
          <a:solidFill>
            <a:srgbClr val="221C42"/>
          </a:solidFill>
          <a:ln w="19050">
            <a:solidFill>
              <a:srgbClr val="8B7C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18120" y="36393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Сравните</a:t>
            </a:r>
            <a:endParaRPr lang="en-US" sz="1700" dirty="0">
              <a:solidFill>
                <a:schemeClr val="bg1"/>
              </a:solidFill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7818120" y="4041648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псевдокода отличается почти ничем. Но эту запись компьютер уже может выполнить.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5486400"/>
            <a:ext cx="10881360" cy="502920"/>
          </a:xfrm>
          <a:prstGeom prst="roundRect">
            <a:avLst>
              <a:gd name="adj" fmla="val 10909"/>
            </a:avLst>
          </a:prstGeom>
          <a:solidFill>
            <a:srgbClr val="221C42"/>
          </a:solidFill>
          <a:ln w="15875">
            <a:solidFill>
              <a:srgbClr val="F2789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54864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Внимание при наборе: в слове dlina вторая буква — строчная латинская L, а не единица и не заглавная i.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0807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Вот зачем нужна алгоритмизация: сначала алгоритм, потом перевод на язык. Не наоборот.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Блок-схема с ветвлением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Такую вы построите сами — и такая будет в домашнем задании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931920" y="1691640"/>
            <a:ext cx="2011680" cy="548640"/>
          </a:xfrm>
          <a:prstGeom prst="flowChartTerminator">
            <a:avLst/>
          </a:prstGeom>
          <a:solidFill>
            <a:srgbClr val="221C42"/>
          </a:solidFill>
          <a:ln w="22225">
            <a:solidFill>
              <a:srgbClr val="8B7C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931920" y="16916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Начало</a:t>
            </a:r>
            <a:endParaRPr lang="en-US" sz="2000" b="1" dirty="0"/>
          </a:p>
        </p:txBody>
      </p:sp>
      <p:sp>
        <p:nvSpPr>
          <p:cNvPr id="6" name="Shape 4"/>
          <p:cNvSpPr/>
          <p:nvPr/>
        </p:nvSpPr>
        <p:spPr>
          <a:xfrm>
            <a:off x="4937760" y="2240280"/>
            <a:ext cx="0" cy="320040"/>
          </a:xfrm>
          <a:prstGeom prst="line">
            <a:avLst/>
          </a:prstGeom>
          <a:noFill/>
          <a:ln w="25400">
            <a:solidFill>
              <a:srgbClr val="A9A3C4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794760" y="2560320"/>
            <a:ext cx="2286000" cy="548640"/>
          </a:xfrm>
          <a:prstGeom prst="parallelogram">
            <a:avLst/>
          </a:prstGeom>
          <a:solidFill>
            <a:srgbClr val="221C42"/>
          </a:solidFill>
          <a:ln w="22225">
            <a:solidFill>
              <a:srgbClr val="4FD1E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94760" y="25603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Ввод числа n</a:t>
            </a:r>
            <a:endParaRPr lang="en-US" sz="2000" b="1" dirty="0"/>
          </a:p>
        </p:txBody>
      </p:sp>
      <p:sp>
        <p:nvSpPr>
          <p:cNvPr id="9" name="Shape 7"/>
          <p:cNvSpPr/>
          <p:nvPr/>
        </p:nvSpPr>
        <p:spPr>
          <a:xfrm>
            <a:off x="4937760" y="3108960"/>
            <a:ext cx="0" cy="320040"/>
          </a:xfrm>
          <a:prstGeom prst="line">
            <a:avLst/>
          </a:prstGeom>
          <a:noFill/>
          <a:ln w="25400">
            <a:solidFill>
              <a:srgbClr val="A9A3C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474720" y="3429000"/>
            <a:ext cx="2926080" cy="1051560"/>
          </a:xfrm>
          <a:prstGeom prst="flowChartDecision">
            <a:avLst/>
          </a:prstGeom>
          <a:solidFill>
            <a:srgbClr val="221C42"/>
          </a:solidFill>
          <a:ln w="22225">
            <a:solidFill>
              <a:srgbClr val="F2789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34290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&gt; 0 ?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246120" y="3959352"/>
            <a:ext cx="685800" cy="0"/>
          </a:xfrm>
          <a:prstGeom prst="line">
            <a:avLst/>
          </a:prstGeom>
          <a:noFill/>
          <a:ln w="25400">
            <a:solidFill>
              <a:srgbClr val="3DD6A0"/>
            </a:solidFill>
            <a:prstDash val="solid"/>
            <a:headEnd type="triangle"/>
          </a:ln>
        </p:spPr>
      </p:sp>
      <p:sp>
        <p:nvSpPr>
          <p:cNvPr id="13" name="Text 11"/>
          <p:cNvSpPr txBox="1"/>
          <p:nvPr/>
        </p:nvSpPr>
        <p:spPr>
          <a:xfrm>
            <a:off x="3154680" y="331012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0" y="3959352"/>
            <a:ext cx="1737360" cy="0"/>
          </a:xfrm>
          <a:prstGeom prst="line">
            <a:avLst/>
          </a:prstGeom>
          <a:noFill/>
          <a:ln w="25400">
            <a:solidFill>
              <a:srgbClr val="F2789F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766560" y="331012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78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68680" y="3685032"/>
            <a:ext cx="2377440" cy="548640"/>
          </a:xfrm>
          <a:prstGeom prst="rect">
            <a:avLst/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368503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 «плюс»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138160" y="3685032"/>
            <a:ext cx="2377440" cy="548640"/>
          </a:xfrm>
          <a:prstGeom prst="rect">
            <a:avLst/>
          </a:prstGeom>
          <a:solidFill>
            <a:srgbClr val="221C42"/>
          </a:solidFill>
          <a:ln w="22225">
            <a:solidFill>
              <a:srgbClr val="F2789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368503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 «минус»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2057400" y="4233672"/>
            <a:ext cx="0" cy="1051560"/>
          </a:xfrm>
          <a:prstGeom prst="line">
            <a:avLst/>
          </a:prstGeom>
          <a:noFill/>
          <a:ln w="25400">
            <a:solidFill>
              <a:srgbClr val="A9A3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326880" y="4233672"/>
            <a:ext cx="0" cy="1051560"/>
          </a:xfrm>
          <a:prstGeom prst="line">
            <a:avLst/>
          </a:prstGeom>
          <a:noFill/>
          <a:ln w="25400">
            <a:solidFill>
              <a:srgbClr val="A9A3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5285232"/>
            <a:ext cx="7269480" cy="0"/>
          </a:xfrm>
          <a:prstGeom prst="line">
            <a:avLst/>
          </a:prstGeom>
          <a:noFill/>
          <a:ln w="25400">
            <a:solidFill>
              <a:srgbClr val="A9A3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37760" y="5285232"/>
            <a:ext cx="0" cy="274320"/>
          </a:xfrm>
          <a:prstGeom prst="line">
            <a:avLst/>
          </a:prstGeom>
          <a:noFill/>
          <a:ln w="25400">
            <a:solidFill>
              <a:srgbClr val="A9A3C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931920" y="5559552"/>
            <a:ext cx="2011680" cy="548640"/>
          </a:xfrm>
          <a:prstGeom prst="flowChartTerminator">
            <a:avLst/>
          </a:prstGeom>
          <a:solidFill>
            <a:srgbClr val="221C42"/>
          </a:solidFill>
          <a:ln w="22225">
            <a:solidFill>
              <a:srgbClr val="8B7C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931920" y="55595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Конец</a:t>
            </a:r>
            <a:endParaRPr lang="en-US" sz="2000" b="1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2636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 ветви сходятся в один конец. Оба выхода из ромба подписаны — это обязательно.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Практика. Этап первый: тетрадь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 в парах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49240" cy="2377440"/>
          </a:xfrm>
          <a:prstGeom prst="roundRect">
            <a:avLst>
              <a:gd name="adj" fmla="val 3077"/>
            </a:avLst>
          </a:prstGeom>
          <a:solidFill>
            <a:srgbClr val="221C42"/>
          </a:solidFill>
          <a:ln w="19050">
            <a:solidFill>
              <a:srgbClr val="4FD1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920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работаем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42316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записывает псевдокод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Второй строит блок-схему по линейке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Сверяете работы между собой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212080" cy="2377440"/>
          </a:xfrm>
          <a:prstGeom prst="roundRect">
            <a:avLst>
              <a:gd name="adj" fmla="val 3077"/>
            </a:avLst>
          </a:prstGeom>
          <a:solidFill>
            <a:srgbClr val="221C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29400" y="19202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карточек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242316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1—3 выполняют все.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4—6 — по мере готовности.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закончили: составьте схему с ветвлением внутри ветвления.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4434840"/>
            <a:ext cx="10881360" cy="1691640"/>
          </a:xfrm>
          <a:prstGeom prst="roundRect">
            <a:avLst>
              <a:gd name="adj" fmla="val 4324"/>
            </a:avLst>
          </a:prstGeom>
          <a:solidFill>
            <a:srgbClr val="221C42"/>
          </a:solidFill>
          <a:ln w="19050">
            <a:solidFill>
              <a:srgbClr val="8B7C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5537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Взаимопроверка — по этим признакам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498348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 начало и хотя бы один конец  ·  обозначения применены верно  ·  оба выхода из ромба подписаны  ·  нет разрывов между блоками  ·  псевдокод соответствует схеме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Практика. Этап второй: компьютер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Переводим алгоритм на язык программирования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6035040" cy="621792"/>
          </a:xfrm>
          <a:prstGeom prst="roundRect">
            <a:avLst>
              <a:gd name="adj" fmla="val 10294"/>
            </a:avLst>
          </a:prstGeom>
          <a:solidFill>
            <a:srgbClr val="221C42"/>
          </a:solidFill>
          <a:ln w="15875">
            <a:solidFill>
              <a:srgbClr val="8B7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883664"/>
            <a:ext cx="402336" cy="402336"/>
          </a:xfrm>
          <a:prstGeom prst="ellipse">
            <a:avLst/>
          </a:prstGeom>
          <a:solidFill>
            <a:srgbClr val="8B7C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883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83080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Запустить среду со съёмного носителя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496312"/>
            <a:ext cx="6035040" cy="621792"/>
          </a:xfrm>
          <a:prstGeom prst="roundRect">
            <a:avLst>
              <a:gd name="adj" fmla="val 10294"/>
            </a:avLst>
          </a:prstGeom>
          <a:solidFill>
            <a:srgbClr val="221C42"/>
          </a:solidFill>
          <a:ln w="15875">
            <a:solidFill>
              <a:srgbClr val="4FD1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1248" y="2596896"/>
            <a:ext cx="402336" cy="402336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" y="25968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496312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Набрать и запустить вывод: приветствие и своё имя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209544"/>
            <a:ext cx="6035040" cy="621792"/>
          </a:xfrm>
          <a:prstGeom prst="roundRect">
            <a:avLst>
              <a:gd name="adj" fmla="val 10294"/>
            </a:avLst>
          </a:prstGeom>
          <a:solidFill>
            <a:srgbClr val="221C42"/>
          </a:solidFill>
          <a:ln w="15875">
            <a:solidFill>
              <a:srgbClr val="3DD6A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3310128"/>
            <a:ext cx="402336" cy="402336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1248" y="3310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209544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Записать программой задачу 2: периметр и площадь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922776"/>
            <a:ext cx="6035040" cy="621792"/>
          </a:xfrm>
          <a:prstGeom prst="roundRect">
            <a:avLst>
              <a:gd name="adj" fmla="val 10294"/>
            </a:avLst>
          </a:prstGeom>
          <a:solidFill>
            <a:srgbClr val="221C42"/>
          </a:solidFill>
          <a:ln w="15875">
            <a:solidFill>
              <a:srgbClr val="3DD6A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4023360"/>
            <a:ext cx="402336" cy="402336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4023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3922776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Проверить: при 6 и 4 должно выйти 20 и 24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4636008"/>
            <a:ext cx="6035040" cy="621792"/>
          </a:xfrm>
          <a:prstGeom prst="roundRect">
            <a:avLst>
              <a:gd name="adj" fmla="val 10294"/>
            </a:avLst>
          </a:prstGeom>
          <a:solidFill>
            <a:srgbClr val="221C42"/>
          </a:solidFill>
          <a:ln w="15875">
            <a:solidFill>
              <a:srgbClr val="F2789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1248" y="4736592"/>
            <a:ext cx="402336" cy="402336"/>
          </a:xfrm>
          <a:prstGeom prst="ellipse">
            <a:avLst/>
          </a:prstGeom>
          <a:solidFill>
            <a:srgbClr val="F2789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41248" y="47365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4636008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Изменить значения на свои и проверить снова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чего начать — шаблон: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949440" y="2194560"/>
            <a:ext cx="4572000" cy="822960"/>
          </a:xfrm>
          <a:prstGeom prst="roundRect">
            <a:avLst>
              <a:gd name="adj" fmla="val 5556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150608" y="232257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print("Привет, меня зовут Фаррух")</a:t>
            </a:r>
            <a:endParaRPr lang="en-US" sz="1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print("Мне 15 лет")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Затем задача 2: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949440" y="3703320"/>
            <a:ext cx="4572000" cy="1847088"/>
          </a:xfrm>
          <a:prstGeom prst="roundRect">
            <a:avLst>
              <a:gd name="adj" fmla="val 247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150608" y="3831336"/>
            <a:ext cx="420624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dlina = 6</a:t>
            </a:r>
            <a:endParaRPr lang="en-US" sz="13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shirina = 4</a:t>
            </a:r>
            <a:endParaRPr lang="en-US" sz="13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perimetr = 2 * (dlina + shirina)</a:t>
            </a:r>
            <a:endParaRPr lang="en-US" sz="13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ploshad = dlina * shirina</a:t>
            </a:r>
            <a:endParaRPr lang="en-US" sz="13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print("Периметр:", perimetr)</a:t>
            </a:r>
            <a:endParaRPr lang="en-US" sz="13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print("Площадь:", ploshad)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1722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Правило: увидел ошибку — сначала прочитай сообщение и найди номер строки, потом поднимай руку.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Домашнее задание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10881360" cy="1143000"/>
          </a:xfrm>
          <a:prstGeom prst="roundRect">
            <a:avLst>
              <a:gd name="adj" fmla="val 5600"/>
            </a:avLst>
          </a:prstGeom>
          <a:solidFill>
            <a:srgbClr val="221C42"/>
          </a:solidFill>
          <a:ln w="15875">
            <a:solidFill>
              <a:srgbClr val="8B7C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78308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Всем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474720" y="1874520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Блок-схема алгоритма «перейти улицу по светофору» с ветвлением; оба выхода из ромба подписать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3108960"/>
            <a:ext cx="10881360" cy="1143000"/>
          </a:xfrm>
          <a:prstGeom prst="roundRect">
            <a:avLst>
              <a:gd name="adj" fmla="val 5600"/>
            </a:avLst>
          </a:prstGeom>
          <a:solidFill>
            <a:srgbClr val="221C42"/>
          </a:solidFill>
          <a:ln w="15875">
            <a:solidFill>
              <a:srgbClr val="4FD1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310896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Всем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3200400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Записать псевдокодом алгоритм расчёта стоимости покупки по цене и количеству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10881360" cy="1143000"/>
          </a:xfrm>
          <a:prstGeom prst="roundRect">
            <a:avLst>
              <a:gd name="adj" fmla="val 5600"/>
            </a:avLst>
          </a:prstGeom>
          <a:solidFill>
            <a:srgbClr val="221C42"/>
          </a:solidFill>
          <a:ln w="158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443484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есть компьютер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4526280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Записать этот алгоритм программой и проверить на двух наборах данных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Записать задание в дневник. Первые два пункта выполняются в тетради — компьютер не нужен.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713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1188720"/>
            <a:ext cx="4937760" cy="4937760"/>
          </a:xfrm>
          <a:prstGeom prst="ellipse">
            <a:avLst/>
          </a:prstGeom>
          <a:solidFill>
            <a:srgbClr val="8B7CF6">
              <a:alpha val="12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2801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Итог занятия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377440"/>
            <a:ext cx="7315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Алгоритмизация — составить алгоритм до написания программы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способа записи: словесный, псевдокод, блок-схема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ромба всегда два выхода, и оба подписаны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Алгоритмический язык понимается единственным образом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Язык программирования — это алгоритмический язык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3949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следующем занятии: программа научится принимать данные с клавиатуры.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540</TotalTime>
  <Words>1440</Words>
  <Application>Microsoft Office PowerPoint</Application>
  <PresentationFormat>Широкоэкранный</PresentationFormat>
  <Paragraphs>228</Paragraphs>
  <Slides>19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5" baseType="lpstr">
      <vt:lpstr>Aptos</vt:lpstr>
      <vt:lpstr>Arial</vt:lpstr>
      <vt:lpstr>Calibri</vt:lpstr>
      <vt:lpstr>Cambria</vt:lpstr>
      <vt:lpstr>Consolas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Мухаммадчон Мусоев</cp:lastModifiedBy>
  <cp:revision>4</cp:revision>
  <dcterms:created xsi:type="dcterms:W3CDTF">2026-09-10T17:13:50Z</dcterms:created>
  <dcterms:modified xsi:type="dcterms:W3CDTF">2026-09-12T10:58:02Z</dcterms:modified>
</cp:coreProperties>
</file>