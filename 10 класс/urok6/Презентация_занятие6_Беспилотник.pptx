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Блиц по домашнему: массив, индексация с нуля, последний индекс.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крючок занятия. Не преувеличивать: настоящая программа огромна, но принцип ветвления такой же.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классу высказаться. Подвести к декомпозиции.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для названия нужен союз «и» — подзадач две.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return, а не print. Иначе функцию нельзя применить повторно.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Запустить на экране на трёх наборах из таблицы.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Запустить программу при классе и показать совпадение.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Запустить оба варианта на наборе (50, True). Это главное удивление занятия: две переставленные строки меняют поведение машины на дороге.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Ответ: условия проверяются сверху вниз, выполняется первое подошедшее. Проверка «полоса свободна» стала первой и срабатывает даже тогда, когда объезжать нечего.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Связать с логикой прошлого занятия: там порядок операций, здесь порядок проверок.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сигнала, три ветви. Запустить на всех трёх значениях.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второе удивление: на дне самой сложной системы лежит сравнение, которое они изучили в сентябре.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Спросить класс: какие ещё устройства так устроены.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 не обманывать: не обещать, что они написали беспилотник. Но и не обесценивать.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классу поспорить 2-3 минуты. Не навязывать ответ: его нет. Главная мысль — ответственность на человеке, а не на машине.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6 — письменно объяснить, опираясь на слайд про перестановку.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Шаблон на экране снимает вопрос «как это пишется».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Учебник: параграф и страницы вписать.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Выставить отметки.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E8B84B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№6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думает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беспилотный автомобиль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657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Декомпозиция задачи и вспомогательные алгоритмы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вы напишете ядро этого решения сами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решение. Десятки раз в секунду.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машина проезжает длину класса, её программа принимает решение «ехать, объезжать или тормозить» несколько десятков раз.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365760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каждое такое решение — это несколько строк, которые вы сегодня напишете сами.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упрощённая версия «для школы». Ядро устроено именно так.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действия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чего машина выбирает каждое мгновение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84048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ЕХАТЬ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Впереди свободно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продолжать движение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1688" y="1828800"/>
            <a:ext cx="3429000" cy="384048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21031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ОБЪЕЗЖАТЬ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30175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Помеха есть, соседняя полоса свободна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перестроиться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83296" y="1828800"/>
            <a:ext cx="3429000" cy="3840480"/>
          </a:xfrm>
          <a:prstGeom prst="roundRect">
            <a:avLst>
              <a:gd name="adj" fmla="val 2400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57616" y="21031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78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ТОРМОЗИТЬ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30175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Помеха есть, объехать негде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46634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остановиться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Вопрос: как записать выбор из трёх действий, если условий десятки?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Разбиваем задачу на части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Декомпозиция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Большую задачу разбивают на подзадачи. Каждая решается отдельно и проверяется отдельно.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319272"/>
            <a:ext cx="566928" cy="566928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319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3154680"/>
            <a:ext cx="5852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помеха впереди?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3154680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расстояния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325112"/>
            <a:ext cx="566928" cy="566928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325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160520"/>
            <a:ext cx="5852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 ли соседняя полоса?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4160520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полосы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330952"/>
            <a:ext cx="566928" cy="5669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330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5166360"/>
            <a:ext cx="5852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действие выбрать?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5166360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по двум ответам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верного разбиения: подзадачу можно назвать одним действием.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Вспомогательный алгоритм — это функция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6675120" cy="1956816"/>
          </a:xfrm>
          <a:prstGeom prst="roundRect">
            <a:avLst>
              <a:gd name="adj" fmla="val 2804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41248" y="1920240"/>
            <a:ext cx="63093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est_pomeha(rasstoyanie):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rasstoyanie &lt; 20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mozhno_obehat(polosa):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polosa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783080"/>
            <a:ext cx="4023360" cy="2011680"/>
          </a:xfrm>
          <a:prstGeom prst="roundRect">
            <a:avLst>
              <a:gd name="adj" fmla="val 4091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0" y="1938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4688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объявляет функцию. В скобках — что она получает.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498080" y="3977640"/>
            <a:ext cx="4023360" cy="2011680"/>
          </a:xfrm>
          <a:prstGeom prst="roundRect">
            <a:avLst>
              <a:gd name="adj" fmla="val 4091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0" y="4133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46634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возвращает ответ. Не печатает, а отдаёт его программе.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1206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функция отвечает на один вопрос. Поэтому её легко проверить отдельно.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 целиком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строк. Это ядро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3273552"/>
          </a:xfrm>
          <a:prstGeom prst="roundRect">
            <a:avLst>
              <a:gd name="adj" fmla="val 1676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920240"/>
            <a:ext cx="630936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reshenie(rasstoyanie, polosa):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est_pomeha(rasstoyanie):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"ехать"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mozhno_obehat(polosa):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"объезжать"</a:t>
            </a: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endParaRPr lang="en-US" sz="1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"тормозить"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98080" y="1783080"/>
            <a:ext cx="4023360" cy="4023360"/>
          </a:xfrm>
          <a:prstGeom prst="roundRect">
            <a:avLst>
              <a:gd name="adj" fmla="val 2045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читается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251460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Помехи нет — едем.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Помеха есть, полоса свободна — объезжаем.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всех остальных случаях — тормозим.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проверяются сверху вниз. Выполняется первое подошедшее.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Проверяем на данных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ситуации на дороге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57600" cy="987552"/>
          </a:xfrm>
          <a:prstGeom prst="rect">
            <a:avLst/>
          </a:prstGeom>
          <a:solidFill>
            <a:srgbClr val="2C2555"/>
          </a:solidFill>
          <a:ln w="19050">
            <a:solidFill>
              <a:srgbClr val="4A40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297680" y="1920240"/>
            <a:ext cx="2194560" cy="987552"/>
          </a:xfrm>
          <a:prstGeom prst="rect">
            <a:avLst/>
          </a:prstGeom>
          <a:solidFill>
            <a:srgbClr val="2C2555"/>
          </a:solidFill>
          <a:ln w="19050">
            <a:solidFill>
              <a:srgbClr val="4A4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0" y="192024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Расстояние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92240" y="1920240"/>
            <a:ext cx="2194560" cy="987552"/>
          </a:xfrm>
          <a:prstGeom prst="rect">
            <a:avLst/>
          </a:prstGeom>
          <a:solidFill>
            <a:srgbClr val="2C2555"/>
          </a:solidFill>
          <a:ln w="19050">
            <a:solidFill>
              <a:srgbClr val="4A40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92024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Полоса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686800" y="1920240"/>
            <a:ext cx="2834640" cy="987552"/>
          </a:xfrm>
          <a:prstGeom prst="rect">
            <a:avLst/>
          </a:prstGeom>
          <a:solidFill>
            <a:srgbClr val="2C2555"/>
          </a:solidFill>
          <a:ln w="19050">
            <a:solidFill>
              <a:srgbClr val="4A40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0" y="1920240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365760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71800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Дорога свободна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297680" y="2971800"/>
            <a:ext cx="219456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297180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м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2971800"/>
            <a:ext cx="219456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297180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занята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686800" y="2971800"/>
            <a:ext cx="283464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0" y="2971800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ехать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365760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023360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Помеха, есть объезд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297680" y="4023360"/>
            <a:ext cx="219456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0" y="402336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92240" y="4023360"/>
            <a:ext cx="219456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402336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686800" y="4023360"/>
            <a:ext cx="283464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0" y="4023360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объезжать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40080" y="5074920"/>
            <a:ext cx="365760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5074920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Помеха, объезда нет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297680" y="5074920"/>
            <a:ext cx="219456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97680" y="507492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492240" y="5074920"/>
            <a:ext cx="219456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92240" y="507492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занята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686800" y="5074920"/>
            <a:ext cx="2834640" cy="987552"/>
          </a:xfrm>
          <a:prstGeom prst="rect">
            <a:avLst/>
          </a:prstGeom>
          <a:solidFill>
            <a:srgbClr val="221C42"/>
          </a:solidFill>
          <a:ln w="19050">
            <a:solidFill>
              <a:srgbClr val="4A408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6800" y="5074920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тормозить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строк разобрали три ситуации. Проверено на компьютере — результат именно такой.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4937760" cy="713232"/>
          </a:xfrm>
          <a:prstGeom prst="roundRect">
            <a:avLst>
              <a:gd name="adj" fmla="val 12821"/>
            </a:avLst>
          </a:prstGeom>
          <a:solidFill>
            <a:srgbClr val="F278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ВНИМАНИЕ: ОПАСНАЯ ОШИБКА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Меняем местами две строки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0120" y="2926080"/>
            <a:ext cx="4754880" cy="1627632"/>
          </a:xfrm>
          <a:prstGeom prst="roundRect">
            <a:avLst>
              <a:gd name="adj" fmla="val 33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61288" y="3063240"/>
            <a:ext cx="43891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est_pomeha(r):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"ехать"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mozhno_obehat(p):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"объезжать"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228600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92240" y="2926080"/>
            <a:ext cx="4754880" cy="1627632"/>
          </a:xfrm>
          <a:prstGeom prst="roundRect">
            <a:avLst>
              <a:gd name="adj" fmla="val 3371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3063240"/>
            <a:ext cx="43891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mozhno_obehat(p):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"объезжать"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est_pomeha(r):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"ехать"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F2789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493776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Пустая трасса, помех нет, соседняя полоса свободна. Было: «ехать». Стало: «объезжать». Машина перестраивается без всякой причины.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E8B8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· УСТНО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0" y="384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балла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перестановка сломала алгоритм?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Подумайте: в каком порядке проверяются условия?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E8B8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8404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Порядок проверок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969264"/>
          </a:xfrm>
          <a:prstGeom prst="roundRect">
            <a:avLst>
              <a:gd name="adj" fmla="val 5660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691640"/>
            <a:ext cx="10515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Условия проверяются сверху вниз</a:t>
            </a:r>
            <a:endParaRPr lang="en-US" sz="2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Выполняется ПЕРВОЕ подошедшее — остальные не проверяются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889504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026664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«полоса свободна» оказалась первой и срабатывает всегда, когда полоса пуста — даже если объезжать нечего. Самая частая ошибка в ветвлении не в математике, а в порядке.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Условный оператор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— elif — else на примере светофора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675120" cy="3602736"/>
          </a:xfrm>
          <a:prstGeom prst="roundRect">
            <a:avLst>
              <a:gd name="adj" fmla="val 1523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74520"/>
            <a:ext cx="630936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deystvie(cvet):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cvet == "зелёный":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"ехать"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cvet == "жёлтый":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"снизить скорость"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"стоять"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0" y="1737360"/>
            <a:ext cx="4023360" cy="1737360"/>
          </a:xfrm>
          <a:prstGeom prst="roundRect">
            <a:avLst>
              <a:gd name="adj" fmla="val 4737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0" y="1874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23774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проверка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0" y="365760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3767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2245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следующая проверка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98080" y="521208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5321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57790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остальные случаи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Функция внутри функции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опирается на проверки, проверки — на сравнения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221C42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reshenie(...)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9202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ехать, объезжать или тормозить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63040" y="3246120"/>
            <a:ext cx="9235440" cy="1188720"/>
          </a:xfrm>
          <a:prstGeom prst="roundRect">
            <a:avLst>
              <a:gd name="adj" fmla="val 6923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83080" y="32461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est_pomeha(...)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2461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помеха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286000" y="4572000"/>
            <a:ext cx="7589520" cy="1188720"/>
          </a:xfrm>
          <a:prstGeom prst="roundRect">
            <a:avLst>
              <a:gd name="adj" fmla="val 6923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45720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rasstoyanie &lt; 20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45720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числа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576072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576072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самом низу — обычное сравнение двух чисел. Всё сложное собрано из простого.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ещё работает тот же приём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Декомпозиция и ветвление — не только в машинах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Лифт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51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Ехать вверх, вниз или стоять. Решает по тем же правилам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Банкомат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517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Хватает ли денег, верен ли код, есть ли купюры нужного номинала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221C42"/>
          </a:solidFill>
          <a:ln w="25400">
            <a:solidFill>
              <a:srgbClr val="8B7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160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Микроволновка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754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Дверца закрыта? Время задано? Тогда греть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4160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в телефоне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754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Персонаж жив? Хватает ли маны? Тогда применить умение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Везде одно и то же: разбить на проверки и выбрать действие.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Честно о масштабе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не было ложных ожиданий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Настоящая программа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Миллионы строк. Распознавание дороги, прогноз движения других машин, карты, датчики.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221C42"/>
          </a:solidFill>
          <a:ln w="25400">
            <a:solidFill>
              <a:srgbClr val="3DD6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каждая строка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514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Такая же простая, как ваша. Сложность не в строке, а в их количестве и в том, как они связаны.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0881360" cy="1737360"/>
          </a:xfrm>
          <a:prstGeom prst="roundRect">
            <a:avLst>
              <a:gd name="adj" fmla="val 4737"/>
            </a:avLst>
          </a:prstGeom>
          <a:solidFill>
            <a:srgbClr val="E8B8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44348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не написали беспилотник. Вы написали приём, из которого он собран. Разница между вами и инженером — в количестве опыта, а не в волшебстве.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без ответа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 не решили до сих пор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828800"/>
          </a:xfrm>
          <a:prstGeom prst="roundRect">
            <a:avLst>
              <a:gd name="adj" fmla="val 4500"/>
            </a:avLst>
          </a:prstGeom>
          <a:solidFill>
            <a:srgbClr val="221C42"/>
          </a:solidFill>
          <a:ln w="25400">
            <a:solidFill>
              <a:srgbClr val="F2789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828800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Помеха впереди. Тормозить поздно. Слева — пешеход, справа — бетонный отбойник. Какое условие должен проверить алгоритм?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10881360" cy="1828800"/>
          </a:xfrm>
          <a:prstGeom prst="roundRect">
            <a:avLst>
              <a:gd name="adj" fmla="val 4500"/>
            </a:avLst>
          </a:prstGeom>
          <a:solidFill>
            <a:srgbClr val="221C42"/>
          </a:solidFill>
          <a:ln w="25400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931920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такое условие в программу обязан человек. Инженеры, юристы и философы спорят об этом не первый год, и общего ответа пока нет.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не решает, что правильно. Она выполняет то, что записал человек.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Практика. Этап первый: тетрадь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в парах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530352" cy="530352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83080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Разбить на подзадачи: подготовить школьное мероприятие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79192"/>
            <a:ext cx="530352" cy="530352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679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587752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Разбить: вычислить средний балл и найти лучшего ученика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339242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483864"/>
            <a:ext cx="530352" cy="530352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4838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392424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подзадачу, которая делает два дела, и разделить её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419709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88536"/>
            <a:ext cx="530352" cy="530352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288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197096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 вспомогательный алгоритм площади: что получает, что возвращает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500176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093208"/>
            <a:ext cx="530352" cy="530352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5093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001768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блок-схему решения беспилотника с двумя ромбами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" y="580644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5897880"/>
            <a:ext cx="530352" cy="530352"/>
          </a:xfrm>
          <a:prstGeom prst="ellipse">
            <a:avLst/>
          </a:prstGeom>
          <a:solidFill>
            <a:srgbClr val="F2789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897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5806440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произойдёт, если поменять ромбы местами?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492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1—3 выполняют все, 4—6 по мере готовности.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Практика. Этап второй: компьютер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65376"/>
            <a:ext cx="512064" cy="51206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65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83080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ploshad и perimetr — проверить при 6 и 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569464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651760"/>
            <a:ext cx="512064" cy="512064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51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569464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srednee для массива из пяти оценок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355848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438144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438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55848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est_pomeha и mozhno_obehat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142232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224528"/>
            <a:ext cx="512064" cy="512064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224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142232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reshenie — проверить на трёх наборах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4928616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E8B8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010912"/>
            <a:ext cx="512064" cy="512064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010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928616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deystvie для светофора: три варианта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5715000"/>
            <a:ext cx="6400800" cy="676656"/>
          </a:xfrm>
          <a:prstGeom prst="roundRect">
            <a:avLst>
              <a:gd name="adj" fmla="val 10811"/>
            </a:avLst>
          </a:prstGeom>
          <a:solidFill>
            <a:srgbClr val="221C42"/>
          </a:solidFill>
          <a:ln w="22225">
            <a:solidFill>
              <a:srgbClr val="F2789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5797296"/>
            <a:ext cx="512064" cy="512064"/>
          </a:xfrm>
          <a:prstGeom prst="ellipse">
            <a:avLst/>
          </a:prstGeom>
          <a:solidFill>
            <a:srgbClr val="F2789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797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715000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Поменять проверки местами и объяснить результат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Шпаргалка: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315200" y="2286000"/>
            <a:ext cx="4206240" cy="3273552"/>
          </a:xfrm>
          <a:prstGeom prst="roundRect">
            <a:avLst>
              <a:gd name="adj" fmla="val 1676"/>
            </a:avLst>
          </a:prstGeom>
          <a:solidFill>
            <a:srgbClr val="0E0B1F"/>
          </a:solidFill>
          <a:ln w="15875">
            <a:solidFill>
              <a:srgbClr val="4A40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16368" y="2423160"/>
            <a:ext cx="38404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imya(parametr):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rezultat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uslovie: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drugoe: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492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прочитай сообщение об ошибке сам, потом поднимай руку.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Домашнее задание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8B7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92024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201168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Разбить на подзадачи: определить, допущен ли ученик к соревнованию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4FD1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333756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342900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Блок-схема действий водителя по сигналу светофора (три варианта)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221C42"/>
          </a:solidFill>
          <a:ln w="2222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7548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есть компьютер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484632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Функция, которая по трём числам возвращает наибольшее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3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два задания выполняются в тетради — компьютер не нужен.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188720"/>
            <a:ext cx="4937760" cy="493776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занятия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7315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Большую задачу разбивают на подзадачи — это декомпозиция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Подзадача записывается функцией: получает данные, возвращает ответ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Ветвление выбирает действие; проверки идут сверху вниз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переставленные строки меняют поведение машины на дороге</a:t>
            </a:r>
            <a:endParaRPr lang="en-US" sz="21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Сложное собрано из простого — на дне лежит сравнение двух чисел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669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решает алгоритм в трудном случае — записывает человек. Ответственность на нём.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2026-10-09T15:06:49Z</dcterms:created>
  <dcterms:modified xsi:type="dcterms:W3CDTF">2026-10-09T15:06:49Z</dcterms:modified>
</cp:coreProperties>
</file>