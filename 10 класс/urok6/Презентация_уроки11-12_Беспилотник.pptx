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5" r:id="rId6"/>
    <p:sldId id="276" r:id="rId7"/>
    <p:sldId id="260" r:id="rId8"/>
    <p:sldId id="277" r:id="rId9"/>
    <p:sldId id="278" r:id="rId10"/>
    <p:sldId id="279" r:id="rId11"/>
    <p:sldId id="280" r:id="rId12"/>
    <p:sldId id="281" r:id="rId13"/>
    <p:sldId id="266" r:id="rId14"/>
    <p:sldId id="261" r:id="rId15"/>
    <p:sldId id="262" r:id="rId16"/>
    <p:sldId id="263" r:id="rId17"/>
    <p:sldId id="264" r:id="rId18"/>
    <p:sldId id="265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07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Блиц по домашнему: массив, индексация с нуля, последний индекс.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крючок занятия. Не преувеличивать: настоящая программа огромна, но принцип ветвления такой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высказаться. Подвести к декомпозиции.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для названия нужен союз «и» — подзадач две.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метод из учебника: сначала задача целиком, затем спускаемся на уровень ниже. Спросить класс: что здесь можно уточнить ещё? (Вычесть окна и двери; краска — в банках, а не в м².) Каждый нижний блок станет функцией — ploshad и perimetr вы напишете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Аналогия: бригадир на стройке не кладёт плитку сам — он зовёт плиточника, электрика, маляра. Бригадир — основной алгоритм, мастера — вспомогательные. Спросить: кто ещё в жизни работает как «основной алгоритм»?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return, а не print. Иначе функцию нельзя применить повторно.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Запустить в Colab при классе: должно вывести 58. Спросить: что будет, если написать ploshad(4)? (Ошибка: аргументов меньше, чем параметров — пусть прочитают сообщение.) Затем: как посчитать площадь ещё одной комнаты? (Одна строка.)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Показать: основная схема не знает, КАК считается площадь, — она только вызывает. Пунктир: в момент вызова выполнение уходит в функцию и возвращается со значением S. Если в вашем учебнике блок называется иначе («предопределённый процесс», «подпрограмма») — назвать так, как в учебнике.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Задача 3: если для названия подзадачи нужен союз «и» — подзадач две. Задача 4 — по образцу слайда с блок-схемой.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Шаблон на экране снимает вопрос «как это пишется». Задачи 1—2 — все, задача 3 — кто успел (она пригодится на уроке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Переход ко второму часу. Блиц: что такое параметр? что возвращает est_pomeha(10)? est_pomeha(50)?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Ветвление вводим здесь, до решения беспилотника. Три сигнала, три ветви. Запустить на всех трёх значениях.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Запустить на экране на трёх наборах из таблицы.</a:t>
            </a:r>
          </a:p>
          <a:p>
            <a:r>
              <a:t>Пояснить not: «не» — переворачивает True в False и обратно.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программу при классе и показать совпадение.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оба варианта на наборе (50, True). Это главное удивление занятия: две переставленные строки меняют поведение машины на дороге.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условия проверяются сверху вниз, выполняется первое подошедшее. Проверка «полоса свободна» стала первой и срабатывает даже тогда, когда объезжать нечего.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логикой прошлого занятия: там порядок операций, здесь порядок проверок.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второе удивление: на дне самой сложной системы лежит сравнение, которое они изучили в сентябре.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класс: какие ещё устройства так устроены.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не обманывать: не обещать, что они написали беспилотник. Но и не обесценивать.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поспорить 2-3 минуты. Не навязывать ответ: его нет. Главная мысль — ответственность на человеке, а не на машине.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Задача 2 — письменно объяснить, опираясь на слайд про перестановку.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Функции est_pomeha и mozhno_obehat — из практики урока 11. Кто не успел — раздать готовые. Задача 3: запустить оба варианта на (50, True).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думает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беспилотный автомобиль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задачи и вспомогательные алгоритмы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50392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вы напишете ядро этого решения сами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решение. Десятки раз в секунду.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машина проезжает длину класса, её программа принимает решение «ехать, объезжать или тормозить» несколько десятков раз.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3DD6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05840" y="36576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каждое такое решение — это несколько строк, которые вы сегодня напишете сами.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Настоящая система намного больше. Но выбор действия устроен по тому же принципу.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действия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машина выбирает каждое мгновение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ЕХАТЬ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Впереди свободно</a:t>
            </a:r>
            <a:endParaRPr lang="en-US" sz="2400" b="1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63440"/>
            <a:ext cx="2984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продолжать движение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636008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ОБЪЕЗЖАТЬ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36008" y="3017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есть, соседняя полоса свободна</a:t>
            </a:r>
            <a:endParaRPr lang="en-US" sz="2400" b="1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перестроиться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357616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ТОРМОЗИТЬ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357616" y="3017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есть, объехать негде</a:t>
            </a:r>
            <a:endParaRPr lang="en-US" sz="24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остановиться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Вопрос: как записать выбор из трёх действий, если условий десятки?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Разбиваем задачу на части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Большую задачу разбивают на подзадачи. Каждая решается отдельно и проверяется отдельно.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319272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19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15468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помеха впереди?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15468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расстояния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325112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16052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 ли соседняя полоса?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16052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полосы</a:t>
            </a:r>
            <a:endParaRPr lang="en-US" sz="2400" b="1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330952"/>
            <a:ext cx="566928" cy="5669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16636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действие выбрать?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516636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двум ответам</a:t>
            </a:r>
            <a:endParaRPr lang="en-US" sz="2400" b="1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верного разбиения: подзадачу можно назвать одним действием.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Метод «сверху вниз»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C3BEDA"/>
                </a:solidFill>
                <a:latin typeface="Calibri"/>
              </a:rPr>
              <a:t>Последовательное уточнение: от целого к частям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5848" y="1783080"/>
            <a:ext cx="5486400" cy="73152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317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 dirty="0" err="1">
                <a:solidFill>
                  <a:schemeClr val="bg1"/>
                </a:solidFill>
                <a:latin typeface="Calibri"/>
              </a:rPr>
              <a:t>Посчитать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, </a:t>
            </a:r>
            <a:r>
              <a:rPr sz="2400" b="1" dirty="0" err="1">
                <a:solidFill>
                  <a:schemeClr val="bg1"/>
                </a:solidFill>
                <a:latin typeface="Calibri"/>
              </a:rPr>
              <a:t>сколько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Calibri"/>
              </a:rPr>
              <a:t>стоит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Calibri"/>
              </a:rPr>
              <a:t>покрасить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Calibri"/>
              </a:rPr>
              <a:t>комнату</a:t>
            </a:r>
            <a:endParaRPr sz="2400" b="1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 flipH="1">
            <a:off x="2286000" y="2514600"/>
            <a:ext cx="3813048" cy="54864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306324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 dirty="0" err="1">
                <a:solidFill>
                  <a:schemeClr val="bg1"/>
                </a:solidFill>
                <a:latin typeface="Calibri"/>
              </a:rPr>
              <a:t>Площадь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Calibri"/>
              </a:rPr>
              <a:t>пола</a:t>
            </a:r>
            <a:endParaRPr sz="2400" b="1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286000" y="3794760"/>
            <a:ext cx="0" cy="54864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434340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000" b="1" dirty="0" err="1">
                <a:solidFill>
                  <a:schemeClr val="bg1"/>
                </a:solidFill>
                <a:latin typeface="Consolas"/>
              </a:rPr>
              <a:t>dlina</a:t>
            </a:r>
            <a:r>
              <a:rPr sz="2000" b="1" dirty="0">
                <a:solidFill>
                  <a:schemeClr val="bg1"/>
                </a:solidFill>
                <a:latin typeface="Consolas"/>
              </a:rPr>
              <a:t> * </a:t>
            </a:r>
            <a:r>
              <a:rPr sz="2000" b="1" dirty="0" err="1">
                <a:solidFill>
                  <a:schemeClr val="bg1"/>
                </a:solidFill>
                <a:latin typeface="Consolas"/>
              </a:rPr>
              <a:t>shirina</a:t>
            </a:r>
            <a:endParaRPr sz="2000" b="1" dirty="0">
              <a:solidFill>
                <a:schemeClr val="bg1"/>
              </a:solidFill>
              <a:latin typeface="Consola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099048" y="2514600"/>
            <a:ext cx="0" cy="54864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53128" y="306324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 dirty="0" err="1">
                <a:solidFill>
                  <a:schemeClr val="bg1"/>
                </a:solidFill>
                <a:latin typeface="Calibri"/>
              </a:rPr>
              <a:t>Площадь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Calibri"/>
              </a:rPr>
              <a:t>стен</a:t>
            </a:r>
            <a:endParaRPr sz="2400" b="1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099048" y="3794760"/>
            <a:ext cx="0" cy="54864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53128" y="434340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000" b="1" dirty="0" err="1">
                <a:solidFill>
                  <a:schemeClr val="bg1"/>
                </a:solidFill>
                <a:latin typeface="Consolas"/>
              </a:rPr>
              <a:t>perimetr</a:t>
            </a:r>
            <a:r>
              <a:rPr sz="2000" b="1" dirty="0">
                <a:solidFill>
                  <a:schemeClr val="bg1"/>
                </a:solidFill>
                <a:latin typeface="Consolas"/>
              </a:rPr>
              <a:t> * </a:t>
            </a:r>
            <a:r>
              <a:rPr sz="2000" b="1" dirty="0" err="1">
                <a:solidFill>
                  <a:schemeClr val="bg1"/>
                </a:solidFill>
                <a:latin typeface="Consolas"/>
              </a:rPr>
              <a:t>vysota</a:t>
            </a:r>
            <a:endParaRPr sz="2000" b="1" dirty="0">
              <a:solidFill>
                <a:schemeClr val="bg1"/>
              </a:solidFill>
              <a:latin typeface="Consola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514600"/>
            <a:ext cx="3813048" cy="54864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66175" y="306324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 dirty="0" err="1">
                <a:solidFill>
                  <a:schemeClr val="bg1"/>
                </a:solidFill>
                <a:latin typeface="Calibri"/>
              </a:rPr>
              <a:t>Стоимость</a:t>
            </a:r>
            <a:r>
              <a:rPr sz="24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Calibri"/>
              </a:rPr>
              <a:t>краски</a:t>
            </a:r>
            <a:endParaRPr sz="2400" b="1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912096" y="3794760"/>
            <a:ext cx="0" cy="54864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66175" y="434340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1" dirty="0" err="1">
                <a:solidFill>
                  <a:schemeClr val="bg1"/>
                </a:solidFill>
                <a:latin typeface="Consolas"/>
              </a:rPr>
              <a:t>ploshad</a:t>
            </a:r>
            <a:r>
              <a:rPr sz="1800" b="1" dirty="0">
                <a:solidFill>
                  <a:schemeClr val="bg1"/>
                </a:solidFill>
                <a:latin typeface="Consolas"/>
              </a:rPr>
              <a:t> * </a:t>
            </a:r>
            <a:r>
              <a:rPr sz="1800" b="1" dirty="0" err="1">
                <a:solidFill>
                  <a:schemeClr val="bg1"/>
                </a:solidFill>
                <a:latin typeface="Consolas"/>
              </a:rPr>
              <a:t>cena</a:t>
            </a:r>
            <a:endParaRPr sz="1800" b="1" dirty="0">
              <a:solidFill>
                <a:schemeClr val="bg1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4FD1E0"/>
                </a:solidFill>
                <a:latin typeface="Calibri"/>
              </a:rPr>
              <a:t>Уточняем шаг за шагом, пока каждую часть нельзя записать одной-двумя строками.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C3BEDA"/>
                </a:solidFill>
                <a:latin typeface="Calibri"/>
              </a:rPr>
              <a:t>Так мы уже разбирали беспилотник: «что делать?» → «есть помеха?» + «свободна полоса?»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Кто решает, а кто помогает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C3BEDA"/>
                </a:solidFill>
                <a:latin typeface="Calibri"/>
              </a:rPr>
              <a:t>Основной и вспомогательный алгоритм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937760" cy="214884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317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6417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chemeClr val="bg1"/>
                </a:solidFill>
                <a:latin typeface="Calibri"/>
              </a:rPr>
              <a:t>Основной</a:t>
            </a:r>
            <a:r>
              <a:rPr sz="24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chemeClr val="bg1"/>
                </a:solidFill>
                <a:latin typeface="Calibri"/>
              </a:rPr>
              <a:t>алгоритм</a:t>
            </a:r>
            <a:endParaRPr sz="24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38912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chemeClr val="bg1"/>
                </a:solidFill>
                <a:latin typeface="Calibri"/>
              </a:rPr>
              <a:t>Решает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всю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задачу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.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Мелкие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части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не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считает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сам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—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поручает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их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помощникам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435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dirty="0" err="1">
                <a:solidFill>
                  <a:schemeClr val="bg1"/>
                </a:solidFill>
                <a:latin typeface="Consolas"/>
              </a:rPr>
              <a:t>reshenie</a:t>
            </a:r>
            <a:r>
              <a:rPr sz="2400" b="0" i="0" dirty="0">
                <a:solidFill>
                  <a:schemeClr val="bg1"/>
                </a:solidFill>
                <a:latin typeface="Consolas"/>
              </a:rPr>
              <a:t>(...)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83080"/>
            <a:ext cx="4937760" cy="214884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3175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96417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chemeClr val="bg1"/>
                </a:solidFill>
                <a:latin typeface="Calibri"/>
              </a:rPr>
              <a:t>Вспомогательный</a:t>
            </a:r>
            <a:r>
              <a:rPr sz="24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chemeClr val="bg1"/>
                </a:solidFill>
                <a:latin typeface="Calibri"/>
              </a:rPr>
              <a:t>алгоритм</a:t>
            </a:r>
            <a:endParaRPr sz="24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Calibri"/>
              </a:rPr>
              <a:t>Решает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одну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подзадачу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Его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вызывают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из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основного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столько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раз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сколько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нужно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0435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chemeClr val="bg1"/>
                </a:solidFill>
                <a:latin typeface="Consolas"/>
              </a:rPr>
              <a:t>est_pomeha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(...)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15000" y="2606040"/>
            <a:ext cx="731520" cy="502920"/>
          </a:xfrm>
          <a:prstGeom prst="rightArrow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2148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8B7CF6"/>
                </a:solidFill>
                <a:latin typeface="Calibri"/>
              </a:rPr>
              <a:t>вызывает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303811"/>
            <a:ext cx="2971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chemeClr val="bg1"/>
                </a:solidFill>
                <a:latin typeface="Calibri"/>
              </a:rPr>
              <a:t>Не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повторяем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код</a:t>
            </a:r>
            <a:endParaRPr sz="2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2971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 err="1">
                <a:solidFill>
                  <a:srgbClr val="FFFFFF"/>
                </a:solidFill>
                <a:latin typeface="Calibri"/>
              </a:rPr>
              <a:t>Написали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один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раз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вызываем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много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61688" y="4160520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4303811"/>
            <a:ext cx="2971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chemeClr val="bg1"/>
                </a:solidFill>
                <a:latin typeface="Calibri"/>
              </a:rPr>
              <a:t>Проверяем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по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частям</a:t>
            </a:r>
            <a:endParaRPr sz="2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90288" y="4663440"/>
            <a:ext cx="29718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FFFFFF"/>
                </a:solidFill>
                <a:latin typeface="Calibri"/>
              </a:rPr>
              <a:t>Ошибку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ищем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маленькой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функции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, а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не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во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всей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программе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83296" y="4160520"/>
            <a:ext cx="3429000" cy="132588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8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4303811"/>
            <a:ext cx="2971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 err="1">
                <a:solidFill>
                  <a:schemeClr val="bg1"/>
                </a:solidFill>
                <a:latin typeface="Calibri"/>
              </a:rPr>
              <a:t>Работаем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командой</a:t>
            </a:r>
            <a:endParaRPr sz="2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1896" y="4663440"/>
            <a:ext cx="2971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dirty="0" err="1">
                <a:solidFill>
                  <a:srgbClr val="FFFFFF"/>
                </a:solidFill>
                <a:latin typeface="Calibri"/>
              </a:rPr>
              <a:t>Разные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люди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пишут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разные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функции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4FD1E0"/>
                </a:solidFill>
                <a:latin typeface="Calibri"/>
              </a:rPr>
              <a:t>В программировании вспомогательный алгоритм называют подпрограммой. В Python — функцией.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Вспомогательный алгоритм — это функция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70560" y="1783080"/>
            <a:ext cx="6675120" cy="2194560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20240"/>
            <a:ext cx="63093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est_pomeha(rasstoyanie):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rasstoyanie &lt; 20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mozhno_obehat(polosa):</a:t>
            </a:r>
            <a:endParaRPr lang="en-US" sz="24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polosa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4023360" cy="2011680"/>
          </a:xfrm>
          <a:prstGeom prst="roundRect">
            <a:avLst>
              <a:gd name="adj" fmla="val 4091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0" y="1938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0" y="2468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объявляет функцию. В скобках — что она получает.</a:t>
            </a:r>
            <a:endParaRPr lang="en-US" sz="1900" b="1" dirty="0"/>
          </a:p>
        </p:txBody>
      </p:sp>
      <p:sp>
        <p:nvSpPr>
          <p:cNvPr id="8" name="Shape 6"/>
          <p:cNvSpPr/>
          <p:nvPr/>
        </p:nvSpPr>
        <p:spPr>
          <a:xfrm>
            <a:off x="7498080" y="3977640"/>
            <a:ext cx="4023360" cy="2011680"/>
          </a:xfrm>
          <a:prstGeom prst="roundRect">
            <a:avLst>
              <a:gd name="adj" fmla="val 4091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0" y="4663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ответ. Не печатает, а отдаёт его программе.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206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функция отвечает на один вопрос. Поэтому её легко проверить отдельно.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Вызов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C3BEDA"/>
                </a:solidFill>
                <a:latin typeface="Calibri"/>
              </a:rPr>
              <a:t>Написали один раз — вызываем много. Параметр и аргумент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6035040" cy="352044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78715"/>
            <a:ext cx="5577840" cy="3529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 dirty="0">
                <a:solidFill>
                  <a:schemeClr val="bg1"/>
                </a:solidFill>
                <a:latin typeface="Consolas"/>
              </a:rPr>
              <a:t>def </a:t>
            </a:r>
            <a:r>
              <a:rPr sz="2400" b="1" i="0" dirty="0" err="1">
                <a:solidFill>
                  <a:schemeClr val="bg1"/>
                </a:solidFill>
                <a:latin typeface="Consolas"/>
              </a:rPr>
              <a:t>ploshad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(a, b):</a:t>
            </a:r>
          </a:p>
          <a:p>
            <a:pPr algn="l">
              <a:spcAft>
                <a:spcPts val="200"/>
              </a:spcAft>
            </a:pPr>
            <a:r>
              <a:rPr sz="2400" b="1" i="0" dirty="0">
                <a:solidFill>
                  <a:schemeClr val="bg1"/>
                </a:solidFill>
                <a:latin typeface="Consolas"/>
              </a:rPr>
              <a:t>    return a * b</a:t>
            </a:r>
          </a:p>
          <a:p>
            <a:pPr algn="l">
              <a:spcAft>
                <a:spcPts val="200"/>
              </a:spcAft>
            </a:pPr>
            <a:r>
              <a:rPr sz="2400" b="1" i="0" dirty="0">
                <a:solidFill>
                  <a:schemeClr val="bg1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2400" b="1" i="0" dirty="0" err="1">
                <a:solidFill>
                  <a:schemeClr val="bg1"/>
                </a:solidFill>
                <a:latin typeface="Consolas"/>
              </a:rPr>
              <a:t>kuhnya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  = </a:t>
            </a:r>
            <a:r>
              <a:rPr sz="2400" b="1" i="0" dirty="0" err="1">
                <a:solidFill>
                  <a:schemeClr val="bg1"/>
                </a:solidFill>
                <a:latin typeface="Consolas"/>
              </a:rPr>
              <a:t>ploshad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(4, 3)</a:t>
            </a:r>
          </a:p>
          <a:p>
            <a:pPr algn="l">
              <a:spcAft>
                <a:spcPts val="200"/>
              </a:spcAft>
            </a:pPr>
            <a:r>
              <a:rPr sz="2400" b="1" i="0" dirty="0" err="1">
                <a:solidFill>
                  <a:schemeClr val="bg1"/>
                </a:solidFill>
                <a:latin typeface="Consolas"/>
              </a:rPr>
              <a:t>zal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     = </a:t>
            </a:r>
            <a:r>
              <a:rPr sz="2400" b="1" i="0" dirty="0" err="1">
                <a:solidFill>
                  <a:schemeClr val="bg1"/>
                </a:solidFill>
                <a:latin typeface="Consolas"/>
              </a:rPr>
              <a:t>ploshad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(6, 5)</a:t>
            </a:r>
          </a:p>
          <a:p>
            <a:pPr algn="l">
              <a:spcAft>
                <a:spcPts val="200"/>
              </a:spcAft>
            </a:pPr>
            <a:r>
              <a:rPr sz="2400" b="1" i="0" dirty="0" err="1">
                <a:solidFill>
                  <a:schemeClr val="bg1"/>
                </a:solidFill>
                <a:latin typeface="Consolas"/>
              </a:rPr>
              <a:t>spalnya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 = </a:t>
            </a:r>
            <a:r>
              <a:rPr sz="2400" b="1" i="0" dirty="0" err="1">
                <a:solidFill>
                  <a:schemeClr val="bg1"/>
                </a:solidFill>
                <a:latin typeface="Consolas"/>
              </a:rPr>
              <a:t>ploshad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(4, 4)</a:t>
            </a:r>
          </a:p>
          <a:p>
            <a:pPr algn="l">
              <a:spcAft>
                <a:spcPts val="200"/>
              </a:spcAft>
            </a:pPr>
            <a:r>
              <a:rPr sz="2400" b="1" i="0" dirty="0">
                <a:solidFill>
                  <a:schemeClr val="bg1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2400" b="1" i="0" dirty="0">
                <a:solidFill>
                  <a:schemeClr val="bg1"/>
                </a:solidFill>
                <a:latin typeface="Consolas"/>
              </a:rPr>
              <a:t>print(</a:t>
            </a:r>
            <a:r>
              <a:rPr sz="2400" b="1" i="0" dirty="0" err="1">
                <a:solidFill>
                  <a:schemeClr val="bg1"/>
                </a:solidFill>
                <a:latin typeface="Consolas"/>
              </a:rPr>
              <a:t>kuhnya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 + </a:t>
            </a:r>
            <a:r>
              <a:rPr sz="2400" b="1" i="0" dirty="0" err="1">
                <a:solidFill>
                  <a:schemeClr val="bg1"/>
                </a:solidFill>
                <a:latin typeface="Consolas"/>
              </a:rPr>
              <a:t>zal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 + </a:t>
            </a:r>
            <a:r>
              <a:rPr sz="2400" b="1" i="0" dirty="0" err="1">
                <a:solidFill>
                  <a:schemeClr val="bg1"/>
                </a:solidFill>
                <a:latin typeface="Consolas"/>
              </a:rPr>
              <a:t>spalnya</a:t>
            </a:r>
            <a:r>
              <a:rPr sz="2400" b="1" i="0" dirty="0">
                <a:solidFill>
                  <a:schemeClr val="bg1"/>
                </a:solidFill>
                <a:latin typeface="Consolas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2400" b="1" i="0" dirty="0">
                <a:solidFill>
                  <a:schemeClr val="bg1"/>
                </a:solidFill>
                <a:latin typeface="Consolas"/>
              </a:rPr>
              <a:t># 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783080"/>
            <a:ext cx="4617720" cy="1069848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895816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dirty="0" err="1">
                <a:solidFill>
                  <a:schemeClr val="bg1"/>
                </a:solidFill>
                <a:latin typeface="Calibri"/>
              </a:rPr>
              <a:t>Параметр</a:t>
            </a:r>
            <a:endParaRPr sz="21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0" y="2240280"/>
            <a:ext cx="4206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Calibri"/>
              </a:rPr>
              <a:t>Имя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скобках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при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объявлении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: a и b.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Пустая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ячейка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для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данных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990088"/>
            <a:ext cx="4617720" cy="1069848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3102825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dirty="0" err="1">
                <a:solidFill>
                  <a:schemeClr val="bg1"/>
                </a:solidFill>
                <a:latin typeface="Calibri"/>
              </a:rPr>
              <a:t>Аргумент</a:t>
            </a:r>
            <a:endParaRPr sz="21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0" y="3447288"/>
            <a:ext cx="4206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FFFFFF"/>
                </a:solidFill>
                <a:latin typeface="Calibri"/>
              </a:rPr>
              <a:t>Значение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при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вызове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: 4 и 3.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Оно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кладётся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ячейку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197096"/>
            <a:ext cx="4617720" cy="1069848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4309833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dirty="0" err="1">
                <a:solidFill>
                  <a:schemeClr val="bg1"/>
                </a:solidFill>
                <a:latin typeface="Calibri"/>
              </a:rPr>
              <a:t>Вызов</a:t>
            </a:r>
            <a:endParaRPr sz="21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4654296"/>
            <a:ext cx="4206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FFFFFF"/>
                </a:solidFill>
                <a:latin typeface="Calibri"/>
              </a:rPr>
              <a:t>ploshad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(4, 3) —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программа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идёт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функцию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и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возвращается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с </a:t>
            </a:r>
            <a:r>
              <a:rPr sz="2000" b="0" i="0" dirty="0" err="1">
                <a:solidFill>
                  <a:srgbClr val="FFFFFF"/>
                </a:solidFill>
                <a:latin typeface="Calibri"/>
              </a:rPr>
              <a:t>ответом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4FD1E0"/>
                </a:solidFill>
                <a:latin typeface="Calibri"/>
              </a:rPr>
              <a:t>Одна функция — три комнаты. Ошиблись в формуле — исправляем в одном месте.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Функция на блок-схеме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>
                <a:solidFill>
                  <a:srgbClr val="C3BEDA"/>
                </a:solidFill>
                <a:latin typeface="Calibri"/>
              </a:rPr>
              <a:t>Для вызова вспомогательного алгоритма есть особый блок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89854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chemeClr val="bg1"/>
                </a:solidFill>
                <a:latin typeface="Calibri"/>
              </a:rPr>
              <a:t>Основной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89854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chemeClr val="bg1"/>
                </a:solidFill>
                <a:latin typeface="Calibri"/>
              </a:rPr>
              <a:t>Вспомогательный</a:t>
            </a:r>
          </a:p>
        </p:txBody>
      </p:sp>
      <p:sp>
        <p:nvSpPr>
          <p:cNvPr id="6" name="Terminator 5"/>
          <p:cNvSpPr/>
          <p:nvPr/>
        </p:nvSpPr>
        <p:spPr>
          <a:xfrm>
            <a:off x="685800" y="2148840"/>
            <a:ext cx="3017520" cy="502920"/>
          </a:xfrm>
          <a:prstGeom prst="flowChartTerminator">
            <a:avLst/>
          </a:prstGeom>
          <a:solidFill>
            <a:srgbClr val="221C42"/>
          </a:solidFill>
          <a:ln w="19050">
            <a:solidFill>
              <a:srgbClr val="C3B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начало</a:t>
            </a:r>
          </a:p>
        </p:txBody>
      </p:sp>
      <p:sp>
        <p:nvSpPr>
          <p:cNvPr id="7" name="Data 6"/>
          <p:cNvSpPr/>
          <p:nvPr/>
        </p:nvSpPr>
        <p:spPr>
          <a:xfrm>
            <a:off x="685800" y="2880360"/>
            <a:ext cx="3017520" cy="502920"/>
          </a:xfrm>
          <a:prstGeom prst="flowChartInputOutput">
            <a:avLst/>
          </a:prstGeom>
          <a:solidFill>
            <a:srgbClr val="221C42"/>
          </a:solidFill>
          <a:ln w="19050">
            <a:solidFill>
              <a:srgbClr val="C3B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ввести a, 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651760"/>
            <a:ext cx="0" cy="22860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edefined Process 8"/>
          <p:cNvSpPr/>
          <p:nvPr/>
        </p:nvSpPr>
        <p:spPr>
          <a:xfrm>
            <a:off x="685800" y="3611880"/>
            <a:ext cx="3017520" cy="502920"/>
          </a:xfrm>
          <a:prstGeom prst="flowChartPredefinedProcess">
            <a:avLst/>
          </a:prstGeom>
          <a:solidFill>
            <a:srgbClr val="221C42"/>
          </a:solidFill>
          <a:ln w="317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onsolas"/>
              </a:rPr>
              <a:t>S = ploshad(a, b)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3383280"/>
            <a:ext cx="0" cy="22860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 10"/>
          <p:cNvSpPr/>
          <p:nvPr/>
        </p:nvSpPr>
        <p:spPr>
          <a:xfrm>
            <a:off x="685800" y="4343400"/>
            <a:ext cx="3017520" cy="502920"/>
          </a:xfrm>
          <a:prstGeom prst="flowChartInputOutput">
            <a:avLst/>
          </a:prstGeom>
          <a:solidFill>
            <a:srgbClr val="221C42"/>
          </a:solidFill>
          <a:ln w="19050">
            <a:solidFill>
              <a:srgbClr val="C3B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вывести 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4114800"/>
            <a:ext cx="0" cy="22860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rminator 12"/>
          <p:cNvSpPr/>
          <p:nvPr/>
        </p:nvSpPr>
        <p:spPr>
          <a:xfrm>
            <a:off x="685800" y="5074920"/>
            <a:ext cx="3017520" cy="502920"/>
          </a:xfrm>
          <a:prstGeom prst="flowChartTerminator">
            <a:avLst/>
          </a:prstGeom>
          <a:solidFill>
            <a:srgbClr val="221C42"/>
          </a:solidFill>
          <a:ln w="19050">
            <a:solidFill>
              <a:srgbClr val="C3B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конец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4846320"/>
            <a:ext cx="0" cy="22860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rminator 14"/>
          <p:cNvSpPr/>
          <p:nvPr/>
        </p:nvSpPr>
        <p:spPr>
          <a:xfrm>
            <a:off x="4572000" y="2880360"/>
            <a:ext cx="2743200" cy="50292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onsolas"/>
              </a:rPr>
              <a:t>ploshad(a, b)</a:t>
            </a:r>
          </a:p>
        </p:txBody>
      </p:sp>
      <p:sp>
        <p:nvSpPr>
          <p:cNvPr id="16" name="Process 15"/>
          <p:cNvSpPr/>
          <p:nvPr/>
        </p:nvSpPr>
        <p:spPr>
          <a:xfrm>
            <a:off x="4572000" y="3611880"/>
            <a:ext cx="2743200" cy="502920"/>
          </a:xfrm>
          <a:prstGeom prst="flowChartProcess">
            <a:avLst/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onsolas"/>
              </a:rPr>
              <a:t>S = a * 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3383280"/>
            <a:ext cx="0" cy="22860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rminator 17"/>
          <p:cNvSpPr/>
          <p:nvPr/>
        </p:nvSpPr>
        <p:spPr>
          <a:xfrm>
            <a:off x="4572000" y="4343400"/>
            <a:ext cx="2743200" cy="502920"/>
          </a:xfrm>
          <a:prstGeom prst="flowChartTerminator">
            <a:avLst/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onsolas"/>
              </a:rPr>
              <a:t>вернуть 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4114800"/>
            <a:ext cx="0" cy="228600"/>
          </a:xfrm>
          <a:prstGeom prst="line">
            <a:avLst/>
          </a:prstGeom>
          <a:ln w="22225">
            <a:solidFill>
              <a:srgbClr val="C3BE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703320" y="3127248"/>
            <a:ext cx="868680" cy="530352"/>
          </a:xfrm>
          <a:prstGeom prst="line">
            <a:avLst/>
          </a:prstGeom>
          <a:ln w="22225">
            <a:solidFill>
              <a:srgbClr val="E8B84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63840" y="2148840"/>
            <a:ext cx="3657600" cy="3429000"/>
          </a:xfrm>
          <a:prstGeom prst="roundRect">
            <a:avLst>
              <a:gd name="adj" fmla="val 5000"/>
            </a:avLst>
          </a:prstGeom>
          <a:solidFill>
            <a:srgbClr val="221C42"/>
          </a:solidFill>
          <a:ln w="25400">
            <a:solidFill>
              <a:srgbClr val="8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>
              <a:solidFill>
                <a:schemeClr val="bg1"/>
              </a:solidFill>
            </a:endParaRPr>
          </a:p>
        </p:txBody>
      </p:sp>
      <p:sp>
        <p:nvSpPr>
          <p:cNvPr id="22" name="Predefined Process 21"/>
          <p:cNvSpPr/>
          <p:nvPr/>
        </p:nvSpPr>
        <p:spPr>
          <a:xfrm>
            <a:off x="8229600" y="2377440"/>
            <a:ext cx="2926080" cy="548640"/>
          </a:xfrm>
          <a:prstGeom prst="flowChartPredefinedProcess">
            <a:avLst/>
          </a:prstGeom>
          <a:solidFill>
            <a:srgbClr val="221C42"/>
          </a:solidFill>
          <a:ln w="317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вызов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4929" y="3108960"/>
            <a:ext cx="3850830" cy="225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 dirty="0" err="1">
                <a:solidFill>
                  <a:schemeClr val="bg1"/>
                </a:solidFill>
                <a:latin typeface="Calibri"/>
              </a:rPr>
              <a:t>Прямоугольник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с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двумя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боковыми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линиями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—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вызов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вспомогательного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алгоритма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 b="1" i="0" dirty="0" err="1">
                <a:solidFill>
                  <a:schemeClr val="bg1"/>
                </a:solidFill>
                <a:latin typeface="Calibri"/>
              </a:rPr>
              <a:t>Его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собственная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схема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рисуется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отдельно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: в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начале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—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имя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и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параметры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, в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конце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—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что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он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возвращает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18954"/>
            <a:ext cx="10881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1">
                <a:solidFill>
                  <a:schemeClr val="bg1"/>
                </a:solidFill>
                <a:latin typeface="Calibri"/>
              </a:rPr>
              <a:t>В тетради так же: слева основная схема, справа — схема функции.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урока 11: тетрадь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30352" cy="530352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1874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на подзадачи: подготовить школьное мероприятие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68680" y="2679192"/>
            <a:ext cx="530352" cy="530352"/>
          </a:xfrm>
          <a:prstGeom prst="ellipse">
            <a:avLst/>
          </a:prstGeom>
          <a:solidFill>
            <a:srgbClr val="4FD1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868680" y="2679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8775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Разбить: вычислить средний балл и найти лучшего ученика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68680" y="3483864"/>
            <a:ext cx="530352" cy="530352"/>
          </a:xfrm>
          <a:prstGeom prst="ellipse">
            <a:avLst/>
          </a:prstGeom>
          <a:solidFill>
            <a:srgbClr val="3DD6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68680" y="3483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392424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подзадачу, которая делает два дела, и разделить её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19709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68680" y="4288536"/>
            <a:ext cx="530352" cy="530352"/>
          </a:xfrm>
          <a:prstGeom prst="ellipse">
            <a:avLst/>
          </a:prstGeom>
          <a:solidFill>
            <a:srgbClr val="3DD6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68680" y="4288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19709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Блок-схема: основной алгоритм вызывает ploshad, рядом — схема самой ploshad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 выполняют все, 4 — по мере готовности.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урока 11: компьютер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68680" y="1865376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ploshad и perimetr — проверить при 6 и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69464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56946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srednee для массива из пяти оценок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68680" y="3438144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68680" y="3438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55848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est_pomeha и mozhno_obehat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Шпаргалка: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0" y="2286000"/>
            <a:ext cx="4206240" cy="1965960"/>
          </a:xfrm>
          <a:prstGeom prst="roundRect">
            <a:avLst>
              <a:gd name="adj" fmla="val 1676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516368" y="242316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imya(parametr):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rezultat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sz="1700">
                <a:solidFill>
                  <a:srgbClr val="4FD1E0"/>
                </a:solidFill>
                <a:latin typeface="Consolas"/>
              </a:rPr>
              <a:t> 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otvet = imya(argument)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print(otvet)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прочитай сообщение об ошибке сам, потом поднимай руку.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Кейс: как принимает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решения беспилотник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ветвления: if — elif — else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Помощники уже написаны. Осталось научить машину выбирать.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Условный оператор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— elif — else на примере светофора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675120" cy="3602736"/>
          </a:xfrm>
          <a:prstGeom prst="roundRect">
            <a:avLst>
              <a:gd name="adj" fmla="val 1523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74520"/>
            <a:ext cx="63093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deystvie(cvet):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cvet == "зелёный":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"ехать"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cvet == "жёлтый":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"снизить скорость"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22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"стоять"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0" y="1737360"/>
            <a:ext cx="4023360" cy="1737360"/>
          </a:xfrm>
          <a:prstGeom prst="roundRect">
            <a:avLst>
              <a:gd name="adj" fmla="val 4737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проверка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498080" y="365760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3767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772400" y="4224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проверка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98080" y="521208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5321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772400" y="5779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остальные случаи</a:t>
            </a:r>
            <a:endParaRPr lang="en-US" sz="2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целиком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строк. Это ядро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273552"/>
          </a:xfrm>
          <a:prstGeom prst="roundRect">
            <a:avLst>
              <a:gd name="adj" fmla="val 1676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20240"/>
            <a:ext cx="6309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reshenie(rasstoyanie, polosa):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est_pomeha(rasstoyanie):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"ехать"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mozhno_obehat(polosa):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"объезжать"</a:t>
            </a: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"тормозить"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0" y="1783080"/>
            <a:ext cx="4023360" cy="4023360"/>
          </a:xfrm>
          <a:prstGeom prst="roundRect">
            <a:avLst>
              <a:gd name="adj" fmla="val 2045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читается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0" y="251460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Помехи нет — едем.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есть, полоса свободна — объезжаем.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остальных случаях — тормозим.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проверяются сверху вниз. Выполняется первое подошедшее.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 на данных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ситуации на дороге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97680" y="1920240"/>
            <a:ext cx="219456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297680" y="192024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92240" y="1920240"/>
            <a:ext cx="219456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0" y="1920240"/>
            <a:ext cx="283464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686800" y="192024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65760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 свободна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97680" y="297180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297680" y="29718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м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297180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92240" y="29718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занята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sz="2400">
                <a:solidFill>
                  <a:schemeClr val="bg1"/>
                </a:solidFill>
                <a:latin typeface="Consolas"/>
              </a:rPr>
              <a:t>False</a:t>
            </a:r>
          </a:p>
        </p:txBody>
      </p:sp>
      <p:sp>
        <p:nvSpPr>
          <p:cNvPr id="18" name="Shape 16"/>
          <p:cNvSpPr/>
          <p:nvPr/>
        </p:nvSpPr>
        <p:spPr>
          <a:xfrm>
            <a:off x="8686800" y="2971800"/>
            <a:ext cx="283464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686800" y="297180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65760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Помеха, есть объезд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297680" y="402336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92240" y="402336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92240" y="402336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sz="2400">
                <a:solidFill>
                  <a:schemeClr val="bg1"/>
                </a:solidFill>
                <a:latin typeface="Consolas"/>
              </a:rPr>
              <a:t>True</a:t>
            </a:r>
          </a:p>
        </p:txBody>
      </p:sp>
      <p:sp>
        <p:nvSpPr>
          <p:cNvPr id="26" name="Shape 24"/>
          <p:cNvSpPr/>
          <p:nvPr/>
        </p:nvSpPr>
        <p:spPr>
          <a:xfrm>
            <a:off x="8686800" y="4023360"/>
            <a:ext cx="283464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686800" y="402336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объезжать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365760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40080" y="507492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Помеха, объезда нет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97680" y="507492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4297680" y="50749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2240" y="507492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492240" y="50749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занята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sz="2400">
                <a:solidFill>
                  <a:schemeClr val="bg1"/>
                </a:solidFill>
                <a:latin typeface="Consolas"/>
              </a:rPr>
              <a:t>False</a:t>
            </a:r>
          </a:p>
        </p:txBody>
      </p:sp>
      <p:sp>
        <p:nvSpPr>
          <p:cNvPr id="34" name="Shape 32"/>
          <p:cNvSpPr/>
          <p:nvPr/>
        </p:nvSpPr>
        <p:spPr>
          <a:xfrm>
            <a:off x="8686800" y="5074920"/>
            <a:ext cx="283464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  <p:txBody>
          <a:bodyPr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8686800" y="507492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тормозить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0" dirty="0">
                <a:solidFill>
                  <a:schemeClr val="bg1"/>
                </a:solidFill>
                <a:latin typeface="Consolas" pitchFamily="34" charset="0"/>
                <a:ea typeface="Calibri" pitchFamily="34" charset="-122"/>
                <a:cs typeface="Calibri" pitchFamily="34" charset="-120"/>
              </a:rPr>
              <a:t>В коде: reshenie(50, False) · reshenie(10, True) · reshenie(10, False)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937760" cy="713232"/>
          </a:xfrm>
          <a:prstGeom prst="roundRect">
            <a:avLst>
              <a:gd name="adj" fmla="val 12821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ВНИМАНИЕ: ОПАСНАЯ ОШИБКА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Меняем местами две строки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2926080"/>
            <a:ext cx="475488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3063240"/>
            <a:ext cx="4389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est_pomeha(r):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"ехать"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mozhno_obehat(p):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"объезжать"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92240" y="2926080"/>
            <a:ext cx="475488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3063240"/>
            <a:ext cx="4389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mozhno_obehat(p):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"объезжать"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est_pomeha(r):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"ехать"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2789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9377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Пустая трасса, помех нет, соседняя полоса свободна. Было: «ехать». Стало: «объезжать». Машина перестраивается без всякой причины.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перестановка сломала алгоритм?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Подумайте: в каком порядке проверяются условия?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проверок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Условия проверяются сверху вниз</a:t>
            </a:r>
            <a:endParaRPr lang="en-US" sz="2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Выполняется ПЕРВОЕ подошедшее — остальные не проверяются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26664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«полоса свободна» оказалась первой и срабатывает всегда, когда полоса пуста — даже если объезжать нечего. Самая частая ошибка в ветвлении не в математике, а в порядке.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внутри функции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опирается на проверки, проверки — на сравнения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reshenie(...)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212080" y="19202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ехать, объезжать или тормозить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463040" y="3246120"/>
            <a:ext cx="923544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83080" y="3246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est_pomeha(...)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помеха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0" y="4572000"/>
            <a:ext cx="758952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45720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rasstoyanie &lt; 20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58000" y="4572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числа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57607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57607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самом низу — обычное сравнение двух чисел. Всё сложное собрано из простого.</a:t>
            </a:r>
            <a:endParaRPr lang="en-US" sz="2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ещё работает тот же приём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и ветвление — не только в машинах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Лифт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 вверх, вниз или стоять. Решает по тем же правилам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Банкомат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Хватает ли денег, верен ли код, есть ли купюры нужного номинала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Микроволновка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Дверца закрыта? Время задано? Тогда греть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в телефоне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53796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Персонаж жив? Хватает ли маны? Тогда применить умение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Везде одно и то же: разбить на проверки и выбрать действие.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 о масштабе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было ложных ожиданий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Настоящая программа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строк. Распознавание дороги, прогноз движения других машин, карты, датчики.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каждая строка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Такая же простая, как ваша. Сложность не в строке, а в их количестве и в том, как они связаны.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4348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не написали беспилотник. Вы написали приём, из которого он собран. Разница между вами и инженером — в количестве опыта, а не в волшебстве.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без ответа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не решили до сих пор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впереди. Тормозить поздно. Слева — пешеход, справа — бетонный отбойник. Какое условие должен проверить алгоритм?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93192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такое условие в программу обязан человек. Инженеры, юристы и философы спорят об этом не первый год, и общего ответа пока нет.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решает, что правильно. Она выполняет то, что записал человек.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урока 12: тетрадь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68680" y="1874520"/>
            <a:ext cx="530352" cy="530352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68680" y="1874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178308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блок-схему решения беспилотника с двумя ромбами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258775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68680" y="2679192"/>
            <a:ext cx="530352" cy="530352"/>
          </a:xfrm>
          <a:prstGeom prst="ellipse">
            <a:avLst/>
          </a:prstGeom>
          <a:solidFill>
            <a:srgbClr val="F278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68680" y="2679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258775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произойдёт, если поменять ромбы местами?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задачи выполняют все. Задачу 2 — письменно, 2–3 предложения.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урока 12: компьютер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640080" y="2569464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68680" y="2651760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6868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256946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reshenie — проверить на трёх наборах со слайда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178308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8680" y="1865376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86868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1783080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deystvie для светофора: три варианта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3355848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68680" y="3438144"/>
            <a:ext cx="512064" cy="512064"/>
          </a:xfrm>
          <a:prstGeom prst="ellipse">
            <a:avLst/>
          </a:prstGeom>
          <a:solidFill>
            <a:srgbClr val="F2789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868680" y="3438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355848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проверки местами и объяснить результат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Шпаргалка: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0" y="2286000"/>
            <a:ext cx="4206240" cy="2148840"/>
          </a:xfrm>
          <a:prstGeom prst="roundRect">
            <a:avLst>
              <a:gd name="adj" fmla="val 1676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516368" y="2423160"/>
            <a:ext cx="3840480" cy="1874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uslovie: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sz="1700">
                <a:solidFill>
                  <a:srgbClr val="4FD1E0"/>
                </a:solidFill>
                <a:latin typeface="Consolas"/>
              </a:rPr>
              <a:t>elif drugoe: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7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прочитай сообщение об ошибке сам, потом поднимай руку.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на подзадачи: определить, допущен ли ученик к соревнованию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3375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429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действий водителя по сигналу светофора (три варианта)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Функция, которая по трём числам возвращает наибольшее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двух уроков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7315200" cy="374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Большую задачу разбивают на подзадачи — это декомпозиция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Подзадача записывается функцией: получает данные, возвращает ответ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 функции передаёт аргументы в параметры; одну функцию вызывают сколько угодно раз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 выбирает действие; проверки идут сверху вниз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переставленные строки меняют поведение машины на дороге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Сложное собрано из простого — на дне лежит сравнение двух чисел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решает алгоритм в трудном случае — записывает человек. Ответственность на нём.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2175</Words>
  <Application>Microsoft Office PowerPoint</Application>
  <PresentationFormat>Широкоэкранный</PresentationFormat>
  <Paragraphs>331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Мухаммадчон Мусоев</cp:lastModifiedBy>
  <cp:revision>2</cp:revision>
  <dcterms:created xsi:type="dcterms:W3CDTF">2026-10-09T15:06:49Z</dcterms:created>
  <dcterms:modified xsi:type="dcterms:W3CDTF">2026-10-09T16:09:37Z</dcterms:modified>
</cp:coreProperties>
</file>