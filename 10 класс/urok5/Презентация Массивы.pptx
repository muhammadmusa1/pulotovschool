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17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час — практикум по блок-схемам. Второй час — массивы. Начать с разговора о пользе.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отмахиваться от вопроса. Признать его правоту — тогда дальше слушают.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ядро ответа на вопрос «зачем». Проговорить каждую строку.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Спросить: сколько треков в вашем плейлисте? Столько переменных заводить никто не станет.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обещать то, чего не будет. Признание границ повышает доверие к остальному.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в IT пойдут двое-трое из класса. Остальным нужны данные и таблицы — и там тот же приём.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карточки. Задача 6 — найти ошибку: из ромба выходит одна линия.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образец к задаче 1 практической работы. Перерисовать в тетрадь.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линия возврата — признак цикла. Это образец к задачам 2 и 3 практической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высказаться. Подвести к тому, что нужно одно имя на весь набор.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в тетрадь. Нумерация с нуля — главное правило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6 в практике: намеренно обратиться к несуществующему номеру и прочитать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6. При обращении к седьмому номеру — ошибка IndexError, потому что нумерация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Проговорить правило вслух: последний индекс всегда на единицу меньше длины.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на экране. Затем добавить в массив элементы и показать, что программа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Замкнуть круг: свойство алгоритма с первого урока получило практический смысл.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Интересный факт для класса: в Pascal нумерацию можно начать с единицы, во всех остальных языках — только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Объяснение через смещение снимает недоумение лучше, чем «просто так принято».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4, 45, 95. Элемент a[1] — второй по счёту.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жизнью: ровно так считается итог в любом магазине.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держать на экране во время практики. Все задания решаются этими восемью действиями.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Прямое соответствие задание-приём снимает ступор у слабых учащихся.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6 намеренно ломающее: пусть получат IndexError своими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держать на экране всю практическую часть.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3DD6A0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№5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Массивы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хранят много значений под одним именем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честный разговор: зачем всё это нужно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«Зачем мне это нужно?»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правильный. Вы спрашиваете: где в жизни пригодится сумма чисел от 1 до 20?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5661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Отвечаю честно: сама эта задача — нигде. Она тренажёр. Как гаммы у музыканта: на концерте их не играют, но без них не играют ничего.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разберём, какой приём тренирует каждая задача и где он работает по-настоящему.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на уроке и настоящая задача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один и тот же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чисел от 1 до 20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783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783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корзины в магазине: сложить цены всех товаров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26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значение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926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926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товара, средний балл, средняя температура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69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Наибольшее в массиве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4069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4069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дорогой заказ, рекорд в игре, пик нагрузки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12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Подсчёт по условию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5212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5212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учеников сдали, сколько заказов не оплачено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то, что вы решаете в тетради. Справа — то же самое в работающей программе.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массивы работают прямо сейчас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выглядит как список, внутри — массив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видео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роликов, которые вам показывают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Плейлист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 и их длительности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в магазине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товаров, которые нужно сложить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в телефоне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и номера по порядку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не заводит отдельную переменную под каждый трек. Оно хранит массив.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Честно: что пригодится, а что нет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Скорее всего не пригодится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синтаксис Python, если вы не пойдёте в IT. Через пять лет вы его забудете.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точно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Умение разложить задачу на шаги и проверить результат. Это нужно везде, где есть порядок действий.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зачем блок-схемы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029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— не про программирование. Это способ разложить любое дело на шаги и увидеть, где развилка. Так пишут инструкции, планируют ремонт, настраивают работу в магазине.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это нужно по работе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программистам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Бухгалтер, экономист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Таблицы, подсчёты, итоги по сотням строк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Врач, лаборант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результатов измерений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401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Продавец, кладовщик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Остатки, цены, отчёты по товарам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32918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401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Агроном, инженер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Показания датчиков, расчёты по участкам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Журнал, средние баллы, статистика класса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47548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Любой, у кого есть данные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Там, где больше десяти чисел, нужен массив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час: блок-схемы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правила перед самостоятельной работой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Ромб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830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вход, два выхода. Оба подписаны «да» и «нет»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цикла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6974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Линия, возвращающаяся назад к условию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118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 цикла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6118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 меняется величина, влияющая на выход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262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5262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Обнуляется ДО цикла, а не внутри него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4406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54406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Трассировка: таблица значений по шагам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 выполняют все, 4—6 по мере готовности. Взаимопроверка по этим же пяти признакам.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1. Схема с ветвлением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Ввести число и определить, положительное ли оно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1645920"/>
            <a:ext cx="2286000" cy="566928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89320" y="2212848"/>
            <a:ext cx="0" cy="301752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2514600"/>
            <a:ext cx="2743200" cy="566928"/>
          </a:xfrm>
          <a:prstGeom prst="parallelogram">
            <a:avLst/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514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числа 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89320" y="3081528"/>
            <a:ext cx="0" cy="301752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3383280"/>
            <a:ext cx="3657600" cy="1143000"/>
          </a:xfrm>
          <a:prstGeom prst="flowChartDecision">
            <a:avLst/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33832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0 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611880" y="3959352"/>
            <a:ext cx="548640" cy="0"/>
          </a:xfrm>
          <a:prstGeom prst="line">
            <a:avLst/>
          </a:prstGeom>
          <a:noFill/>
          <a:ln w="31750">
            <a:solidFill>
              <a:srgbClr val="3DD6A0"/>
            </a:solidFill>
            <a:prstDash val="solid"/>
            <a:head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18120" y="3959352"/>
            <a:ext cx="640080" cy="0"/>
          </a:xfrm>
          <a:prstGeom prst="line">
            <a:avLst/>
          </a:prstGeom>
          <a:noFill/>
          <a:ln w="31750">
            <a:solidFill>
              <a:srgbClr val="F2789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81812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14400" y="3675888"/>
            <a:ext cx="2926080" cy="566928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675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«плюс»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12480" y="3675888"/>
            <a:ext cx="2926080" cy="566928"/>
          </a:xfrm>
          <a:prstGeom prst="rect">
            <a:avLst/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3675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«минус»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377440" y="4242816"/>
            <a:ext cx="0" cy="1005840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4242816"/>
            <a:ext cx="0" cy="1005840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48656"/>
            <a:ext cx="7498080" cy="0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5248656"/>
            <a:ext cx="0" cy="292608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5541264"/>
            <a:ext cx="2286000" cy="566928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5541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ветви сходятся в один конец. Оба выхода из ромба подписаны.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2. Схема с циклом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сумму чисел от 1 до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1627632"/>
            <a:ext cx="2194560" cy="502920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0" y="2130552"/>
            <a:ext cx="0" cy="237744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368296"/>
            <a:ext cx="219456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682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0" y="2871216"/>
            <a:ext cx="0" cy="219456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3090672"/>
            <a:ext cx="219456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0906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0" y="3593592"/>
            <a:ext cx="0" cy="219456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3813048"/>
            <a:ext cx="3383280" cy="1051560"/>
          </a:xfrm>
          <a:prstGeom prst="flowChartDecision">
            <a:avLst/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381304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&lt;= 5 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35240" y="4334256"/>
            <a:ext cx="594360" cy="0"/>
          </a:xfrm>
          <a:prstGeom prst="line">
            <a:avLst/>
          </a:prstGeom>
          <a:noFill/>
          <a:ln w="31750">
            <a:solidFill>
              <a:srgbClr val="3DD6A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3524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4078224"/>
            <a:ext cx="292608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40782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сумма + 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92640" y="4581144"/>
            <a:ext cx="0" cy="347472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4928616"/>
            <a:ext cx="292608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9286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i + 1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92640" y="5431536"/>
            <a:ext cx="0" cy="457200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5888736"/>
            <a:ext cx="3749040" cy="0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864608"/>
            <a:ext cx="0" cy="1024128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217920" y="5943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57600" y="4334256"/>
            <a:ext cx="594360" cy="0"/>
          </a:xfrm>
          <a:prstGeom prst="line">
            <a:avLst/>
          </a:prstGeom>
          <a:noFill/>
          <a:ln w="31750">
            <a:solidFill>
              <a:srgbClr val="F2789F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474720" y="35844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2960" y="4078224"/>
            <a:ext cx="3108960" cy="502920"/>
          </a:xfrm>
          <a:prstGeom prst="parallelogram">
            <a:avLst/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0782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суммы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2377440" y="4581144"/>
            <a:ext cx="0" cy="384048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280160" y="4965192"/>
            <a:ext cx="2194560" cy="502920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4965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4937760" cy="493776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классе 25 учеников. Как записать 25 оценок, не заводя 25 переменных?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однотипных величин под одним именем. У каждого элемента есть номер — индекс.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ocenki = [4, 5, 3, 5, 4]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Нумерация начинается с НУЛЯ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21945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006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3464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21945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53212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83464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7200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30936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04672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8408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8408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к элементам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76656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20240"/>
            <a:ext cx="6400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print(ocenki[0])    # 4   первый элемент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print(ocenki[4])    # 4   последний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print(ocenki[-1])   # 4   он же, с конца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print(len(ocenki))  # 5   сколько элементов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0" y="1783080"/>
            <a:ext cx="3931920" cy="2103120"/>
          </a:xfrm>
          <a:prstGeom prst="roundRect">
            <a:avLst>
              <a:gd name="adj" fmla="val 3913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ошибка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514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индекс на единицу меньше длины. При длине 5 это ocenki[4].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67665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434340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print(ocenki[5])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IndexError: list index out of range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0" y="4206240"/>
            <a:ext cx="3931920" cy="1737360"/>
          </a:xfrm>
          <a:prstGeom prst="roundRect">
            <a:avLst>
              <a:gd name="adj" fmla="val 4737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43708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по счёту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4892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ocenki[2], а не ocenki[3].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 содержит семь элементов. Какой индекс у последнего?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второй вопрос: что будет при обращении к элементу с номером 7?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элементов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индексы:  0  1  2  3  4  5  6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последний индекс = len - 1 = 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к a[7] даёт ошибку IndexError. Номера идут от нуля до длины минус один.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Главное: обработка циклом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 обрабатывает весь массив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2615184"/>
          </a:xfrm>
          <a:prstGeom prst="roundRect">
            <a:avLst>
              <a:gd name="adj" fmla="val 209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20240"/>
            <a:ext cx="64008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 in ocenki: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o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summa)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print("Среднее:", summa / len(ocenki))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выведет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863840" y="2514600"/>
            <a:ext cx="338328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65008" y="265176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Сумма: 21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Среднее: 4.2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41605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4315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средства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863840" y="4846320"/>
            <a:ext cx="338328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65008" y="49834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max(a)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min(a)  len(a)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важно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зависит от количества элементов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массива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учеников — 25 переменных и полсотни строк. Перешли в класс из 30 человек — переписывать всё заново.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массивом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цикл. Работает и для пяти оценок, и для двадцати пяти, и для тысячи. Менять ничего не нужно.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самое свойство массовости, о котором говорили на первом занятии. Алгоритм должен работать для класса похожих задач, а не для одного случая.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Массивы есть во всех языках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Меняется запись — смысл остаётся тем же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[7, 3, 9]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7830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язык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97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697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[7, 3, 9];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6974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 и приложения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118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611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a[3] = {7, 3, 9};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роботы, игры, микроконтроллеры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26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5262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 = {7, 3, 9};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5262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для Android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4406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5440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array[1..3] of integer;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54406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школьная классика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10881360" cy="0"/>
          </a:xfrm>
          <a:prstGeom prst="roundRect">
            <a:avLst/>
          </a:prstGeom>
          <a:solidFill>
            <a:srgbClr val="221C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 массив здесь, вы узнаете его в любом языке. Меняются только скобки.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к элементу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Квадратные скобки — почти везде одинаково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элемент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475488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606040"/>
            <a:ext cx="4389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     a[0]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JavaScript:  a[0]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C++:         a[0]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        a[0]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Pascal:      a[1]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Интересный факт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языки нумеруют с нуля. Pascal разрешает начать с единицы — и именно поэтому программисты, перешедшие с него, чаще всего ошибаются на единицу.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взялся ноль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— это не номер по счёту, а смещение от начала. У первого элемента смещение нулевое: он и есть начало.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выведет этот код?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[12, 45, 8, 30]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print(len(a))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print(a[1])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print(sum(a))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4865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Помните: нумерация с нуля.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Корзина покупок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   -&gt;  4      позиций в корзине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    -&gt;  45     второй товар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 -&gt;  95     итого к оплате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355848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корзина интернет-магазина: массив цен, количество позиций и сумма к оплате.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умеет массив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действия понадобятся в практической работе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373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элементов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17373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3134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a[2]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3134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элемент по номеру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3134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7   9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288950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8895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a[-1]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88950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элемент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28895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46557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46557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элемент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34655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0416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a.append(5)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0416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конец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40416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177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6177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всех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46177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40080" y="519379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1937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max(a)   min(a)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51937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наибольшее и наименьшее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51937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9   3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40080" y="576986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7698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/ len(a)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4297680" y="576986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значение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0" y="576986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массива a = [7, 3, 9, 4, 8]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Какая задача — какой приём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решается этими строками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Первый, последний, длина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7373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    a[-1]      len(a)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4871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Вывести все элементы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4871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a:  print(x, end=" ")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2369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Сумма и среднее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23697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  sum(a) / len(a)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867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Наибольшее и наименьшее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98678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max(a)    min(a)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7365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Заменить и добавить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473659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3      a.append(5)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486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Ошибка выхода за границу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54864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a[len(a)]   даёт IndexError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помните запись — смотрите на этот слайд или в шпаргалку.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за компьютером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65376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массив, вывести первый, последний и длину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56946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все элементы циклом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38144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55848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сумму и среднее, проверить вручную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224528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42232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наибольшее и наименьшее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010912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928616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элемент и добавить новый в конец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797296"/>
            <a:ext cx="512064" cy="51206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797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71500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Обратиться к несуществующему номеру и прочитать ошибку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98080" y="2286000"/>
            <a:ext cx="4023360" cy="2615184"/>
          </a:xfrm>
          <a:prstGeom prst="roundRect">
            <a:avLst>
              <a:gd name="adj" fmla="val 209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9248" y="2423160"/>
            <a:ext cx="36576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[7, 3, 9, 4, 8]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print(a[0])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print(len(a))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a: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end=" ")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к практической работе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 перед глазами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317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[7, 3, 9, 4, 8]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   # 7   первый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a[2]     # 9   третий по счёту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a[-1]    # 8   последний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   # 5   сколько всего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5488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534924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5394960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3        # заменить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a.append(5)     # добавить в конец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2331720"/>
            <a:ext cx="4846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 max(a)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min(a)   len(a)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a: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end=" ")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457200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ошибка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2120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индекс на единицу меньше длины. При len = 5 это a[4]. Обращение к a[5] даёт IndexError.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нахождения наибольшего из трёх введённых чисел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429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массив из шести значений и указать индекс каждого в таблице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подсчёта оценок выше среднего в массиве из восьми значений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хранит много значений под одним именем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Нумерация с нуля; последний индекс на единицу меньше длины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 обрабатывает массив любой длины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Лента, плейлист, корзина — внутри это массивы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на уроке — тренажёр приёма, который работает в настоящих программах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выбирать — условный оператор.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2139</Words>
  <Application>Microsoft Office PowerPoint</Application>
  <PresentationFormat>Широкоэкранный</PresentationFormat>
  <Paragraphs>349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1</cp:revision>
  <dcterms:created xsi:type="dcterms:W3CDTF">2026-10-02T14:48:46Z</dcterms:created>
  <dcterms:modified xsi:type="dcterms:W3CDTF">2026-10-02T14:53:11Z</dcterms:modified>
</cp:coreProperties>
</file>