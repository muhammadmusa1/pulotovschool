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Блиц по домашнему заданию: способы записи алгоритма, выходы ромба, алгоритмический язык.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классу высказаться. Не давать ответ сразу.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Бесконечный цикл — это и есть «программа зависла». Пример из жизни понятен всем.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Жёлтая линия — та самая линия возврата. По ней цикл и узнаётся на схеме.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Заполнять таблицу вместе с классом, строку за строкой.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10 раз. Проверка: 12 − 3 + 1 = 10. Частая ошибка — ответ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на экране запуск. Затем изменить 11 на 101 — сумма станет 5050.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оба варианта на экране. Это задание есть в практической части — пусть сломают 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Связка с первым часом: разбираем те же величины, что только что были в цикле.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класс: какие величины в задаче про стоимость покупки постоянны, а какие меняются.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в практике: объявить константу и три переменные разных типов, вывести значение и тип каждой.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6. Шаги: 0+1=1, 1+2=3, 3+3=6. range(1,4) даёт 1, 2,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задачу 6: тело выполнится один раз, цикла не будет. Раздать карточки.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6 намеренно ломающее: пусть получат 10 вместо 5050 и объяснят почему.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Выставить отметки. Собрать тетради выборочно для проверки трассировок.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3DD6A0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Цикл. Величины и типы данных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Информатика · 10 класс · 90 минут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4069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научим программу повторять действия — и разберёмся, чем константа отличается от переменной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на сегодня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вывести таблицу умножения на 7. Пять строк — напишем пять команд print. А если потребуется вывести числа от 1 до 1000?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4290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вторая задача: найти сумму всех чисел от 1 до 100. Записывать сто сложений подряд?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Должен быть способ сказать компьютеру: «повтори это сто раз». Он есть.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7830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— алгоритмическая структура, при которой одна и та же группа действий выполняется несколько раз. Повторяемые действия называются телом цикла.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303520" cy="2377440"/>
          </a:xfrm>
          <a:prstGeom prst="roundRect">
            <a:avLst>
              <a:gd name="adj" fmla="val 269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известным числом повторений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Знаем заранее, сколько раз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51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умножения · 30 оценок класса · узор из 12 элементов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Управляется счётчиком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3063240"/>
            <a:ext cx="5303520" cy="2377440"/>
          </a:xfrm>
          <a:prstGeom prst="roundRect">
            <a:avLst>
              <a:gd name="adj" fmla="val 269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неизвестным числом повторений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Зависит от данных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251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Вводить оценки, пока не введут ноль · делить, пока не станет нулём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Управляется условием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669280"/>
            <a:ext cx="10881360" cy="685800"/>
          </a:xfrm>
          <a:prstGeom prst="roundRect">
            <a:avLst>
              <a:gd name="adj" fmla="val 9333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6692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теле цикла обязательно меняется величина, влияющая на завершение. Иначе цикл не кончится: телефон зависнет, батарейка сядет.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на блок-схеме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цикла — линия, возвращающаяся назад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46320" y="1600200"/>
            <a:ext cx="2103120" cy="502920"/>
          </a:xfrm>
          <a:prstGeom prst="flowChartTerminator">
            <a:avLst/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600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97880" y="2103120"/>
            <a:ext cx="0" cy="256032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46320" y="2359152"/>
            <a:ext cx="2103120" cy="47548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591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=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97880" y="2834640"/>
            <a:ext cx="0" cy="237744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3072384"/>
            <a:ext cx="2103120" cy="47548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30723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97880" y="3547872"/>
            <a:ext cx="0" cy="237744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3785616"/>
            <a:ext cx="3200400" cy="1005840"/>
          </a:xfrm>
          <a:prstGeom prst="flowChartDecision">
            <a:avLst/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3785616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≤ 10 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0" y="4288536"/>
            <a:ext cx="640080" cy="0"/>
          </a:xfrm>
          <a:prstGeom prst="line">
            <a:avLst/>
          </a:prstGeom>
          <a:noFill/>
          <a:ln w="25400">
            <a:solidFill>
              <a:srgbClr val="3DD6A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543800" y="3913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4050792"/>
            <a:ext cx="2468880" cy="47548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40507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= сумма + 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72600" y="4526280"/>
            <a:ext cx="0" cy="36576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4892040"/>
            <a:ext cx="2468880" cy="47548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48920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i + 1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72600" y="5367528"/>
            <a:ext cx="0" cy="457200"/>
          </a:xfrm>
          <a:prstGeom prst="line">
            <a:avLst/>
          </a:prstGeom>
          <a:noFill/>
          <a:ln w="31750">
            <a:solidFill>
              <a:srgbClr val="E8B8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5824728"/>
            <a:ext cx="3474720" cy="0"/>
          </a:xfrm>
          <a:prstGeom prst="line">
            <a:avLst/>
          </a:prstGeom>
          <a:noFill/>
          <a:ln w="31750">
            <a:solidFill>
              <a:srgbClr val="E8B8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4791456"/>
            <a:ext cx="0" cy="1033272"/>
          </a:xfrm>
          <a:prstGeom prst="line">
            <a:avLst/>
          </a:prstGeom>
          <a:noFill/>
          <a:ln w="31750">
            <a:solidFill>
              <a:srgbClr val="E8B84B"/>
            </a:solidFill>
            <a:prstDash val="solid"/>
            <a:head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126480" y="5870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назад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0" y="4288536"/>
            <a:ext cx="640080" cy="0"/>
          </a:xfrm>
          <a:prstGeom prst="line">
            <a:avLst/>
          </a:prstGeom>
          <a:noFill/>
          <a:ln w="25400">
            <a:solidFill>
              <a:srgbClr val="F2789F"/>
            </a:solidFill>
            <a:prstDash val="solid"/>
            <a:head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611880" y="39136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050792"/>
            <a:ext cx="2743200" cy="475488"/>
          </a:xfrm>
          <a:prstGeom prst="parallelogram">
            <a:avLst/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0507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суммы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03120" y="4526280"/>
            <a:ext cx="0" cy="411480"/>
          </a:xfrm>
          <a:prstGeom prst="line">
            <a:avLst/>
          </a:prstGeom>
          <a:noFill/>
          <a:ln w="25400">
            <a:solidFill>
              <a:srgbClr val="A9A3C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51560" y="4937760"/>
            <a:ext cx="2103120" cy="502920"/>
          </a:xfrm>
          <a:prstGeom prst="flowChartTerminator">
            <a:avLst/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1560" y="4937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Трассировка цикла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Выполняем вручную и записываем значения на каждом шаге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77440" cy="502920"/>
          </a:xfrm>
          <a:prstGeom prst="rect">
            <a:avLst/>
          </a:prstGeom>
          <a:solidFill>
            <a:srgbClr val="2C25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1691640"/>
            <a:ext cx="2194560" cy="502920"/>
          </a:xfrm>
          <a:prstGeom prst="rect">
            <a:avLst/>
          </a:prstGeom>
          <a:solidFill>
            <a:srgbClr val="2C25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1752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12080" y="1691640"/>
            <a:ext cx="2194560" cy="502920"/>
          </a:xfrm>
          <a:prstGeom prst="rect">
            <a:avLst/>
          </a:prstGeom>
          <a:solidFill>
            <a:srgbClr val="2C25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6640" y="1691640"/>
            <a:ext cx="4114800" cy="502920"/>
          </a:xfrm>
          <a:prstGeom prst="rect">
            <a:avLst/>
          </a:prstGeom>
          <a:solidFill>
            <a:srgbClr val="2C25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0664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i ≤ 10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945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цикла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17520" y="219456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21945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12080" y="219456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21945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06640" y="219456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21945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274320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7432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017520" y="274320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17520" y="27432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212080" y="274320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12080" y="27432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06640" y="274320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06640" y="27432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329184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2918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017520" y="329184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7520" y="3291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212080" y="329184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12080" y="3291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406640" y="329184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06640" y="32918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0080" y="384048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8404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017520" y="384048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17520" y="38404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212080" y="384048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212080" y="38404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406640" y="384048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06640" y="384048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40080" y="438912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4389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017520" y="438912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17520" y="43891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212080" y="438912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212080" y="43891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406640" y="438912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06640" y="43891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40080" y="4937760"/>
            <a:ext cx="237744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080" y="49377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10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3017520" y="493776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017520" y="49377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5212080" y="4937760"/>
            <a:ext cx="219456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212080" y="49377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7406640" y="4937760"/>
            <a:ext cx="4114800" cy="530352"/>
          </a:xfrm>
          <a:prstGeom prst="rect">
            <a:avLst/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406640" y="49377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40080" y="5486400"/>
            <a:ext cx="2377440" cy="530352"/>
          </a:xfrm>
          <a:prstGeom prst="rect">
            <a:avLst/>
          </a:prstGeom>
          <a:solidFill>
            <a:srgbClr val="2A2340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0080" y="54864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3017520" y="5486400"/>
            <a:ext cx="2194560" cy="530352"/>
          </a:xfrm>
          <a:prstGeom prst="rect">
            <a:avLst/>
          </a:prstGeom>
          <a:solidFill>
            <a:srgbClr val="2A2340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017520" y="54864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78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5212080" y="5486400"/>
            <a:ext cx="2194560" cy="530352"/>
          </a:xfrm>
          <a:prstGeom prst="rect">
            <a:avLst/>
          </a:prstGeom>
          <a:solidFill>
            <a:srgbClr val="2A2340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212080" y="54864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78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7406640" y="5486400"/>
            <a:ext cx="4114800" cy="530352"/>
          </a:xfrm>
          <a:prstGeom prst="rect">
            <a:avLst/>
          </a:prstGeom>
          <a:solidFill>
            <a:srgbClr val="2A2340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406640" y="54864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1500" dirty="0"/>
          </a:p>
        </p:txBody>
      </p:sp>
      <p:sp>
        <p:nvSpPr>
          <p:cNvPr id="68" name="Text 66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стало ложным — цикл завершился. Сумма чисел от 1 до 10 равна 55.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раз выполнится тело цикла?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 меняется от 3 до 12 включительно.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881360" cy="2971800"/>
          </a:xfrm>
          <a:prstGeom prst="roundRect">
            <a:avLst>
              <a:gd name="adj" fmla="val 2154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класса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на языке программирования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583680" cy="1938528"/>
          </a:xfrm>
          <a:prstGeom prst="roundRect">
            <a:avLst>
              <a:gd name="adj" fmla="val 235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65376"/>
            <a:ext cx="62544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11):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print("Сумма:", summa)   # 55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847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11)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226771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числа от 1 до 10.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Конечное значение в диапазон не входит.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43800" y="36576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18120" y="3767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Отступ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418795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 с отступом — это тело цикла. По отступу язык понимает, что повторять, а что нет.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06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строк вместо ста. Вот зачем нужен цикл.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Главная ошибка в цикле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обнулять накопитель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4754880" cy="1938528"/>
          </a:xfrm>
          <a:prstGeom prst="roundRect">
            <a:avLst>
              <a:gd name="adj" fmla="val 235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414016"/>
            <a:ext cx="442569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11):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print(summa)   # 55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Неверно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92240" y="2286000"/>
            <a:ext cx="4754880" cy="1664208"/>
          </a:xfrm>
          <a:prstGeom prst="roundRect">
            <a:avLst>
              <a:gd name="adj" fmla="val 274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414016"/>
            <a:ext cx="44256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11):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0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print(summa)   # 10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21C4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102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выходит 10, а не 55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50468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Обнуление внутри тела срабатывает на каждом шаге. Накопленное стирается, и остаётся только последнее слагаемое — число 10.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4937760" cy="4937760"/>
          </a:xfrm>
          <a:prstGeom prst="ellipse">
            <a:avLst/>
          </a:prstGeom>
          <a:solidFill>
            <a:srgbClr val="3DD6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4754880" cy="475488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ЧАС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Величины: константы и переменные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931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цикле у нас были summa и i. Их значения менялись. А бывают величины, которые меняться не должны?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Константа и переменная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45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Величина — данное, с которым работает программа. У каждой величины есть имя, значение и тип.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8163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73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меняется по ходу программы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3703320"/>
            <a:ext cx="4754880" cy="1115568"/>
          </a:xfrm>
          <a:prstGeom prst="roundRect">
            <a:avLst>
              <a:gd name="adj" fmla="val 409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831336"/>
            <a:ext cx="44256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4.5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8163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Константа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273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остаётся неизменным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3703320"/>
            <a:ext cx="475488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831336"/>
            <a:ext cx="4425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MAX_BALL = 5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MINUT_V_CHASE = 60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констант пишут заглавными буквами. Это сообщает другому читателю кода: величину менять не следует.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Типы данных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определяет, что с величиной можно делать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Целый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7373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7373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-3, 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737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Складывать, умножать, делить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Вещественный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7432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7432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4.5, -0.75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743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же, но с дробной частью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749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Строковый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749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749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"Фаррух", "10 класс"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749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Соединять, измерять длину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754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Логический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47548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47548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True, False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условия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тип: print(type(10)) выведет int. Сложить строку и число нельзя — это величины разных типов.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выведет этот код?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766560" cy="1938528"/>
          </a:xfrm>
          <a:prstGeom prst="roundRect">
            <a:avLst>
              <a:gd name="adj" fmla="val 235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16936"/>
            <a:ext cx="64373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4):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print(summa)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9560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Заполните таблицу трассировки: шаг, i, сумма.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первый: тетрадь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парах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блок-схему цикла по карточке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трассировку: заполнить таблицу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Сверить результат с товарищем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карточек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3774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1—3 выполняют все: числа от 1 до 5, сумма от 1 до 6, произведение от 1 до 4.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4—6 по мере готовности: таблица умножения, подсчёт повторений, поиск ошибки в схеме.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773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6 — самая интересная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19379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выданной схеме нет линии возврата. Что произойдёт при выполнении такого алгоритма? Ответ объяснить письменно.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второй: компьютер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792224"/>
            <a:ext cx="402336" cy="402336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числа от 1 до 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505456"/>
            <a:ext cx="402336" cy="402336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0487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Изменить: вывести от 1 до 20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118104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218688"/>
            <a:ext cx="402336" cy="402336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11810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от 1 до 100 — должно выйти 5050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402336" cy="402336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3133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умножения на 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544568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645152"/>
            <a:ext cx="402336" cy="402336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54456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Константа и три переменные разных типов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6035040" cy="621792"/>
          </a:xfrm>
          <a:prstGeom prst="roundRect">
            <a:avLst>
              <a:gd name="adj" fmla="val 10294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358384"/>
            <a:ext cx="402336" cy="402336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5358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25780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Сломать: обнулить сумму внутри цикла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для начала: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49440" y="2103120"/>
            <a:ext cx="4572000" cy="841248"/>
          </a:xfrm>
          <a:prstGeom prst="roundRect">
            <a:avLst>
              <a:gd name="adj" fmla="val 543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0" y="2231136"/>
            <a:ext cx="4242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49440" y="3611880"/>
            <a:ext cx="4572000" cy="1389888"/>
          </a:xfrm>
          <a:prstGeom prst="roundRect">
            <a:avLst>
              <a:gd name="adj" fmla="val 3289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0" y="3739896"/>
            <a:ext cx="42428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 = 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101):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 = summa + i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print("Сумма:", summa)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увидел ошибку — прочитай сообщение, найди номер строки, потом поднимай руку.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цикла вывода чисел от 1 до 10 и его трассировка в таблице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32004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Записать, какие величины в задаче о стоимости покупки постоянные, а какие переменные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4348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5262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суммы чисел от 1 до 50; проверить результат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два задания выполняются в тетради — компьютер не нужен.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повторяет группу действий — это тело цикла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цикла на схеме — линия возврата назад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теле обязательно меняется величина, иначе цикл не кончится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Накопитель обнуляется до цикла, а не внутри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меняется, константа — нет; у каждой величины есть тип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440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научится принимать данные с клавиатуры.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2026-09-17T15:12:06Z</dcterms:created>
  <dcterms:modified xsi:type="dcterms:W3CDTF">2026-09-17T15:12:06Z</dcterms:modified>
</cp:coreProperties>
</file>