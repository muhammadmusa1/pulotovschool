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Блиц по домашнему заданию: способы записи алгоритма, выходы ромба, алгоритмический язык.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Дать классу высказаться. Не давать ответ сразу.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Бесконечный цикл — это и есть «программа зависла». Пример из жизни понятен всем.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Ответ: пять чисел — 1, 2, 3, 4, 5. Конечное значение 6 в диапазон не входит.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Проговорить вслух: конец не входит. Это источник самой частой ошибки на единицу.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Жёлтая линия — та самая линия возврата. По ней цикл и узнаётся на схеме.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Заполнять вместе с классом строку за строкой. Объяснить: i в строке — то значение, которое прибавляется на этом шаге.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Ответ: 10 раз. Проверка: 12 − 3 + 1 = 10. Частая ошибка — ответ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Частый неверный ответ — 9. Разобрать на маленьком примере: от 3 до 5 это 3 раза, а не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Показать на экране запуск. Затем изменить 11 на 101 — сумма станет 5050.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Запустить оба варианта на экране. Это задание есть в практической части — пусть сломают сами.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Ответ: обнуление внутри тела срабатывает на каждом шаге и стирает накопленное. На последнем шаге summa = 0, затем 0 + 10 =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Запустить на экране. Затем убрать обнуление из тела — получится 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Связка с первым часом: разбираем те же величины, что только что были в цикле.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признака записать в тетрадь. Дальше каждый разбирается отдельно.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Язык сам константу не защищает — это соглашение между программистами. Но нарушать его не принято.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Задание в практике: объявить константу и три переменные разных типов, вывести значение и тип каждой.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понадобится на следующем занятии: ввод с клавиатуры приходит строкой, и его придётся преобразовывать.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Разобрать каждый случай на экране: запустить и показать сообщение.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Ответы: a — int, b — float, c — str, d — bool. a + b даёт 14.5. a + c — ошибка TypeError: складываются число и строка.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мысль: "10" в кавычках и 10 без кавычек — разные величины.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Ответ: 6. Шаги: 0+1=1, 1+2=3, 3+3=6. range(1,4) даёт 1, 2,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на задачу 6: тело выполнится один раз, цикла не будет. Раздать карточки.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Задание 6 намеренно ломающее: пусть получат 10 вместо 5050 и объяснят почему.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Учебник: параграф и страницы вписать.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Выставить отметки. Собрать тетради выборочно для проверки трассировок.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5669280" cy="5669280"/>
          </a:xfrm>
          <a:prstGeom prst="ellipse">
            <a:avLst/>
          </a:prstGeom>
          <a:solidFill>
            <a:srgbClr val="8B7CF6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023360" cy="4023360"/>
          </a:xfrm>
          <a:prstGeom prst="ellipse">
            <a:avLst/>
          </a:prstGeom>
          <a:solidFill>
            <a:srgbClr val="3DD6A0">
              <a:alpha val="9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ЗАНЯТИЕ №3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8595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Цикл. Величины и типы данных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50392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Информатика · 10 класс · 90 минут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50392" y="40690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Сегодня научим программу повторять действия — и разберёмся, чем константа отличается от переменной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Задача на сегодня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221C42"/>
          </a:solidFill>
          <a:ln w="19050">
            <a:solidFill>
              <a:srgbClr val="F2789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Нужно вывести таблицу умножения на 7. Пять строк — напишем пять команд print. А если потребуется вывести числа от 1 до 1000?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40080" y="3291840"/>
            <a:ext cx="10881360" cy="1280160"/>
          </a:xfrm>
          <a:prstGeom prst="roundRect">
            <a:avLst>
              <a:gd name="adj" fmla="val 5714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342900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вторая задача: найти сумму всех чисел от 1 до 100. Записывать сто сложений подряд?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937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Должен быть способ сказать компьютеру: «повтори это сто раз». Он есть.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Цикл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221C42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78308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Цикл — алгоритмическая структура, при которой одна и та же группа действий выполняется несколько раз. Повторяемые действия называются телом цикла.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063240"/>
            <a:ext cx="5303520" cy="2377440"/>
          </a:xfrm>
          <a:prstGeom prst="roundRect">
            <a:avLst>
              <a:gd name="adj" fmla="val 2692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32004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известным числом повторений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886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Знаем заранее, сколько раз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5196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Таблица умножения · 30 оценок класса · узор из 12 элементов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5029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Управляется счётчиком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3063240"/>
            <a:ext cx="5303520" cy="2377440"/>
          </a:xfrm>
          <a:prstGeom prst="roundRect">
            <a:avLst>
              <a:gd name="adj" fmla="val 2692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32004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неизвестным числом повторений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886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Зависит от данных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425196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Вводить оценки, пока не введут ноль · делить, пока не станет нулём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50292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Управляется условием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669280"/>
            <a:ext cx="10881360" cy="685800"/>
          </a:xfrm>
          <a:prstGeom prst="roundRect">
            <a:avLst>
              <a:gd name="adj" fmla="val 9333"/>
            </a:avLst>
          </a:prstGeom>
          <a:solidFill>
            <a:srgbClr val="221C42"/>
          </a:solidFill>
          <a:ln w="19050">
            <a:solidFill>
              <a:srgbClr val="F2789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566928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теле цикла обязательно меняется величина, влияющая на завершение. Иначе цикл не кончится: телефон зависнет, батарейка сядет.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4FD1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· УСТНО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89720" y="457200"/>
            <a:ext cx="2514600" cy="502920"/>
          </a:xfrm>
          <a:prstGeom prst="roundRect">
            <a:avLst>
              <a:gd name="adj" fmla="val 18182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89720" y="4572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балл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Сколько чисел даёт range(1, 6)?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889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второй вопрос: какое первое и какое последнее?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337560"/>
            <a:ext cx="10881360" cy="2971800"/>
          </a:xfrm>
          <a:prstGeom prst="roundRect">
            <a:avLst>
              <a:gd name="adj" fmla="val 2154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447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класса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4FD1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4572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range(1, 6)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10881360" cy="566928"/>
          </a:xfrm>
          <a:prstGeom prst="roundRect">
            <a:avLst>
              <a:gd name="adj" fmla="val 806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82496"/>
            <a:ext cx="10552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1, 2, 3, 4, 5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87168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2624328"/>
            <a:ext cx="1014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чисел. Первое — 1, последнее — 5. Конечное значение 6 в диапазон НЕ входит.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Цикл на блок-схеме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 цикла — линия, возвращающаяся назад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846320" y="1600200"/>
            <a:ext cx="2103120" cy="502920"/>
          </a:xfrm>
          <a:prstGeom prst="flowChartTerminator">
            <a:avLst/>
          </a:prstGeom>
          <a:solidFill>
            <a:srgbClr val="221C42"/>
          </a:solidFill>
          <a:ln w="22225">
            <a:solidFill>
              <a:srgbClr val="8B7C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846320" y="16002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Начало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897880" y="2103120"/>
            <a:ext cx="0" cy="256032"/>
          </a:xfrm>
          <a:prstGeom prst="line">
            <a:avLst/>
          </a:prstGeom>
          <a:noFill/>
          <a:ln w="25400">
            <a:solidFill>
              <a:srgbClr val="A9A3C4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846320" y="2359152"/>
            <a:ext cx="2103120" cy="475488"/>
          </a:xfrm>
          <a:prstGeom prst="rect">
            <a:avLst/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2359152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сумма = 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97880" y="2834640"/>
            <a:ext cx="0" cy="237744"/>
          </a:xfrm>
          <a:prstGeom prst="line">
            <a:avLst/>
          </a:prstGeom>
          <a:noFill/>
          <a:ln w="25400">
            <a:solidFill>
              <a:srgbClr val="A9A3C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846320" y="3072384"/>
            <a:ext cx="2103120" cy="475488"/>
          </a:xfrm>
          <a:prstGeom prst="rect">
            <a:avLst/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307238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897880" y="3547872"/>
            <a:ext cx="0" cy="237744"/>
          </a:xfrm>
          <a:prstGeom prst="line">
            <a:avLst/>
          </a:prstGeom>
          <a:noFill/>
          <a:ln w="25400">
            <a:solidFill>
              <a:srgbClr val="A9A3C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297680" y="3785616"/>
            <a:ext cx="3200400" cy="1005840"/>
          </a:xfrm>
          <a:prstGeom prst="flowChartDecision">
            <a:avLst/>
          </a:prstGeom>
          <a:solidFill>
            <a:srgbClr val="221C42"/>
          </a:solidFill>
          <a:ln w="22225">
            <a:solidFill>
              <a:srgbClr val="F2789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97680" y="3785616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≤ 10 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498080" y="4288536"/>
            <a:ext cx="640080" cy="0"/>
          </a:xfrm>
          <a:prstGeom prst="line">
            <a:avLst/>
          </a:prstGeom>
          <a:noFill/>
          <a:ln w="25400">
            <a:solidFill>
              <a:srgbClr val="3DD6A0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7543800" y="39136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38160" y="4050792"/>
            <a:ext cx="2468880" cy="475488"/>
          </a:xfrm>
          <a:prstGeom prst="rect">
            <a:avLst/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138160" y="4050792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сумма = сумма + 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372600" y="4526280"/>
            <a:ext cx="0" cy="365760"/>
          </a:xfrm>
          <a:prstGeom prst="line">
            <a:avLst/>
          </a:prstGeom>
          <a:noFill/>
          <a:ln w="25400">
            <a:solidFill>
              <a:srgbClr val="A9A3C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138160" y="4892040"/>
            <a:ext cx="2468880" cy="475488"/>
          </a:xfrm>
          <a:prstGeom prst="rect">
            <a:avLst/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38160" y="4892040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i + 1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372600" y="5367528"/>
            <a:ext cx="0" cy="457200"/>
          </a:xfrm>
          <a:prstGeom prst="line">
            <a:avLst/>
          </a:prstGeom>
          <a:noFill/>
          <a:ln w="31750">
            <a:solidFill>
              <a:srgbClr val="E8B84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97880" y="5824728"/>
            <a:ext cx="3474720" cy="0"/>
          </a:xfrm>
          <a:prstGeom prst="line">
            <a:avLst/>
          </a:prstGeom>
          <a:noFill/>
          <a:ln w="31750">
            <a:solidFill>
              <a:srgbClr val="E8B84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97880" y="4791456"/>
            <a:ext cx="0" cy="1033272"/>
          </a:xfrm>
          <a:prstGeom prst="line">
            <a:avLst/>
          </a:prstGeom>
          <a:noFill/>
          <a:ln w="31750">
            <a:solidFill>
              <a:srgbClr val="E8B84B"/>
            </a:solidFill>
            <a:prstDash val="solid"/>
            <a:head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126480" y="587044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назад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0" y="4288536"/>
            <a:ext cx="640080" cy="0"/>
          </a:xfrm>
          <a:prstGeom prst="line">
            <a:avLst/>
          </a:prstGeom>
          <a:noFill/>
          <a:ln w="25400">
            <a:solidFill>
              <a:srgbClr val="F2789F"/>
            </a:solidFill>
            <a:prstDash val="solid"/>
            <a:head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611880" y="39136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31520" y="4050792"/>
            <a:ext cx="2743200" cy="475488"/>
          </a:xfrm>
          <a:prstGeom prst="parallelogram">
            <a:avLst/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" y="405079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 суммы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103120" y="4526280"/>
            <a:ext cx="0" cy="411480"/>
          </a:xfrm>
          <a:prstGeom prst="line">
            <a:avLst/>
          </a:prstGeom>
          <a:noFill/>
          <a:ln w="25400">
            <a:solidFill>
              <a:srgbClr val="A9A3C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1051560" y="4937760"/>
            <a:ext cx="2103120" cy="502920"/>
          </a:xfrm>
          <a:prstGeom prst="flowChartTerminator">
            <a:avLst/>
          </a:prstGeom>
          <a:solidFill>
            <a:srgbClr val="221C42"/>
          </a:solidFill>
          <a:ln w="22225">
            <a:solidFill>
              <a:srgbClr val="8B7C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51560" y="493776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Конец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Трассировка цикла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Выполняем вручную и записываем значения на каждом шаге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377440" cy="502920"/>
          </a:xfrm>
          <a:prstGeom prst="rect">
            <a:avLst/>
          </a:prstGeom>
          <a:solidFill>
            <a:srgbClr val="2C255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017520" y="1691640"/>
            <a:ext cx="2194560" cy="502920"/>
          </a:xfrm>
          <a:prstGeom prst="rect">
            <a:avLst/>
          </a:prstGeom>
          <a:solidFill>
            <a:srgbClr val="2C255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017520" y="1691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212080" y="1691640"/>
            <a:ext cx="2194560" cy="502920"/>
          </a:xfrm>
          <a:prstGeom prst="rect">
            <a:avLst/>
          </a:prstGeom>
          <a:solidFill>
            <a:srgbClr val="2C255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212080" y="16916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406640" y="1691640"/>
            <a:ext cx="4114800" cy="502920"/>
          </a:xfrm>
          <a:prstGeom prst="rect">
            <a:avLst/>
          </a:prstGeom>
          <a:solidFill>
            <a:srgbClr val="2C255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06640" y="169164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Условие i ≤ 10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2194560"/>
            <a:ext cx="237744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1945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цикла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017520" y="2194560"/>
            <a:ext cx="219456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17520" y="21945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212080" y="2194560"/>
            <a:ext cx="219456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12080" y="21945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406640" y="2194560"/>
            <a:ext cx="411480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06640" y="219456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2743200"/>
            <a:ext cx="237744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27432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1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3017520" y="2743200"/>
            <a:ext cx="219456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17520" y="27432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212080" y="2743200"/>
            <a:ext cx="219456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212080" y="27432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406640" y="2743200"/>
            <a:ext cx="411480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06640" y="274320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истина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640080" y="3291840"/>
            <a:ext cx="237744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" y="329184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2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3017520" y="3291840"/>
            <a:ext cx="219456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017520" y="329184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212080" y="3291840"/>
            <a:ext cx="219456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212080" y="329184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7406640" y="3291840"/>
            <a:ext cx="411480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06640" y="329184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истина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40080" y="3840480"/>
            <a:ext cx="237744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" y="384048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3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3017520" y="3840480"/>
            <a:ext cx="219456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017520" y="384048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5212080" y="3840480"/>
            <a:ext cx="219456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212080" y="384048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7406640" y="3840480"/>
            <a:ext cx="411480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406640" y="384048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истина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640080" y="4389120"/>
            <a:ext cx="237744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40080" y="438912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3017520" y="4389120"/>
            <a:ext cx="219456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017520" y="438912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</a:t>
            </a:r>
            <a:endParaRPr lang="en-US" sz="1500" dirty="0"/>
          </a:p>
        </p:txBody>
      </p:sp>
      <p:sp>
        <p:nvSpPr>
          <p:cNvPr id="48" name="Shape 46"/>
          <p:cNvSpPr/>
          <p:nvPr/>
        </p:nvSpPr>
        <p:spPr>
          <a:xfrm>
            <a:off x="5212080" y="4389120"/>
            <a:ext cx="219456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212080" y="438912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7406640" y="4389120"/>
            <a:ext cx="411480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406640" y="438912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  <a:endParaRPr lang="en-US" sz="1500" dirty="0"/>
          </a:p>
        </p:txBody>
      </p:sp>
      <p:sp>
        <p:nvSpPr>
          <p:cNvPr id="52" name="Shape 50"/>
          <p:cNvSpPr/>
          <p:nvPr/>
        </p:nvSpPr>
        <p:spPr>
          <a:xfrm>
            <a:off x="640080" y="4937760"/>
            <a:ext cx="237744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40080" y="493776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шаг 10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3017520" y="4937760"/>
            <a:ext cx="219456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01752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500" dirty="0"/>
          </a:p>
        </p:txBody>
      </p:sp>
      <p:sp>
        <p:nvSpPr>
          <p:cNvPr id="56" name="Shape 54"/>
          <p:cNvSpPr/>
          <p:nvPr/>
        </p:nvSpPr>
        <p:spPr>
          <a:xfrm>
            <a:off x="5212080" y="4937760"/>
            <a:ext cx="219456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212080" y="493776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55</a:t>
            </a:r>
            <a:endParaRPr lang="en-US" sz="1500" dirty="0"/>
          </a:p>
        </p:txBody>
      </p:sp>
      <p:sp>
        <p:nvSpPr>
          <p:cNvPr id="58" name="Shape 56"/>
          <p:cNvSpPr/>
          <p:nvPr/>
        </p:nvSpPr>
        <p:spPr>
          <a:xfrm>
            <a:off x="7406640" y="4937760"/>
            <a:ext cx="4114800" cy="530352"/>
          </a:xfrm>
          <a:prstGeom prst="rect">
            <a:avLst/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406640" y="493776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истина</a:t>
            </a:r>
            <a:endParaRPr lang="en-US" sz="1500" dirty="0"/>
          </a:p>
        </p:txBody>
      </p:sp>
      <p:sp>
        <p:nvSpPr>
          <p:cNvPr id="60" name="Shape 58"/>
          <p:cNvSpPr/>
          <p:nvPr/>
        </p:nvSpPr>
        <p:spPr>
          <a:xfrm>
            <a:off x="640080" y="5486400"/>
            <a:ext cx="2377440" cy="530352"/>
          </a:xfrm>
          <a:prstGeom prst="rect">
            <a:avLst/>
          </a:prstGeom>
          <a:solidFill>
            <a:srgbClr val="2A2340"/>
          </a:solidFill>
          <a:ln w="19050">
            <a:solidFill>
              <a:srgbClr val="F2789F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0080" y="548640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выход</a:t>
            </a:r>
            <a:endParaRPr lang="en-US" sz="1500" dirty="0"/>
          </a:p>
        </p:txBody>
      </p:sp>
      <p:sp>
        <p:nvSpPr>
          <p:cNvPr id="62" name="Shape 60"/>
          <p:cNvSpPr/>
          <p:nvPr/>
        </p:nvSpPr>
        <p:spPr>
          <a:xfrm>
            <a:off x="3017520" y="5486400"/>
            <a:ext cx="2194560" cy="530352"/>
          </a:xfrm>
          <a:prstGeom prst="rect">
            <a:avLst/>
          </a:prstGeom>
          <a:solidFill>
            <a:srgbClr val="2A2340"/>
          </a:solidFill>
          <a:ln w="19050">
            <a:solidFill>
              <a:srgbClr val="F2789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017520" y="54864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78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500" dirty="0"/>
          </a:p>
        </p:txBody>
      </p:sp>
      <p:sp>
        <p:nvSpPr>
          <p:cNvPr id="64" name="Shape 62"/>
          <p:cNvSpPr/>
          <p:nvPr/>
        </p:nvSpPr>
        <p:spPr>
          <a:xfrm>
            <a:off x="5212080" y="5486400"/>
            <a:ext cx="2194560" cy="530352"/>
          </a:xfrm>
          <a:prstGeom prst="rect">
            <a:avLst/>
          </a:prstGeom>
          <a:solidFill>
            <a:srgbClr val="2A2340"/>
          </a:solidFill>
          <a:ln w="19050">
            <a:solidFill>
              <a:srgbClr val="F2789F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212080" y="548640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78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500" dirty="0"/>
          </a:p>
        </p:txBody>
      </p:sp>
      <p:sp>
        <p:nvSpPr>
          <p:cNvPr id="66" name="Shape 64"/>
          <p:cNvSpPr/>
          <p:nvPr/>
        </p:nvSpPr>
        <p:spPr>
          <a:xfrm>
            <a:off x="7406640" y="5486400"/>
            <a:ext cx="4114800" cy="530352"/>
          </a:xfrm>
          <a:prstGeom prst="rect">
            <a:avLst/>
          </a:prstGeom>
          <a:solidFill>
            <a:srgbClr val="2A2340"/>
          </a:solidFill>
          <a:ln w="19050">
            <a:solidFill>
              <a:srgbClr val="F2789F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406640" y="5486400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ложь</a:t>
            </a:r>
            <a:endParaRPr lang="en-US" sz="1500" dirty="0"/>
          </a:p>
        </p:txBody>
      </p:sp>
      <p:sp>
        <p:nvSpPr>
          <p:cNvPr id="68" name="Text 66"/>
          <p:cNvSpPr txBox="1"/>
          <p:nvPr/>
        </p:nvSpPr>
        <p:spPr>
          <a:xfrm>
            <a:off x="640080" y="6035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столбце i — значение, с которым выполняется шаг. После шага i увеличивается на 1. При i = 11 условие ложно — цикл завершился, сумма равна 55.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4FD1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· УСТНО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89720" y="457200"/>
            <a:ext cx="2514600" cy="502920"/>
          </a:xfrm>
          <a:prstGeom prst="roundRect">
            <a:avLst>
              <a:gd name="adj" fmla="val 18182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89720" y="4572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балл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Сколько раз выполнится тело цикла?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889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Счётчик меняется от 3 до 12 включительно.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337560"/>
            <a:ext cx="10881360" cy="2971800"/>
          </a:xfrm>
          <a:prstGeom prst="roundRect">
            <a:avLst>
              <a:gd name="adj" fmla="val 2154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447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класса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4FD1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4572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 3 до 12 включительно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10881360" cy="566928"/>
          </a:xfrm>
          <a:prstGeom prst="roundRect">
            <a:avLst>
              <a:gd name="adj" fmla="val 806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82496"/>
            <a:ext cx="105521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12 − 3 + 1 = 10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87168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2624328"/>
            <a:ext cx="1014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Десять раз: 3, 4, 5, 6, 7, 8, 9, 10, 11, 12. Единицу прибавляют потому, что оба конца входят в счёт.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Цикл на языке программирования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6583680" cy="1938528"/>
          </a:xfrm>
          <a:prstGeom prst="roundRect">
            <a:avLst>
              <a:gd name="adj" fmla="val 2358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865376"/>
            <a:ext cx="625449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 = 0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range(1, 11):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 = summa + i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print("Сумма:", summa)   # 55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543800" y="173736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18120" y="18470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range(1, 11)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818120" y="2267712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Даёт числа от 1 до 10.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Конечное значение в диапазон не входит.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543800" y="365760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18120" y="37673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Отступ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818120" y="4187952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Строки с отступом — это тело цикла. По отступу язык понимает, что повторять, а что нет.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206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Шесть строк вместо ста. Вот зачем нужен цикл.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Главная ошибка в цикле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Где обнулять накопитель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49240" cy="3017520"/>
          </a:xfrm>
          <a:prstGeom prst="roundRect">
            <a:avLst>
              <a:gd name="adj" fmla="val 2424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Верно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960120" y="2286000"/>
            <a:ext cx="4754880" cy="1938528"/>
          </a:xfrm>
          <a:prstGeom prst="roundRect">
            <a:avLst>
              <a:gd name="adj" fmla="val 2358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414016"/>
            <a:ext cx="442569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 = 0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range(1, 11):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 = summa + i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print(summa)   # 55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349240" cy="3017520"/>
          </a:xfrm>
          <a:prstGeom prst="roundRect">
            <a:avLst>
              <a:gd name="adj" fmla="val 2424"/>
            </a:avLst>
          </a:prstGeom>
          <a:solidFill>
            <a:srgbClr val="221C42"/>
          </a:solidFill>
          <a:ln w="22225">
            <a:solidFill>
              <a:srgbClr val="F2789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Неверно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492240" y="2286000"/>
            <a:ext cx="4754880" cy="1664208"/>
          </a:xfrm>
          <a:prstGeom prst="roundRect">
            <a:avLst>
              <a:gd name="adj" fmla="val 274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75120" y="2414016"/>
            <a:ext cx="442569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range(1, 11):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 = 0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 = summa + i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print(summa)   # 10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221C42"/>
          </a:solidFill>
          <a:ln w="19050">
            <a:solidFill>
              <a:srgbClr val="E8B84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51023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выходит 10, а не 55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550468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Обнуление внутри тела срабатывает на каждом шаге. Накопленное стирается, и остаётся только последнее слагаемое — число 10.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F278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· ПИСЬМЕННО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89720" y="457200"/>
            <a:ext cx="2514600" cy="502920"/>
          </a:xfrm>
          <a:prstGeom prst="roundRect">
            <a:avLst>
              <a:gd name="adj" fmla="val 18182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89720" y="4572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балла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неверный вариант даёт 10, а не 55?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889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Проследите, что происходит с величиной summa на каждом шаге.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3337560"/>
            <a:ext cx="10881360" cy="2971800"/>
          </a:xfrm>
          <a:prstGeom prst="roundRect">
            <a:avLst>
              <a:gd name="adj" fmla="val 2154"/>
            </a:avLst>
          </a:prstGeom>
          <a:solidFill>
            <a:srgbClr val="221C42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447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класса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F2789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4572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Обнуление внутри цикла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1088136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82496"/>
            <a:ext cx="1055217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шаг 9:   summa = 0,  затем 0 + 9  = 9</a:t>
            </a:r>
            <a:endParaRPr lang="en-US" sz="2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шаг 10:  summa = 0,  затем 0 + 10 = 10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761488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221C42"/>
          </a:solidFill>
          <a:ln w="19050">
            <a:solidFill>
              <a:srgbClr val="F2789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2898648"/>
            <a:ext cx="1014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Накопленное стирается на каждом шаге. До вывода доживает только последнее слагаемое.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657600"/>
            <a:ext cx="4937760" cy="4937760"/>
          </a:xfrm>
          <a:prstGeom prst="ellipse">
            <a:avLst/>
          </a:prstGeom>
          <a:solidFill>
            <a:srgbClr val="3DD6A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1097280"/>
            <a:ext cx="4754880" cy="4754880"/>
          </a:xfrm>
          <a:prstGeom prst="ellipse">
            <a:avLst/>
          </a:prstGeom>
          <a:solidFill>
            <a:srgbClr val="4FD1E0">
              <a:alpha val="1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ВТОРОЙ ЧАС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6888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Величины: константы и переменные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50392" y="39319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цикле у нас были summa и i. Их значения менялись. А бывают величины, которые меняться не должны?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Величина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каждой величины есть три признака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2377440"/>
          </a:xfrm>
          <a:prstGeom prst="roundRect">
            <a:avLst>
              <a:gd name="adj" fmla="val 2692"/>
            </a:avLst>
          </a:prstGeom>
          <a:solidFill>
            <a:srgbClr val="221C42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Имя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5603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мы к ней обращаемся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429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A3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summa, ball, MAX_BALL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61688" y="1828800"/>
            <a:ext cx="3429000" cy="2377440"/>
          </a:xfrm>
          <a:prstGeom prst="roundRect">
            <a:avLst>
              <a:gd name="adj" fmla="val 2692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4296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Значение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654296" y="25603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 ней хранится сейчас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54296" y="3429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A3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0, 4.5, 5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83296" y="1828800"/>
            <a:ext cx="3429000" cy="2377440"/>
          </a:xfrm>
          <a:prstGeom prst="roundRect">
            <a:avLst>
              <a:gd name="adj" fmla="val 2692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75904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75904" y="256032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Какого рода это данное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3429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A3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целое, дробное, строка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526280"/>
            <a:ext cx="10881360" cy="1115568"/>
          </a:xfrm>
          <a:prstGeom prst="roundRect">
            <a:avLst>
              <a:gd name="adj" fmla="val 4098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654296"/>
            <a:ext cx="105521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4.5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^     ^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имя  значение,  тип — дробное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не указывают отдельно: язык определяет его сам по виду значения.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Константа и переменная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5349240" cy="2286000"/>
          </a:xfrm>
          <a:prstGeom prst="roundRect">
            <a:avLst>
              <a:gd name="adj" fmla="val 3200"/>
            </a:avLst>
          </a:prstGeom>
          <a:solidFill>
            <a:srgbClr val="221C42"/>
          </a:solidFill>
          <a:ln w="22225">
            <a:solidFill>
              <a:srgbClr val="4FD1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1907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Переменная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148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Значение меняется по ходу программы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60120" y="2514600"/>
            <a:ext cx="4754880" cy="1115568"/>
          </a:xfrm>
          <a:prstGeom prst="roundRect">
            <a:avLst>
              <a:gd name="adj" fmla="val 4098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642616"/>
            <a:ext cx="44256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 = 0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1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4.5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72200" y="1600200"/>
            <a:ext cx="5349240" cy="2286000"/>
          </a:xfrm>
          <a:prstGeom prst="roundRect">
            <a:avLst>
              <a:gd name="adj" fmla="val 3200"/>
            </a:avLst>
          </a:prstGeom>
          <a:solidFill>
            <a:srgbClr val="221C42"/>
          </a:solidFill>
          <a:ln w="22225">
            <a:solidFill>
              <a:srgbClr val="E8B8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171907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Константа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1488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Значение остаётся неизменным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92240" y="2514600"/>
            <a:ext cx="4754880" cy="1115568"/>
          </a:xfrm>
          <a:prstGeom prst="roundRect">
            <a:avLst>
              <a:gd name="adj" fmla="val 4098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75120" y="2642616"/>
            <a:ext cx="44256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MAX_BALL = 5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MINUT_V_CHASE = 60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 = 3.14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10881360" cy="2103120"/>
          </a:xfrm>
          <a:prstGeom prst="roundRect">
            <a:avLst>
              <a:gd name="adj" fmla="val 3478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41879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 нужны константы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61772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Величина названа, а не спрятана в коде числом: видно, что означает 60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Изменить достаточно в одном месте — а не искать число по всей программе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Заглавные буквы сообщают другому читателю: менять не следует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Типы данных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определяет, что с величиной можно делать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822960"/>
          </a:xfrm>
          <a:prstGeom prst="roundRect">
            <a:avLst>
              <a:gd name="adj" fmla="val 7778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7373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Целый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3337560" y="17373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737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10, -3, 0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17373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Складывать, умножать, делить нацело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10881360" cy="822960"/>
          </a:xfrm>
          <a:prstGeom prst="roundRect">
            <a:avLst>
              <a:gd name="adj" fmla="val 7778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697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Вещественный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26974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6974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4.5, -0.75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269748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 же, но с дробной частью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657600"/>
            <a:ext cx="10881360" cy="822960"/>
          </a:xfrm>
          <a:prstGeom prst="roundRect">
            <a:avLst>
              <a:gd name="adj" fmla="val 7778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36576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Строковый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3337560" y="36576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3657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"Фаррух", "10 класс"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0" y="3657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Соединять, измерять длину, брать часть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617720"/>
            <a:ext cx="10881360" cy="822960"/>
          </a:xfrm>
          <a:prstGeom prst="roundRect">
            <a:avLst>
              <a:gd name="adj" fmla="val 7778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46177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Логический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3337560" y="4617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6177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True, False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955280" y="46177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Проверять условия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715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Узнать тип: 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2194560" y="5623560"/>
            <a:ext cx="9326880" cy="566928"/>
          </a:xfrm>
          <a:prstGeom prst="roundRect">
            <a:avLst>
              <a:gd name="adj" fmla="val 806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377440" y="5751576"/>
            <a:ext cx="89976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print(type(10))      # int          print(type("текст"))  # str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Преобразование типов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Величину одного типа можно превратить в другой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115568"/>
          </a:xfrm>
          <a:prstGeom prst="roundRect">
            <a:avLst>
              <a:gd name="adj" fmla="val 4098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11096"/>
            <a:ext cx="105521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int("25")     # строка "25"  →  число 25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float("4.5")  # строка "4.5" →  число 4.5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str(25)       # число 25     →  строка "25"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291840"/>
            <a:ext cx="5349240" cy="2011680"/>
          </a:xfrm>
          <a:prstGeom prst="roundRect">
            <a:avLst>
              <a:gd name="adj" fmla="val 3636"/>
            </a:avLst>
          </a:prstGeom>
          <a:solidFill>
            <a:srgbClr val="221C42"/>
          </a:solidFill>
          <a:ln w="22225">
            <a:solidFill>
              <a:srgbClr val="3DD6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34015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Получится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960120" y="3794760"/>
            <a:ext cx="4754880" cy="1664208"/>
          </a:xfrm>
          <a:prstGeom prst="roundRect">
            <a:avLst>
              <a:gd name="adj" fmla="val 274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3922776"/>
            <a:ext cx="442569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int("25") + 5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30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str(25) + " лет"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"25 лет"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72200" y="3291840"/>
            <a:ext cx="5349240" cy="2011680"/>
          </a:xfrm>
          <a:prstGeom prst="roundRect">
            <a:avLst>
              <a:gd name="adj" fmla="val 3636"/>
            </a:avLst>
          </a:prstGeom>
          <a:solidFill>
            <a:srgbClr val="221C42"/>
          </a:solidFill>
          <a:ln w="22225">
            <a:solidFill>
              <a:srgbClr val="F2789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340156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78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получится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92240" y="3794760"/>
            <a:ext cx="4754880" cy="1664208"/>
          </a:xfrm>
          <a:prstGeom prst="roundRect">
            <a:avLst>
              <a:gd name="adj" fmla="val 2747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0" y="3922776"/>
            <a:ext cx="442569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"25" + 5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ошибка TypeError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int("привет")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ошибка ValueError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всякая строка превращается в число. Слово «привет» числом стать не может — отсюда ошибка.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Когда типы перепутаны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случая, которые встретятся на практике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73736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"25" + 5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173736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78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TypeError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532120" y="173736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Складываются строка и число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503920" y="17373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Преобразовать: int("25") + 5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83464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83464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int("привет")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83464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78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532120" y="283464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Строка не является числом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28346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Проверить, что в строке действительно число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93192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393192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print("Итог: " + 60)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393192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7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TypeError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532120" y="393192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соединяется с числом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503920" y="393192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Писать через запятую: print("Итог:", 60)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502920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221C42"/>
          </a:solidFill>
          <a:ln w="15875">
            <a:solidFill>
              <a:srgbClr val="E8B84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5029200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5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703320" y="502920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B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2.0, а не 2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532120" y="502920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Обычное деление даёт дробное всегда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503920" y="502920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Нужно целое — применять //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1722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— не формальность. Половина ошибок новичка связана именно с тем, что типы перепутаны.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8B7C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· ПИСЬМЕННО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89720" y="457200"/>
            <a:ext cx="2514600" cy="502920"/>
          </a:xfrm>
          <a:prstGeom prst="roundRect">
            <a:avLst>
              <a:gd name="adj" fmla="val 18182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89720" y="4572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балла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Какого типа каждая величина?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6766560" cy="1389888"/>
          </a:xfrm>
          <a:prstGeom prst="roundRect">
            <a:avLst>
              <a:gd name="adj" fmla="val 3289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916936"/>
            <a:ext cx="643737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10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4.5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"10"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True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40740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второй вопрос: что выведет a + b, и что выведет a + c?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8B7C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4572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Типы величин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10881360" cy="1389888"/>
          </a:xfrm>
          <a:prstGeom prst="roundRect">
            <a:avLst>
              <a:gd name="adj" fmla="val 3289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82496"/>
            <a:ext cx="1055217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10      int        a + b  =  14.5</a:t>
            </a:r>
            <a:endParaRPr lang="en-US" sz="2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4.5     float</a:t>
            </a:r>
            <a:endParaRPr lang="en-US" sz="2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= "10"    str        a + c  →  TypeError</a:t>
            </a:r>
            <a:endParaRPr lang="en-US" sz="2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True    bool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3310128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221C42"/>
          </a:solidFill>
          <a:ln w="19050">
            <a:solidFill>
              <a:srgbClr val="8B7C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3447288"/>
            <a:ext cx="1014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Величина c записана в кавычках — значит это строка, а не число, хотя выглядит как число. Сложить её с числом нельзя.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8B7CF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· ПИСЬМЕННО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189720" y="457200"/>
            <a:ext cx="2514600" cy="502920"/>
          </a:xfrm>
          <a:prstGeom prst="roundRect">
            <a:avLst>
              <a:gd name="adj" fmla="val 18182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89720" y="457200"/>
            <a:ext cx="2514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балла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32588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выведет этот код?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6766560" cy="1938528"/>
          </a:xfrm>
          <a:prstGeom prst="roundRect">
            <a:avLst>
              <a:gd name="adj" fmla="val 2358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916936"/>
            <a:ext cx="643737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 = 0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range(1, 4):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 = summa + i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print(summa)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95604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Заполните таблицу трассировки: шаг, i, сумма.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Практика. Этап первый: тетрадь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 в парах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49240" cy="2651760"/>
          </a:xfrm>
          <a:prstGeom prst="roundRect">
            <a:avLst>
              <a:gd name="adj" fmla="val 2759"/>
            </a:avLst>
          </a:prstGeom>
          <a:solidFill>
            <a:srgbClr val="221C42"/>
          </a:solidFill>
          <a:ln w="19050">
            <a:solidFill>
              <a:srgbClr val="4FD1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77440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Построить блок-схему цикла по карточке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Выполнить трассировку: заполнить таблицу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Сверить результат с товарищем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1737360"/>
            <a:ext cx="5212080" cy="2651760"/>
          </a:xfrm>
          <a:prstGeom prst="roundRect">
            <a:avLst>
              <a:gd name="adj" fmla="val 2759"/>
            </a:avLst>
          </a:prstGeom>
          <a:solidFill>
            <a:srgbClr val="221C42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1874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карточек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37744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1—3 выполняют все: числа от 1 до 5, сумма от 1 до 6, произведение от 1 до 4.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4—6 по мере готовности: таблица умножения, подсчёт повторений, поиск ошибки в схеме.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221C42"/>
          </a:solidFill>
          <a:ln w="19050">
            <a:solidFill>
              <a:srgbClr val="E8B84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47731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Задача 6 — самая интересная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519379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выданной схеме нет линии возврата. Что произойдёт при выполнении такого алгоритма? Ответ объяснить письменно.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Практика. Этап второй: компьютер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6035040" cy="621792"/>
          </a:xfrm>
          <a:prstGeom prst="roundRect">
            <a:avLst>
              <a:gd name="adj" fmla="val 10294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1792224"/>
            <a:ext cx="402336" cy="402336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41248" y="17922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Вывести числа от 1 до 5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404872"/>
            <a:ext cx="6035040" cy="621792"/>
          </a:xfrm>
          <a:prstGeom prst="roundRect">
            <a:avLst>
              <a:gd name="adj" fmla="val 10294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505456"/>
            <a:ext cx="402336" cy="402336"/>
          </a:xfrm>
          <a:prstGeom prst="ellipse">
            <a:avLst/>
          </a:prstGeom>
          <a:solidFill>
            <a:srgbClr val="8B7C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41248" y="2505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404872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Изменить: вывести от 1 до 20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118104"/>
            <a:ext cx="6035040" cy="621792"/>
          </a:xfrm>
          <a:prstGeom prst="roundRect">
            <a:avLst>
              <a:gd name="adj" fmla="val 10294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3218688"/>
            <a:ext cx="402336" cy="402336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1248" y="3218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118104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от 1 до 100 — должно выйти 5050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3831336"/>
            <a:ext cx="6035040" cy="621792"/>
          </a:xfrm>
          <a:prstGeom prst="roundRect">
            <a:avLst>
              <a:gd name="adj" fmla="val 10294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" y="3931920"/>
            <a:ext cx="402336" cy="402336"/>
          </a:xfrm>
          <a:prstGeom prst="ellipse">
            <a:avLst/>
          </a:prstGeom>
          <a:solidFill>
            <a:srgbClr val="4FD1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1248" y="3931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31336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Таблица умножения на 7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4544568"/>
            <a:ext cx="6035040" cy="621792"/>
          </a:xfrm>
          <a:prstGeom prst="roundRect">
            <a:avLst>
              <a:gd name="adj" fmla="val 10294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" y="4645152"/>
            <a:ext cx="402336" cy="402336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41248" y="46451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544568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Константа и три переменные разных типов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40080" y="5257800"/>
            <a:ext cx="6035040" cy="621792"/>
          </a:xfrm>
          <a:prstGeom prst="roundRect">
            <a:avLst>
              <a:gd name="adj" fmla="val 10294"/>
            </a:avLst>
          </a:prstGeom>
          <a:solidFill>
            <a:srgbClr val="221C42"/>
          </a:solidFill>
          <a:ln w="15875">
            <a:solidFill>
              <a:srgbClr val="F2789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" y="5358384"/>
            <a:ext cx="402336" cy="402336"/>
          </a:xfrm>
          <a:prstGeom prst="ellipse">
            <a:avLst/>
          </a:prstGeom>
          <a:solidFill>
            <a:srgbClr val="F2789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41248" y="5358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5257800"/>
            <a:ext cx="5120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Сломать: обнулить сумму внутри цикла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Шаблон для начала: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949440" y="2103120"/>
            <a:ext cx="4572000" cy="841248"/>
          </a:xfrm>
          <a:prstGeom prst="roundRect">
            <a:avLst>
              <a:gd name="adj" fmla="val 5435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132320" y="2231136"/>
            <a:ext cx="42428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range(1, 6):</a:t>
            </a: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print(i)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Сумма: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949440" y="3611880"/>
            <a:ext cx="4572000" cy="1389888"/>
          </a:xfrm>
          <a:prstGeom prst="roundRect">
            <a:avLst>
              <a:gd name="adj" fmla="val 3289"/>
            </a:avLst>
          </a:prstGeom>
          <a:solidFill>
            <a:srgbClr val="0E0B1F"/>
          </a:solidFill>
          <a:ln w="12700">
            <a:solidFill>
              <a:srgbClr val="3A316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32320" y="3739896"/>
            <a:ext cx="424281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 = 0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range(1, 101):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 = summa + i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FD1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print("Сумма:", summa)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Правило: увидел ошибку — прочитай сообщение, найди номер строки, потом поднимай руку.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Домашнее задание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10881360" cy="1143000"/>
          </a:xfrm>
          <a:prstGeom prst="roundRect">
            <a:avLst>
              <a:gd name="adj" fmla="val 5600"/>
            </a:avLst>
          </a:prstGeom>
          <a:solidFill>
            <a:srgbClr val="221C42"/>
          </a:solidFill>
          <a:ln w="15875">
            <a:solidFill>
              <a:srgbClr val="8B7C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78308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7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Всем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474720" y="187452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Блок-схема цикла вывода чисел от 1 до 10 и его трассировка в таблице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108960"/>
            <a:ext cx="10881360" cy="1143000"/>
          </a:xfrm>
          <a:prstGeom prst="roundRect">
            <a:avLst>
              <a:gd name="adj" fmla="val 5600"/>
            </a:avLst>
          </a:prstGeom>
          <a:solidFill>
            <a:srgbClr val="221C42"/>
          </a:solidFill>
          <a:ln w="15875">
            <a:solidFill>
              <a:srgbClr val="4FD1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31089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Всем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320040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Записать, какие величины в задаче о стоимости покупки постоянные, а какие переменные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10881360" cy="1143000"/>
          </a:xfrm>
          <a:prstGeom prst="roundRect">
            <a:avLst>
              <a:gd name="adj" fmla="val 5600"/>
            </a:avLst>
          </a:prstGeom>
          <a:solidFill>
            <a:srgbClr val="221C42"/>
          </a:solidFill>
          <a:ln w="158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443484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есть компьютер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452628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 суммы чисел от 1 до 50; проверить результат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9A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Первые два задания выполняются в тетради — компьютер не нужен.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71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1188720"/>
            <a:ext cx="4937760" cy="4937760"/>
          </a:xfrm>
          <a:prstGeom prst="ellipse">
            <a:avLst/>
          </a:prstGeom>
          <a:solidFill>
            <a:srgbClr val="8B7CF6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2801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 занятия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377440"/>
            <a:ext cx="7315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Цикл повторяет группу действий — это тело цикла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Признак цикла на схеме — линия возврата назад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теле обязательно меняется величина, иначе цикл не кончится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Накопитель обнуляется до цикла, а не внутри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Переменная меняется, константа — нет; у каждой величины есть тип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440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следующем занятии: программа научится принимать данные с клавиатуры.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2026-09-17T15:20:29Z</dcterms:created>
  <dcterms:modified xsi:type="dcterms:W3CDTF">2026-09-17T15:20:29Z</dcterms:modified>
</cp:coreProperties>
</file>